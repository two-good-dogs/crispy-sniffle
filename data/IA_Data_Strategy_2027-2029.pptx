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F47"/>
        </a:solidFill>
      </p:bgPr>
    </p:bg>
    <p:spTree>
      <p:nvGrpSpPr>
        <p:cNvPr id="1" name=""/>
        <p:cNvGrpSpPr/>
        <p:nvPr/>
      </p:nvGrpSpPr>
      <p:grpSpPr>
        <a:xfrm>
          <a:off x="0" y="0"/>
          <a:ext cx="0" cy="0"/>
          <a:chOff x="0" y="0"/>
          <a:chExt cx="0" cy="0"/>
        </a:xfrm>
      </p:grpSpPr>
      <p:sp>
        <p:nvSpPr>
          <p:cNvPr id="2" name="Text 0"/>
          <p:cNvSpPr/>
          <p:nvPr/>
        </p:nvSpPr>
        <p:spPr>
          <a:xfrm>
            <a:off x="548640" y="1691640"/>
            <a:ext cx="10972800" cy="292608"/>
          </a:xfrm>
          <a:prstGeom prst="rect">
            <a:avLst/>
          </a:prstGeom>
          <a:noFill/>
          <a:ln/>
        </p:spPr>
        <p:txBody>
          <a:bodyPr wrap="square" lIns="0" tIns="0" rIns="0" bIns="0" rtlCol="0" anchor="ctr"/>
          <a:lstStyle/>
          <a:p>
            <a:pPr indent="0" marL="0">
              <a:buNone/>
            </a:pPr>
            <a:r>
              <a:rPr lang="en-US" sz="1300" b="1" spc="320" kern="0" dirty="0">
                <a:solidFill>
                  <a:srgbClr val="DBA111"/>
                </a:solidFill>
                <a:latin typeface="Calibri" pitchFamily="34" charset="0"/>
                <a:ea typeface="Calibri" pitchFamily="34" charset="-122"/>
                <a:cs typeface="Calibri" pitchFamily="34" charset="-120"/>
              </a:rPr>
              <a:t>AUDIT ANALYTICS AND INSIGHTS</a:t>
            </a:r>
            <a:endParaRPr lang="en-US" sz="1300" dirty="0"/>
          </a:p>
        </p:txBody>
      </p:sp>
      <p:sp>
        <p:nvSpPr>
          <p:cNvPr id="3" name="Text 1"/>
          <p:cNvSpPr/>
          <p:nvPr/>
        </p:nvSpPr>
        <p:spPr>
          <a:xfrm>
            <a:off x="548640" y="2084832"/>
            <a:ext cx="11155680" cy="658368"/>
          </a:xfrm>
          <a:prstGeom prst="rect">
            <a:avLst/>
          </a:prstGeom>
          <a:noFill/>
          <a:ln/>
        </p:spPr>
        <p:txBody>
          <a:bodyPr wrap="square" lIns="0" tIns="0" rIns="0" bIns="0" rtlCol="0" anchor="ctr"/>
          <a:lstStyle/>
          <a:p>
            <a:pPr indent="0" marL="0">
              <a:buNone/>
            </a:pPr>
            <a:r>
              <a:rPr lang="en-US" sz="4000" b="1" dirty="0">
                <a:solidFill>
                  <a:srgbClr val="FFFFFF"/>
                </a:solidFill>
                <a:latin typeface="Century Gothic" pitchFamily="34" charset="0"/>
                <a:ea typeface="Century Gothic" pitchFamily="34" charset="-122"/>
                <a:cs typeface="Century Gothic" pitchFamily="34" charset="-120"/>
              </a:rPr>
              <a:t>Internal Audit Data Strategy</a:t>
            </a:r>
            <a:endParaRPr lang="en-US" sz="4000" dirty="0"/>
          </a:p>
        </p:txBody>
      </p:sp>
      <p:sp>
        <p:nvSpPr>
          <p:cNvPr id="4" name="Text 2"/>
          <p:cNvSpPr/>
          <p:nvPr/>
        </p:nvSpPr>
        <p:spPr>
          <a:xfrm>
            <a:off x="548640" y="2816352"/>
            <a:ext cx="10972800" cy="384048"/>
          </a:xfrm>
          <a:prstGeom prst="rect">
            <a:avLst/>
          </a:prstGeom>
          <a:noFill/>
          <a:ln/>
        </p:spPr>
        <p:txBody>
          <a:bodyPr wrap="square" lIns="0" tIns="0" rIns="0" bIns="0" rtlCol="0" anchor="ctr"/>
          <a:lstStyle/>
          <a:p>
            <a:pPr indent="0" marL="0">
              <a:buNone/>
            </a:pPr>
            <a:r>
              <a:rPr lang="en-US" sz="2000" i="1" dirty="0">
                <a:solidFill>
                  <a:srgbClr val="9CA3AF"/>
                </a:solidFill>
                <a:latin typeface="Century Gothic" pitchFamily="34" charset="0"/>
                <a:ea typeface="Century Gothic" pitchFamily="34" charset="-122"/>
                <a:cs typeface="Century Gothic" pitchFamily="34" charset="-120"/>
              </a:rPr>
              <a:t>Human-led, agent-powered assurance — 2027 to 2029</a:t>
            </a:r>
            <a:endParaRPr lang="en-US" sz="2000" dirty="0"/>
          </a:p>
        </p:txBody>
      </p:sp>
      <p:sp>
        <p:nvSpPr>
          <p:cNvPr id="5" name="Shape 3"/>
          <p:cNvSpPr/>
          <p:nvPr/>
        </p:nvSpPr>
        <p:spPr>
          <a:xfrm>
            <a:off x="548640" y="3364992"/>
            <a:ext cx="4937760" cy="0"/>
          </a:xfrm>
          <a:prstGeom prst="line">
            <a:avLst/>
          </a:prstGeom>
          <a:noFill/>
          <a:ln w="22225">
            <a:solidFill>
              <a:srgbClr val="DBA111"/>
            </a:solidFill>
            <a:prstDash val="solid"/>
          </a:ln>
        </p:spPr>
      </p:sp>
      <p:sp>
        <p:nvSpPr>
          <p:cNvPr id="6" name="Text 4"/>
          <p:cNvSpPr/>
          <p:nvPr/>
        </p:nvSpPr>
        <p:spPr>
          <a:xfrm>
            <a:off x="548640" y="3566160"/>
            <a:ext cx="10424160" cy="77724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A three-year plan to make trusted data the default input to every engagement, and governed AI the default multiplier of coverage, speed, and insight — without surrendering auditor judgment.</a:t>
            </a:r>
            <a:endParaRPr lang="en-US" sz="1500" dirty="0"/>
          </a:p>
        </p:txBody>
      </p:sp>
      <p:sp>
        <p:nvSpPr>
          <p:cNvPr id="7" name="Text 5"/>
          <p:cNvSpPr/>
          <p:nvPr/>
        </p:nvSpPr>
        <p:spPr>
          <a:xfrm>
            <a:off x="548640" y="6144768"/>
            <a:ext cx="6400800" cy="256032"/>
          </a:xfrm>
          <a:prstGeom prst="rect">
            <a:avLst/>
          </a:prstGeom>
          <a:noFill/>
          <a:ln/>
        </p:spPr>
        <p:txBody>
          <a:bodyPr wrap="square" lIns="0" tIns="0" rIns="0" bIns="0" rtlCol="0" anchor="ctr"/>
          <a:lstStyle/>
          <a:p>
            <a:pPr indent="0" marL="0">
              <a:buNone/>
            </a:pPr>
            <a:r>
              <a:rPr lang="en-US" sz="1200" b="1" spc="200" kern="0" dirty="0">
                <a:solidFill>
                  <a:srgbClr val="9CA3AF"/>
                </a:solidFill>
                <a:latin typeface="Calibri" pitchFamily="34" charset="0"/>
                <a:ea typeface="Calibri" pitchFamily="34" charset="-122"/>
                <a:cs typeface="Calibri" pitchFamily="34" charset="-120"/>
              </a:rPr>
              <a:t>STEERCO BRIEFING  ·  AUGUST 2026</a:t>
            </a:r>
            <a:endParaRPr lang="en-US" sz="1200" dirty="0"/>
          </a:p>
        </p:txBody>
      </p:sp>
      <p:sp>
        <p:nvSpPr>
          <p:cNvPr id="8" name="Text 6"/>
          <p:cNvSpPr/>
          <p:nvPr/>
        </p:nvSpPr>
        <p:spPr>
          <a:xfrm>
            <a:off x="6766560" y="6144768"/>
            <a:ext cx="4846320" cy="256032"/>
          </a:xfrm>
          <a:prstGeom prst="rect">
            <a:avLst/>
          </a:prstGeom>
          <a:noFill/>
          <a:ln/>
        </p:spPr>
        <p:txBody>
          <a:bodyPr wrap="square" lIns="0" tIns="0" rIns="0" bIns="0" rtlCol="0" anchor="ctr"/>
          <a:lstStyle/>
          <a:p>
            <a:pPr algn="r" indent="0" marL="0">
              <a:buNone/>
            </a:pPr>
            <a:r>
              <a:rPr lang="en-US" sz="1200" b="1" spc="200" kern="0" dirty="0">
                <a:solidFill>
                  <a:srgbClr val="9CA3AF"/>
                </a:solidFill>
                <a:latin typeface="Calibri" pitchFamily="34" charset="0"/>
                <a:ea typeface="Calibri" pitchFamily="34" charset="-122"/>
                <a:cs typeface="Calibri" pitchFamily="34" charset="-120"/>
              </a:rPr>
              <a:t>CONFIDENTIAL  |  INTERNAL USE ONLY</a:t>
            </a:r>
            <a:endParaRPr lang="en-US" sz="1200" dirty="0"/>
          </a:p>
        </p:txBody>
      </p:sp>
      <p:sp>
        <p:nvSpPr>
          <p:cNvPr id="9" name="Shape 7"/>
          <p:cNvSpPr/>
          <p:nvPr/>
        </p:nvSpPr>
        <p:spPr>
          <a:xfrm>
            <a:off x="548640" y="502920"/>
            <a:ext cx="1051560" cy="0"/>
          </a:xfrm>
          <a:prstGeom prst="line">
            <a:avLst/>
          </a:prstGeom>
          <a:noFill/>
          <a:ln w="22225">
            <a:solidFill>
              <a:srgbClr val="DBA111"/>
            </a:solidFill>
            <a:prstDash val="solid"/>
          </a:ln>
        </p:spPr>
      </p:sp>
      <p:sp>
        <p:nvSpPr>
          <p:cNvPr id="10" name="Shape 8"/>
          <p:cNvSpPr/>
          <p:nvPr/>
        </p:nvSpPr>
        <p:spPr>
          <a:xfrm>
            <a:off x="548640" y="502920"/>
            <a:ext cx="0" cy="914400"/>
          </a:xfrm>
          <a:prstGeom prst="line">
            <a:avLst/>
          </a:prstGeom>
          <a:noFill/>
          <a:ln w="22225">
            <a:solidFill>
              <a:srgbClr val="DBA111"/>
            </a:solidFill>
            <a:prstDash val="solid"/>
          </a:ln>
        </p:spPr>
      </p:sp>
      <p:sp>
        <p:nvSpPr>
          <p:cNvPr id="11" name="Shape 9"/>
          <p:cNvSpPr/>
          <p:nvPr/>
        </p:nvSpPr>
        <p:spPr>
          <a:xfrm>
            <a:off x="548640" y="5989320"/>
            <a:ext cx="11064240" cy="0"/>
          </a:xfrm>
          <a:prstGeom prst="line">
            <a:avLst/>
          </a:prstGeom>
          <a:noFill/>
          <a:ln w="22225">
            <a:solidFill>
              <a:srgbClr val="DBA11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THE MANDATE</a:t>
            </a:r>
            <a:endParaRPr lang="en-US" sz="1100" dirty="0"/>
          </a:p>
        </p:txBody>
      </p:sp>
      <p:sp>
        <p:nvSpPr>
          <p:cNvPr id="3" name="Text 1"/>
          <p:cNvSpPr/>
          <p:nvPr/>
        </p:nvSpPr>
        <p:spPr>
          <a:xfrm>
            <a:off x="548640" y="658368"/>
            <a:ext cx="11064240" cy="438912"/>
          </a:xfrm>
          <a:prstGeom prst="rect">
            <a:avLst/>
          </a:prstGeom>
          <a:noFill/>
          <a:ln/>
        </p:spPr>
        <p:txBody>
          <a:bodyPr wrap="square" lIns="0" tIns="0" rIns="0" bIns="0" rtlCol="0" anchor="ctr"/>
          <a:lstStyle/>
          <a:p>
            <a:pPr indent="0" marL="0">
              <a:buNone/>
            </a:pPr>
            <a:r>
              <a:rPr lang="en-US" sz="2400" b="1" dirty="0">
                <a:solidFill>
                  <a:srgbClr val="034694"/>
                </a:solidFill>
                <a:latin typeface="Century Gothic" pitchFamily="34" charset="0"/>
                <a:ea typeface="Century Gothic" pitchFamily="34" charset="-122"/>
                <a:cs typeface="Century Gothic" pitchFamily="34" charset="-120"/>
              </a:rPr>
              <a:t>2026 is the execution year. Strategy must lock the next three.</a:t>
            </a:r>
            <a:endParaRPr lang="en-US" sz="2400" dirty="0"/>
          </a:p>
        </p:txBody>
      </p:sp>
      <p:sp>
        <p:nvSpPr>
          <p:cNvPr id="4" name="Shape 2"/>
          <p:cNvSpPr/>
          <p:nvPr/>
        </p:nvSpPr>
        <p:spPr>
          <a:xfrm>
            <a:off x="548640" y="1261872"/>
            <a:ext cx="5440680" cy="2176272"/>
          </a:xfrm>
          <a:prstGeom prst="rect">
            <a:avLst/>
          </a:prstGeom>
          <a:solidFill>
            <a:srgbClr val="FFFFFF"/>
          </a:solidFill>
          <a:ln w="12700">
            <a:solidFill>
              <a:srgbClr val="E5E7EB"/>
            </a:solidFill>
            <a:prstDash val="solid"/>
          </a:ln>
        </p:spPr>
      </p:sp>
      <p:sp>
        <p:nvSpPr>
          <p:cNvPr id="5" name="Shape 3"/>
          <p:cNvSpPr/>
          <p:nvPr/>
        </p:nvSpPr>
        <p:spPr>
          <a:xfrm>
            <a:off x="548640" y="1261872"/>
            <a:ext cx="82296" cy="2176272"/>
          </a:xfrm>
          <a:prstGeom prst="rect">
            <a:avLst/>
          </a:prstGeom>
          <a:solidFill>
            <a:srgbClr val="DBA111"/>
          </a:solidFill>
          <a:ln/>
        </p:spPr>
      </p:sp>
      <p:sp>
        <p:nvSpPr>
          <p:cNvPr id="6" name="Text 4"/>
          <p:cNvSpPr/>
          <p:nvPr/>
        </p:nvSpPr>
        <p:spPr>
          <a:xfrm>
            <a:off x="804672" y="1426464"/>
            <a:ext cx="1097280" cy="292608"/>
          </a:xfrm>
          <a:prstGeom prst="rect">
            <a:avLst/>
          </a:prstGeom>
          <a:noFill/>
          <a:ln/>
        </p:spPr>
        <p:txBody>
          <a:bodyPr wrap="square" lIns="0" tIns="0" rIns="0" bIns="0" rtlCol="0" anchor="ctr"/>
          <a:lstStyle/>
          <a:p>
            <a:pPr indent="0" marL="0">
              <a:buNone/>
            </a:pPr>
            <a:r>
              <a:rPr lang="en-US" sz="1600" b="1" dirty="0">
                <a:solidFill>
                  <a:srgbClr val="DBA111"/>
                </a:solidFill>
                <a:latin typeface="Century Gothic" pitchFamily="34" charset="0"/>
                <a:ea typeface="Century Gothic" pitchFamily="34" charset="-122"/>
                <a:cs typeface="Century Gothic" pitchFamily="34" charset="-120"/>
              </a:rPr>
              <a:t>01</a:t>
            </a:r>
            <a:endParaRPr lang="en-US" sz="1600" dirty="0"/>
          </a:p>
        </p:txBody>
      </p:sp>
      <p:sp>
        <p:nvSpPr>
          <p:cNvPr id="7" name="Text 5"/>
          <p:cNvSpPr/>
          <p:nvPr/>
        </p:nvSpPr>
        <p:spPr>
          <a:xfrm>
            <a:off x="804672" y="1737360"/>
            <a:ext cx="4937760" cy="384048"/>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Profession has shifted</a:t>
            </a:r>
            <a:endParaRPr lang="en-US" sz="1600" dirty="0"/>
          </a:p>
        </p:txBody>
      </p:sp>
      <p:sp>
        <p:nvSpPr>
          <p:cNvPr id="8" name="Text 6"/>
          <p:cNvSpPr/>
          <p:nvPr/>
        </p:nvSpPr>
        <p:spPr>
          <a:xfrm>
            <a:off x="804672" y="2194560"/>
            <a:ext cx="4937760" cy="1060704"/>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83% of IA functions already pilot or use AI. Boards now expect continuous coverage, not more samples. IIA Standards 9.2 and 10.3 require a multi-year strategy and technology enablement.</a:t>
            </a:r>
            <a:endParaRPr lang="en-US" sz="1300" dirty="0"/>
          </a:p>
        </p:txBody>
      </p:sp>
      <p:sp>
        <p:nvSpPr>
          <p:cNvPr id="9" name="Shape 7"/>
          <p:cNvSpPr/>
          <p:nvPr/>
        </p:nvSpPr>
        <p:spPr>
          <a:xfrm>
            <a:off x="6263640" y="1261872"/>
            <a:ext cx="5440680" cy="2176272"/>
          </a:xfrm>
          <a:prstGeom prst="rect">
            <a:avLst/>
          </a:prstGeom>
          <a:solidFill>
            <a:srgbClr val="FFFFFF"/>
          </a:solidFill>
          <a:ln w="12700">
            <a:solidFill>
              <a:srgbClr val="E5E7EB"/>
            </a:solidFill>
            <a:prstDash val="solid"/>
          </a:ln>
        </p:spPr>
      </p:sp>
      <p:sp>
        <p:nvSpPr>
          <p:cNvPr id="10" name="Shape 8"/>
          <p:cNvSpPr/>
          <p:nvPr/>
        </p:nvSpPr>
        <p:spPr>
          <a:xfrm>
            <a:off x="6263640" y="1261872"/>
            <a:ext cx="82296" cy="2176272"/>
          </a:xfrm>
          <a:prstGeom prst="rect">
            <a:avLst/>
          </a:prstGeom>
          <a:solidFill>
            <a:srgbClr val="DBA111"/>
          </a:solidFill>
          <a:ln/>
        </p:spPr>
      </p:sp>
      <p:sp>
        <p:nvSpPr>
          <p:cNvPr id="11" name="Text 9"/>
          <p:cNvSpPr/>
          <p:nvPr/>
        </p:nvSpPr>
        <p:spPr>
          <a:xfrm>
            <a:off x="6519672" y="1426464"/>
            <a:ext cx="1097280" cy="292608"/>
          </a:xfrm>
          <a:prstGeom prst="rect">
            <a:avLst/>
          </a:prstGeom>
          <a:noFill/>
          <a:ln/>
        </p:spPr>
        <p:txBody>
          <a:bodyPr wrap="square" lIns="0" tIns="0" rIns="0" bIns="0" rtlCol="0" anchor="ctr"/>
          <a:lstStyle/>
          <a:p>
            <a:pPr indent="0" marL="0">
              <a:buNone/>
            </a:pPr>
            <a:r>
              <a:rPr lang="en-US" sz="1600" b="1" dirty="0">
                <a:solidFill>
                  <a:srgbClr val="DBA111"/>
                </a:solidFill>
                <a:latin typeface="Century Gothic" pitchFamily="34" charset="0"/>
                <a:ea typeface="Century Gothic" pitchFamily="34" charset="-122"/>
                <a:cs typeface="Century Gothic" pitchFamily="34" charset="-120"/>
              </a:rPr>
              <a:t>02</a:t>
            </a:r>
            <a:endParaRPr lang="en-US" sz="1600" dirty="0"/>
          </a:p>
        </p:txBody>
      </p:sp>
      <p:sp>
        <p:nvSpPr>
          <p:cNvPr id="12" name="Text 10"/>
          <p:cNvSpPr/>
          <p:nvPr/>
        </p:nvSpPr>
        <p:spPr>
          <a:xfrm>
            <a:off x="6519672" y="1737360"/>
            <a:ext cx="4937760" cy="384048"/>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Bank is transforming faster than IA data</a:t>
            </a:r>
            <a:endParaRPr lang="en-US" sz="1600" dirty="0"/>
          </a:p>
        </p:txBody>
      </p:sp>
      <p:sp>
        <p:nvSpPr>
          <p:cNvPr id="13" name="Text 11"/>
          <p:cNvSpPr/>
          <p:nvPr/>
        </p:nvSpPr>
        <p:spPr>
          <a:xfrm>
            <a:off x="6519672" y="2194560"/>
            <a:ext cx="4937760" cy="1060704"/>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Enterprise AI spend, model inventory, and agentic workflows are scaling. Audit cannot opine on what it cannot see, join, or test at population scale.</a:t>
            </a:r>
            <a:endParaRPr lang="en-US" sz="1300" dirty="0"/>
          </a:p>
        </p:txBody>
      </p:sp>
      <p:sp>
        <p:nvSpPr>
          <p:cNvPr id="14" name="Shape 12"/>
          <p:cNvSpPr/>
          <p:nvPr/>
        </p:nvSpPr>
        <p:spPr>
          <a:xfrm>
            <a:off x="548640" y="3593592"/>
            <a:ext cx="5440680" cy="2176272"/>
          </a:xfrm>
          <a:prstGeom prst="rect">
            <a:avLst/>
          </a:prstGeom>
          <a:solidFill>
            <a:srgbClr val="FFFFFF"/>
          </a:solidFill>
          <a:ln w="12700">
            <a:solidFill>
              <a:srgbClr val="E5E7EB"/>
            </a:solidFill>
            <a:prstDash val="solid"/>
          </a:ln>
        </p:spPr>
      </p:sp>
      <p:sp>
        <p:nvSpPr>
          <p:cNvPr id="15" name="Shape 13"/>
          <p:cNvSpPr/>
          <p:nvPr/>
        </p:nvSpPr>
        <p:spPr>
          <a:xfrm>
            <a:off x="548640" y="3593592"/>
            <a:ext cx="82296" cy="2176272"/>
          </a:xfrm>
          <a:prstGeom prst="rect">
            <a:avLst/>
          </a:prstGeom>
          <a:solidFill>
            <a:srgbClr val="034694"/>
          </a:solidFill>
          <a:ln/>
        </p:spPr>
      </p:sp>
      <p:sp>
        <p:nvSpPr>
          <p:cNvPr id="16" name="Text 14"/>
          <p:cNvSpPr/>
          <p:nvPr/>
        </p:nvSpPr>
        <p:spPr>
          <a:xfrm>
            <a:off x="804672" y="3758184"/>
            <a:ext cx="1097280" cy="292608"/>
          </a:xfrm>
          <a:prstGeom prst="rect">
            <a:avLst/>
          </a:prstGeom>
          <a:noFill/>
          <a:ln/>
        </p:spPr>
        <p:txBody>
          <a:bodyPr wrap="square" lIns="0" tIns="0" rIns="0" bIns="0" rtlCol="0" anchor="ctr"/>
          <a:lstStyle/>
          <a:p>
            <a:pPr indent="0" marL="0">
              <a:buNone/>
            </a:pPr>
            <a:r>
              <a:rPr lang="en-US" sz="1600" b="1" dirty="0">
                <a:solidFill>
                  <a:srgbClr val="DBA111"/>
                </a:solidFill>
                <a:latin typeface="Century Gothic" pitchFamily="34" charset="0"/>
                <a:ea typeface="Century Gothic" pitchFamily="34" charset="-122"/>
                <a:cs typeface="Century Gothic" pitchFamily="34" charset="-120"/>
              </a:rPr>
              <a:t>03</a:t>
            </a:r>
            <a:endParaRPr lang="en-US" sz="1600" dirty="0"/>
          </a:p>
        </p:txBody>
      </p:sp>
      <p:sp>
        <p:nvSpPr>
          <p:cNvPr id="17" name="Text 15"/>
          <p:cNvSpPr/>
          <p:nvPr/>
        </p:nvSpPr>
        <p:spPr>
          <a:xfrm>
            <a:off x="804672" y="4069080"/>
            <a:ext cx="4937760" cy="384048"/>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Dual mandate is non-negotiable</a:t>
            </a:r>
            <a:endParaRPr lang="en-US" sz="1600" dirty="0"/>
          </a:p>
        </p:txBody>
      </p:sp>
      <p:sp>
        <p:nvSpPr>
          <p:cNvPr id="18" name="Text 16"/>
          <p:cNvSpPr/>
          <p:nvPr/>
        </p:nvSpPr>
        <p:spPr>
          <a:xfrm>
            <a:off x="804672" y="4526280"/>
            <a:ext cx="4937760" cy="1060704"/>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Use AI to audit. Audit the bank’s AI. Advise on AI governance without owning it. Treat IA’s own models to the same bar we set for the first and second lines.</a:t>
            </a:r>
            <a:endParaRPr lang="en-US" sz="1300" dirty="0"/>
          </a:p>
        </p:txBody>
      </p:sp>
      <p:sp>
        <p:nvSpPr>
          <p:cNvPr id="19" name="Shape 17"/>
          <p:cNvSpPr/>
          <p:nvPr/>
        </p:nvSpPr>
        <p:spPr>
          <a:xfrm>
            <a:off x="6263640" y="3593592"/>
            <a:ext cx="5440680" cy="2176272"/>
          </a:xfrm>
          <a:prstGeom prst="rect">
            <a:avLst/>
          </a:prstGeom>
          <a:solidFill>
            <a:srgbClr val="FFFFFF"/>
          </a:solidFill>
          <a:ln w="12700">
            <a:solidFill>
              <a:srgbClr val="E5E7EB"/>
            </a:solidFill>
            <a:prstDash val="solid"/>
          </a:ln>
        </p:spPr>
      </p:sp>
      <p:sp>
        <p:nvSpPr>
          <p:cNvPr id="20" name="Shape 18"/>
          <p:cNvSpPr/>
          <p:nvPr/>
        </p:nvSpPr>
        <p:spPr>
          <a:xfrm>
            <a:off x="6263640" y="3593592"/>
            <a:ext cx="82296" cy="2176272"/>
          </a:xfrm>
          <a:prstGeom prst="rect">
            <a:avLst/>
          </a:prstGeom>
          <a:solidFill>
            <a:srgbClr val="034694"/>
          </a:solidFill>
          <a:ln/>
        </p:spPr>
      </p:sp>
      <p:sp>
        <p:nvSpPr>
          <p:cNvPr id="21" name="Text 19"/>
          <p:cNvSpPr/>
          <p:nvPr/>
        </p:nvSpPr>
        <p:spPr>
          <a:xfrm>
            <a:off x="6519672" y="3758184"/>
            <a:ext cx="1097280" cy="292608"/>
          </a:xfrm>
          <a:prstGeom prst="rect">
            <a:avLst/>
          </a:prstGeom>
          <a:noFill/>
          <a:ln/>
        </p:spPr>
        <p:txBody>
          <a:bodyPr wrap="square" lIns="0" tIns="0" rIns="0" bIns="0" rtlCol="0" anchor="ctr"/>
          <a:lstStyle/>
          <a:p>
            <a:pPr indent="0" marL="0">
              <a:buNone/>
            </a:pPr>
            <a:r>
              <a:rPr lang="en-US" sz="1600" b="1" dirty="0">
                <a:solidFill>
                  <a:srgbClr val="DBA111"/>
                </a:solidFill>
                <a:latin typeface="Century Gothic" pitchFamily="34" charset="0"/>
                <a:ea typeface="Century Gothic" pitchFamily="34" charset="-122"/>
                <a:cs typeface="Century Gothic" pitchFamily="34" charset="-120"/>
              </a:rPr>
              <a:t>04</a:t>
            </a:r>
            <a:endParaRPr lang="en-US" sz="1600" dirty="0"/>
          </a:p>
        </p:txBody>
      </p:sp>
      <p:sp>
        <p:nvSpPr>
          <p:cNvPr id="22" name="Text 20"/>
          <p:cNvSpPr/>
          <p:nvPr/>
        </p:nvSpPr>
        <p:spPr>
          <a:xfrm>
            <a:off x="6519672" y="4069080"/>
            <a:ext cx="4937760" cy="384048"/>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Window is now</a:t>
            </a:r>
            <a:endParaRPr lang="en-US" sz="1600" dirty="0"/>
          </a:p>
        </p:txBody>
      </p:sp>
      <p:sp>
        <p:nvSpPr>
          <p:cNvPr id="23" name="Text 21"/>
          <p:cNvSpPr/>
          <p:nvPr/>
        </p:nvSpPr>
        <p:spPr>
          <a:xfrm>
            <a:off x="6519672" y="4526280"/>
            <a:ext cx="4937760" cy="1060704"/>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Source-system migration lands September 2026. AuditIQ is the operating layer. If the data contract is not designed in, we inherit yesterday’s fragmentation into tomorrow’s models.</a:t>
            </a:r>
            <a:endParaRPr lang="en-US" sz="1300" dirty="0"/>
          </a:p>
        </p:txBody>
      </p:sp>
      <p:sp>
        <p:nvSpPr>
          <p:cNvPr id="24" name="Shape 22"/>
          <p:cNvSpPr/>
          <p:nvPr/>
        </p:nvSpPr>
        <p:spPr>
          <a:xfrm>
            <a:off x="548640" y="6510528"/>
            <a:ext cx="320040" cy="36576"/>
          </a:xfrm>
          <a:prstGeom prst="rect">
            <a:avLst/>
          </a:prstGeom>
          <a:solidFill>
            <a:srgbClr val="DBA111"/>
          </a:solidFill>
          <a:ln/>
        </p:spPr>
      </p:sp>
      <p:sp>
        <p:nvSpPr>
          <p:cNvPr id="25" name="Text 23"/>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26" name="Text 24"/>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The Mandate</a:t>
            </a:r>
            <a:endParaRPr lang="en-US" sz="1000" dirty="0"/>
          </a:p>
        </p:txBody>
      </p:sp>
      <p:sp>
        <p:nvSpPr>
          <p:cNvPr id="27" name="Text 2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NORTH STAR</a:t>
            </a:r>
            <a:endParaRPr lang="en-US" sz="1100" dirty="0"/>
          </a:p>
        </p:txBody>
      </p:sp>
      <p:sp>
        <p:nvSpPr>
          <p:cNvPr id="3" name="Text 1"/>
          <p:cNvSpPr/>
          <p:nvPr/>
        </p:nvSpPr>
        <p:spPr>
          <a:xfrm>
            <a:off x="548640" y="640080"/>
            <a:ext cx="11064240" cy="384048"/>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From periodic file review to continuous, intelligence-led assurance</a:t>
            </a:r>
            <a:endParaRPr lang="en-US" sz="2200" dirty="0"/>
          </a:p>
        </p:txBody>
      </p:sp>
      <p:sp>
        <p:nvSpPr>
          <p:cNvPr id="4" name="Shape 2"/>
          <p:cNvSpPr/>
          <p:nvPr/>
        </p:nvSpPr>
        <p:spPr>
          <a:xfrm>
            <a:off x="548640" y="1170432"/>
            <a:ext cx="11064240" cy="1051560"/>
          </a:xfrm>
          <a:prstGeom prst="rect">
            <a:avLst/>
          </a:prstGeom>
          <a:solidFill>
            <a:srgbClr val="F5F3EC"/>
          </a:solidFill>
          <a:ln/>
        </p:spPr>
      </p:sp>
      <p:sp>
        <p:nvSpPr>
          <p:cNvPr id="5" name="Text 3"/>
          <p:cNvSpPr/>
          <p:nvPr/>
        </p:nvSpPr>
        <p:spPr>
          <a:xfrm>
            <a:off x="777240" y="1280160"/>
            <a:ext cx="10607040" cy="841248"/>
          </a:xfrm>
          <a:prstGeom prst="rect">
            <a:avLst/>
          </a:prstGeom>
          <a:noFill/>
          <a:ln/>
        </p:spPr>
        <p:txBody>
          <a:bodyPr wrap="square" lIns="0" tIns="0" rIns="0" bIns="0" rtlCol="0" anchor="ctr"/>
          <a:lstStyle/>
          <a:p>
            <a:pPr indent="0" marL="0">
              <a:buNone/>
            </a:pPr>
            <a:r>
              <a:rPr lang="en-US" sz="1500" dirty="0">
                <a:solidFill>
                  <a:srgbClr val="111827"/>
                </a:solidFill>
                <a:latin typeface="Calibri" pitchFamily="34" charset="0"/>
                <a:ea typeface="Calibri" pitchFamily="34" charset="-122"/>
                <a:cs typeface="Calibri" pitchFamily="34" charset="-120"/>
              </a:rPr>
              <a:t>By year-end 2029, Internal Audit runs on a single trusted data product, tests full populations where material, drafts CAE insight from live signals, and independently assures the bank’s AI estate — with auditors orchestrating agents, not competing with them.</a:t>
            </a:r>
            <a:endParaRPr lang="en-US" sz="1500" dirty="0"/>
          </a:p>
        </p:txBody>
      </p:sp>
      <p:sp>
        <p:nvSpPr>
          <p:cNvPr id="6" name="Shape 4"/>
          <p:cNvSpPr/>
          <p:nvPr/>
        </p:nvSpPr>
        <p:spPr>
          <a:xfrm>
            <a:off x="548640" y="2414016"/>
            <a:ext cx="2139696" cy="3611880"/>
          </a:xfrm>
          <a:prstGeom prst="rect">
            <a:avLst/>
          </a:prstGeom>
          <a:solidFill>
            <a:srgbClr val="FFFFFF"/>
          </a:solidFill>
          <a:ln w="12700">
            <a:solidFill>
              <a:srgbClr val="E5E7EB"/>
            </a:solidFill>
            <a:prstDash val="solid"/>
          </a:ln>
        </p:spPr>
      </p:sp>
      <p:sp>
        <p:nvSpPr>
          <p:cNvPr id="7" name="Shape 5"/>
          <p:cNvSpPr/>
          <p:nvPr/>
        </p:nvSpPr>
        <p:spPr>
          <a:xfrm>
            <a:off x="548640" y="2414016"/>
            <a:ext cx="2139696" cy="73152"/>
          </a:xfrm>
          <a:prstGeom prst="rect">
            <a:avLst/>
          </a:prstGeom>
          <a:solidFill>
            <a:srgbClr val="DBA111"/>
          </a:solidFill>
          <a:ln/>
        </p:spPr>
      </p:sp>
      <p:sp>
        <p:nvSpPr>
          <p:cNvPr id="8" name="Text 6"/>
          <p:cNvSpPr/>
          <p:nvPr/>
        </p:nvSpPr>
        <p:spPr>
          <a:xfrm>
            <a:off x="676656" y="2615184"/>
            <a:ext cx="1883664"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01</a:t>
            </a:r>
            <a:endParaRPr lang="en-US" sz="2200" dirty="0"/>
          </a:p>
        </p:txBody>
      </p:sp>
      <p:sp>
        <p:nvSpPr>
          <p:cNvPr id="9" name="Text 7"/>
          <p:cNvSpPr/>
          <p:nvPr/>
        </p:nvSpPr>
        <p:spPr>
          <a:xfrm>
            <a:off x="676656" y="3035808"/>
            <a:ext cx="1883664" cy="777240"/>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Trusted data</a:t>
            </a:r>
            <a:endParaRPr lang="en-US" sz="1500" dirty="0"/>
          </a:p>
        </p:txBody>
      </p:sp>
      <p:sp>
        <p:nvSpPr>
          <p:cNvPr id="10" name="Text 8"/>
          <p:cNvSpPr/>
          <p:nvPr/>
        </p:nvSpPr>
        <p:spPr>
          <a:xfrm>
            <a:off x="676656" y="3858768"/>
            <a:ext cx="1883664" cy="19202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One source of truth for issues, ratings, universe, and evidence. Contracts, lineage, quality SLAs.</a:t>
            </a:r>
            <a:endParaRPr lang="en-US" sz="1300" dirty="0"/>
          </a:p>
        </p:txBody>
      </p:sp>
      <p:sp>
        <p:nvSpPr>
          <p:cNvPr id="11" name="Shape 9"/>
          <p:cNvSpPr/>
          <p:nvPr/>
        </p:nvSpPr>
        <p:spPr>
          <a:xfrm>
            <a:off x="2798064" y="2414016"/>
            <a:ext cx="2139696" cy="3611880"/>
          </a:xfrm>
          <a:prstGeom prst="rect">
            <a:avLst/>
          </a:prstGeom>
          <a:solidFill>
            <a:srgbClr val="FFFFFF"/>
          </a:solidFill>
          <a:ln w="12700">
            <a:solidFill>
              <a:srgbClr val="E5E7EB"/>
            </a:solidFill>
            <a:prstDash val="solid"/>
          </a:ln>
        </p:spPr>
      </p:sp>
      <p:sp>
        <p:nvSpPr>
          <p:cNvPr id="12" name="Shape 10"/>
          <p:cNvSpPr/>
          <p:nvPr/>
        </p:nvSpPr>
        <p:spPr>
          <a:xfrm>
            <a:off x="2798064" y="2414016"/>
            <a:ext cx="2139696" cy="73152"/>
          </a:xfrm>
          <a:prstGeom prst="rect">
            <a:avLst/>
          </a:prstGeom>
          <a:solidFill>
            <a:srgbClr val="DBA111"/>
          </a:solidFill>
          <a:ln/>
        </p:spPr>
      </p:sp>
      <p:sp>
        <p:nvSpPr>
          <p:cNvPr id="13" name="Text 11"/>
          <p:cNvSpPr/>
          <p:nvPr/>
        </p:nvSpPr>
        <p:spPr>
          <a:xfrm>
            <a:off x="2926080" y="2615184"/>
            <a:ext cx="1883664"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02</a:t>
            </a:r>
            <a:endParaRPr lang="en-US" sz="2200" dirty="0"/>
          </a:p>
        </p:txBody>
      </p:sp>
      <p:sp>
        <p:nvSpPr>
          <p:cNvPr id="14" name="Text 12"/>
          <p:cNvSpPr/>
          <p:nvPr/>
        </p:nvSpPr>
        <p:spPr>
          <a:xfrm>
            <a:off x="2926080" y="3035808"/>
            <a:ext cx="1883664" cy="777240"/>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AuditIQ OS</a:t>
            </a:r>
            <a:endParaRPr lang="en-US" sz="1500" dirty="0"/>
          </a:p>
        </p:txBody>
      </p:sp>
      <p:sp>
        <p:nvSpPr>
          <p:cNvPr id="15" name="Text 13"/>
          <p:cNvSpPr/>
          <p:nvPr/>
        </p:nvSpPr>
        <p:spPr>
          <a:xfrm>
            <a:off x="2926080" y="3858768"/>
            <a:ext cx="1883664" cy="19202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Engagement, issue, and insight platform. The system of record and the system of insight.</a:t>
            </a:r>
            <a:endParaRPr lang="en-US" sz="1300" dirty="0"/>
          </a:p>
        </p:txBody>
      </p:sp>
      <p:sp>
        <p:nvSpPr>
          <p:cNvPr id="16" name="Shape 14"/>
          <p:cNvSpPr/>
          <p:nvPr/>
        </p:nvSpPr>
        <p:spPr>
          <a:xfrm>
            <a:off x="5047488" y="2414016"/>
            <a:ext cx="2139696" cy="3611880"/>
          </a:xfrm>
          <a:prstGeom prst="rect">
            <a:avLst/>
          </a:prstGeom>
          <a:solidFill>
            <a:srgbClr val="FFFFFF"/>
          </a:solidFill>
          <a:ln w="12700">
            <a:solidFill>
              <a:srgbClr val="E5E7EB"/>
            </a:solidFill>
            <a:prstDash val="solid"/>
          </a:ln>
        </p:spPr>
      </p:sp>
      <p:sp>
        <p:nvSpPr>
          <p:cNvPr id="17" name="Shape 15"/>
          <p:cNvSpPr/>
          <p:nvPr/>
        </p:nvSpPr>
        <p:spPr>
          <a:xfrm>
            <a:off x="5047488" y="2414016"/>
            <a:ext cx="2139696" cy="73152"/>
          </a:xfrm>
          <a:prstGeom prst="rect">
            <a:avLst/>
          </a:prstGeom>
          <a:solidFill>
            <a:srgbClr val="DBA111"/>
          </a:solidFill>
          <a:ln/>
        </p:spPr>
      </p:sp>
      <p:sp>
        <p:nvSpPr>
          <p:cNvPr id="18" name="Text 16"/>
          <p:cNvSpPr/>
          <p:nvPr/>
        </p:nvSpPr>
        <p:spPr>
          <a:xfrm>
            <a:off x="5175504" y="2615184"/>
            <a:ext cx="1883664"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03</a:t>
            </a:r>
            <a:endParaRPr lang="en-US" sz="2200" dirty="0"/>
          </a:p>
        </p:txBody>
      </p:sp>
      <p:sp>
        <p:nvSpPr>
          <p:cNvPr id="19" name="Text 17"/>
          <p:cNvSpPr/>
          <p:nvPr/>
        </p:nvSpPr>
        <p:spPr>
          <a:xfrm>
            <a:off x="5175504" y="3035808"/>
            <a:ext cx="1883664" cy="777240"/>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AI on the lifecycle</a:t>
            </a:r>
            <a:endParaRPr lang="en-US" sz="1500" dirty="0"/>
          </a:p>
        </p:txBody>
      </p:sp>
      <p:sp>
        <p:nvSpPr>
          <p:cNvPr id="20" name="Text 18"/>
          <p:cNvSpPr/>
          <p:nvPr/>
        </p:nvSpPr>
        <p:spPr>
          <a:xfrm>
            <a:off x="5175504" y="3858768"/>
            <a:ext cx="1883664" cy="19202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Plan, test, draft, monitor. Targeted use cases with measured ROI, not analytics everywhere.</a:t>
            </a:r>
            <a:endParaRPr lang="en-US" sz="1300" dirty="0"/>
          </a:p>
        </p:txBody>
      </p:sp>
      <p:sp>
        <p:nvSpPr>
          <p:cNvPr id="21" name="Shape 19"/>
          <p:cNvSpPr/>
          <p:nvPr/>
        </p:nvSpPr>
        <p:spPr>
          <a:xfrm>
            <a:off x="7296912" y="2414016"/>
            <a:ext cx="2139696" cy="3611880"/>
          </a:xfrm>
          <a:prstGeom prst="rect">
            <a:avLst/>
          </a:prstGeom>
          <a:solidFill>
            <a:srgbClr val="FFFFFF"/>
          </a:solidFill>
          <a:ln w="12700">
            <a:solidFill>
              <a:srgbClr val="E5E7EB"/>
            </a:solidFill>
            <a:prstDash val="solid"/>
          </a:ln>
        </p:spPr>
      </p:sp>
      <p:sp>
        <p:nvSpPr>
          <p:cNvPr id="22" name="Shape 20"/>
          <p:cNvSpPr/>
          <p:nvPr/>
        </p:nvSpPr>
        <p:spPr>
          <a:xfrm>
            <a:off x="7296912" y="2414016"/>
            <a:ext cx="2139696" cy="73152"/>
          </a:xfrm>
          <a:prstGeom prst="rect">
            <a:avLst/>
          </a:prstGeom>
          <a:solidFill>
            <a:srgbClr val="DBA111"/>
          </a:solidFill>
          <a:ln/>
        </p:spPr>
      </p:sp>
      <p:sp>
        <p:nvSpPr>
          <p:cNvPr id="23" name="Text 21"/>
          <p:cNvSpPr/>
          <p:nvPr/>
        </p:nvSpPr>
        <p:spPr>
          <a:xfrm>
            <a:off x="7424928" y="2615184"/>
            <a:ext cx="1883664"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04</a:t>
            </a:r>
            <a:endParaRPr lang="en-US" sz="2200" dirty="0"/>
          </a:p>
        </p:txBody>
      </p:sp>
      <p:sp>
        <p:nvSpPr>
          <p:cNvPr id="24" name="Text 22"/>
          <p:cNvSpPr/>
          <p:nvPr/>
        </p:nvSpPr>
        <p:spPr>
          <a:xfrm>
            <a:off x="7424928" y="3035808"/>
            <a:ext cx="1883664" cy="777240"/>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Assure enterprise AI</a:t>
            </a:r>
            <a:endParaRPr lang="en-US" sz="1500" dirty="0"/>
          </a:p>
        </p:txBody>
      </p:sp>
      <p:sp>
        <p:nvSpPr>
          <p:cNvPr id="25" name="Text 23"/>
          <p:cNvSpPr/>
          <p:nvPr/>
        </p:nvSpPr>
        <p:spPr>
          <a:xfrm>
            <a:off x="7424928" y="3858768"/>
            <a:ext cx="1883664" cy="19202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Inventory, classify, test governance, model risk, data lineage, and human oversight.</a:t>
            </a:r>
            <a:endParaRPr lang="en-US" sz="1300" dirty="0"/>
          </a:p>
        </p:txBody>
      </p:sp>
      <p:sp>
        <p:nvSpPr>
          <p:cNvPr id="26" name="Shape 24"/>
          <p:cNvSpPr/>
          <p:nvPr/>
        </p:nvSpPr>
        <p:spPr>
          <a:xfrm>
            <a:off x="9546336" y="2414016"/>
            <a:ext cx="2139696" cy="3611880"/>
          </a:xfrm>
          <a:prstGeom prst="rect">
            <a:avLst/>
          </a:prstGeom>
          <a:solidFill>
            <a:srgbClr val="FFFFFF"/>
          </a:solidFill>
          <a:ln w="12700">
            <a:solidFill>
              <a:srgbClr val="E5E7EB"/>
            </a:solidFill>
            <a:prstDash val="solid"/>
          </a:ln>
        </p:spPr>
      </p:sp>
      <p:sp>
        <p:nvSpPr>
          <p:cNvPr id="27" name="Shape 25"/>
          <p:cNvSpPr/>
          <p:nvPr/>
        </p:nvSpPr>
        <p:spPr>
          <a:xfrm>
            <a:off x="9546336" y="2414016"/>
            <a:ext cx="2139696" cy="73152"/>
          </a:xfrm>
          <a:prstGeom prst="rect">
            <a:avLst/>
          </a:prstGeom>
          <a:solidFill>
            <a:srgbClr val="DBA111"/>
          </a:solidFill>
          <a:ln/>
        </p:spPr>
      </p:sp>
      <p:sp>
        <p:nvSpPr>
          <p:cNvPr id="28" name="Text 26"/>
          <p:cNvSpPr/>
          <p:nvPr/>
        </p:nvSpPr>
        <p:spPr>
          <a:xfrm>
            <a:off x="9674352" y="2615184"/>
            <a:ext cx="1883664"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05</a:t>
            </a:r>
            <a:endParaRPr lang="en-US" sz="2200" dirty="0"/>
          </a:p>
        </p:txBody>
      </p:sp>
      <p:sp>
        <p:nvSpPr>
          <p:cNvPr id="29" name="Text 27"/>
          <p:cNvSpPr/>
          <p:nvPr/>
        </p:nvSpPr>
        <p:spPr>
          <a:xfrm>
            <a:off x="9674352" y="3035808"/>
            <a:ext cx="1883664" cy="777240"/>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People &amp; measure</a:t>
            </a:r>
            <a:endParaRPr lang="en-US" sz="1500" dirty="0"/>
          </a:p>
        </p:txBody>
      </p:sp>
      <p:sp>
        <p:nvSpPr>
          <p:cNvPr id="30" name="Text 28"/>
          <p:cNvSpPr/>
          <p:nvPr/>
        </p:nvSpPr>
        <p:spPr>
          <a:xfrm>
            <a:off x="9674352" y="3858768"/>
            <a:ext cx="1883664" cy="192024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Digital auditor skills. Capacity released to judgment. KPIs the Audit Committee can use.</a:t>
            </a:r>
            <a:endParaRPr lang="en-US" sz="1300" dirty="0"/>
          </a:p>
        </p:txBody>
      </p:sp>
      <p:sp>
        <p:nvSpPr>
          <p:cNvPr id="31" name="Shape 29"/>
          <p:cNvSpPr/>
          <p:nvPr/>
        </p:nvSpPr>
        <p:spPr>
          <a:xfrm>
            <a:off x="548640" y="6510528"/>
            <a:ext cx="320040" cy="36576"/>
          </a:xfrm>
          <a:prstGeom prst="rect">
            <a:avLst/>
          </a:prstGeom>
          <a:solidFill>
            <a:srgbClr val="DBA111"/>
          </a:solidFill>
          <a:ln/>
        </p:spPr>
      </p:sp>
      <p:sp>
        <p:nvSpPr>
          <p:cNvPr id="32" name="Text 30"/>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33" name="Text 31"/>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North Star</a:t>
            </a:r>
            <a:endParaRPr lang="en-US" sz="1000" dirty="0"/>
          </a:p>
        </p:txBody>
      </p:sp>
      <p:sp>
        <p:nvSpPr>
          <p:cNvPr id="34" name="Text 32"/>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640080"/>
            <a:ext cx="11064240" cy="384048"/>
          </a:xfrm>
          <a:prstGeom prst="rect">
            <a:avLst/>
          </a:prstGeom>
          <a:noFill/>
          <a:ln/>
        </p:spPr>
        <p:txBody>
          <a:bodyPr wrap="square" lIns="0" tIns="0" rIns="0" bIns="0" rtlCol="0" anchor="ctr"/>
          <a:lstStyle/>
          <a:p>
            <a:pPr indent="0" marL="0">
              <a:buNone/>
            </a:pPr>
            <a:r>
              <a:rPr lang="en-US" sz="2400" b="1" dirty="0">
                <a:solidFill>
                  <a:srgbClr val="034694"/>
                </a:solidFill>
                <a:latin typeface="Century Gothic" pitchFamily="34" charset="0"/>
                <a:ea typeface="Century Gothic" pitchFamily="34" charset="-122"/>
                <a:cs typeface="Century Gothic" pitchFamily="34" charset="-120"/>
              </a:rPr>
              <a:t>Three layers. Do not skip the bottom one.</a:t>
            </a:r>
            <a:endParaRPr lang="en-US" sz="2400" dirty="0"/>
          </a:p>
        </p:txBody>
      </p:sp>
      <p:sp>
        <p:nvSpPr>
          <p:cNvPr id="4" name="Shape 2"/>
          <p:cNvSpPr/>
          <p:nvPr/>
        </p:nvSpPr>
        <p:spPr>
          <a:xfrm>
            <a:off x="548640" y="1170432"/>
            <a:ext cx="11064240" cy="1444752"/>
          </a:xfrm>
          <a:prstGeom prst="rect">
            <a:avLst/>
          </a:prstGeom>
          <a:solidFill>
            <a:srgbClr val="021F47"/>
          </a:solidFill>
          <a:ln/>
        </p:spPr>
      </p:sp>
      <p:sp>
        <p:nvSpPr>
          <p:cNvPr id="5" name="Shape 3"/>
          <p:cNvSpPr/>
          <p:nvPr/>
        </p:nvSpPr>
        <p:spPr>
          <a:xfrm>
            <a:off x="548640" y="1170432"/>
            <a:ext cx="91440" cy="1444752"/>
          </a:xfrm>
          <a:prstGeom prst="rect">
            <a:avLst/>
          </a:prstGeom>
          <a:solidFill>
            <a:srgbClr val="DBA111"/>
          </a:solidFill>
          <a:ln/>
        </p:spPr>
      </p:sp>
      <p:sp>
        <p:nvSpPr>
          <p:cNvPr id="6" name="Text 4"/>
          <p:cNvSpPr/>
          <p:nvPr/>
        </p:nvSpPr>
        <p:spPr>
          <a:xfrm>
            <a:off x="868680" y="1316736"/>
            <a:ext cx="10424160" cy="237744"/>
          </a:xfrm>
          <a:prstGeom prst="rect">
            <a:avLst/>
          </a:prstGeom>
          <a:noFill/>
          <a:ln/>
        </p:spPr>
        <p:txBody>
          <a:bodyPr wrap="square" lIns="0" tIns="0" rIns="0" bIns="0" rtlCol="0" anchor="ctr"/>
          <a:lstStyle/>
          <a:p>
            <a:pPr indent="0" marL="0">
              <a:buNone/>
            </a:pPr>
            <a:r>
              <a:rPr lang="en-US" sz="1100" b="1" spc="160" kern="0" dirty="0">
                <a:solidFill>
                  <a:srgbClr val="DBA111"/>
                </a:solidFill>
                <a:latin typeface="Calibri" pitchFamily="34" charset="0"/>
                <a:ea typeface="Calibri" pitchFamily="34" charset="-122"/>
                <a:cs typeface="Calibri" pitchFamily="34" charset="-120"/>
              </a:rPr>
              <a:t>L3  WORKFLOW</a:t>
            </a:r>
            <a:endParaRPr lang="en-US" sz="1100" dirty="0"/>
          </a:p>
        </p:txBody>
      </p:sp>
      <p:sp>
        <p:nvSpPr>
          <p:cNvPr id="7" name="Text 5"/>
          <p:cNvSpPr/>
          <p:nvPr/>
        </p:nvSpPr>
        <p:spPr>
          <a:xfrm>
            <a:off x="868680" y="1554480"/>
            <a:ext cx="10424160" cy="329184"/>
          </a:xfrm>
          <a:prstGeom prst="rect">
            <a:avLst/>
          </a:prstGeom>
          <a:noFill/>
          <a:ln/>
        </p:spPr>
        <p:txBody>
          <a:bodyPr wrap="square" lIns="0" tIns="0" rIns="0" bIns="0" rtlCol="0" anchor="ctr"/>
          <a:lstStyle/>
          <a:p>
            <a:pPr indent="0" marL="0">
              <a:buNone/>
            </a:pPr>
            <a:r>
              <a:rPr lang="en-US" sz="2000" b="1" dirty="0">
                <a:solidFill>
                  <a:srgbClr val="FFFFFF"/>
                </a:solidFill>
                <a:latin typeface="Century Gothic" pitchFamily="34" charset="0"/>
                <a:ea typeface="Century Gothic" pitchFamily="34" charset="-122"/>
                <a:cs typeface="Century Gothic" pitchFamily="34" charset="-120"/>
              </a:rPr>
              <a:t>Audit operating layer</a:t>
            </a:r>
            <a:endParaRPr lang="en-US" sz="2000" dirty="0"/>
          </a:p>
        </p:txBody>
      </p:sp>
      <p:sp>
        <p:nvSpPr>
          <p:cNvPr id="8" name="Text 6"/>
          <p:cNvSpPr/>
          <p:nvPr/>
        </p:nvSpPr>
        <p:spPr>
          <a:xfrm>
            <a:off x="868680" y="1956816"/>
            <a:ext cx="10424160" cy="475488"/>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AuditIQ · engagement workspace · issue tracker · CAE / AC packs · chat over the audit corpus · agent orchestration with human sign-off</a:t>
            </a:r>
            <a:endParaRPr lang="en-US" sz="1300" dirty="0"/>
          </a:p>
        </p:txBody>
      </p:sp>
      <p:sp>
        <p:nvSpPr>
          <p:cNvPr id="9" name="Shape 7"/>
          <p:cNvSpPr/>
          <p:nvPr/>
        </p:nvSpPr>
        <p:spPr>
          <a:xfrm>
            <a:off x="548640" y="2743200"/>
            <a:ext cx="11064240" cy="1444752"/>
          </a:xfrm>
          <a:prstGeom prst="rect">
            <a:avLst/>
          </a:prstGeom>
          <a:solidFill>
            <a:srgbClr val="034694"/>
          </a:solidFill>
          <a:ln/>
        </p:spPr>
      </p:sp>
      <p:sp>
        <p:nvSpPr>
          <p:cNvPr id="10" name="Shape 8"/>
          <p:cNvSpPr/>
          <p:nvPr/>
        </p:nvSpPr>
        <p:spPr>
          <a:xfrm>
            <a:off x="548640" y="2743200"/>
            <a:ext cx="91440" cy="1444752"/>
          </a:xfrm>
          <a:prstGeom prst="rect">
            <a:avLst/>
          </a:prstGeom>
          <a:solidFill>
            <a:srgbClr val="DBA111"/>
          </a:solidFill>
          <a:ln/>
        </p:spPr>
      </p:sp>
      <p:sp>
        <p:nvSpPr>
          <p:cNvPr id="11" name="Text 9"/>
          <p:cNvSpPr/>
          <p:nvPr/>
        </p:nvSpPr>
        <p:spPr>
          <a:xfrm>
            <a:off x="868680" y="2889504"/>
            <a:ext cx="10424160" cy="237744"/>
          </a:xfrm>
          <a:prstGeom prst="rect">
            <a:avLst/>
          </a:prstGeom>
          <a:noFill/>
          <a:ln/>
        </p:spPr>
        <p:txBody>
          <a:bodyPr wrap="square" lIns="0" tIns="0" rIns="0" bIns="0" rtlCol="0" anchor="ctr"/>
          <a:lstStyle/>
          <a:p>
            <a:pPr indent="0" marL="0">
              <a:buNone/>
            </a:pPr>
            <a:r>
              <a:rPr lang="en-US" sz="1100" b="1" spc="160" kern="0" dirty="0">
                <a:solidFill>
                  <a:srgbClr val="DBA111"/>
                </a:solidFill>
                <a:latin typeface="Calibri" pitchFamily="34" charset="0"/>
                <a:ea typeface="Calibri" pitchFamily="34" charset="-122"/>
                <a:cs typeface="Calibri" pitchFamily="34" charset="-120"/>
              </a:rPr>
              <a:t>L2  INTELLIGENCE</a:t>
            </a:r>
            <a:endParaRPr lang="en-US" sz="1100" dirty="0"/>
          </a:p>
        </p:txBody>
      </p:sp>
      <p:sp>
        <p:nvSpPr>
          <p:cNvPr id="12" name="Text 10"/>
          <p:cNvSpPr/>
          <p:nvPr/>
        </p:nvSpPr>
        <p:spPr>
          <a:xfrm>
            <a:off x="868680" y="3127248"/>
            <a:ext cx="10424160" cy="329184"/>
          </a:xfrm>
          <a:prstGeom prst="rect">
            <a:avLst/>
          </a:prstGeom>
          <a:noFill/>
          <a:ln/>
        </p:spPr>
        <p:txBody>
          <a:bodyPr wrap="square" lIns="0" tIns="0" rIns="0" bIns="0" rtlCol="0" anchor="ctr"/>
          <a:lstStyle/>
          <a:p>
            <a:pPr indent="0" marL="0">
              <a:buNone/>
            </a:pPr>
            <a:r>
              <a:rPr lang="en-US" sz="2000" b="1" dirty="0">
                <a:solidFill>
                  <a:srgbClr val="FFFFFF"/>
                </a:solidFill>
                <a:latin typeface="Century Gothic" pitchFamily="34" charset="0"/>
                <a:ea typeface="Century Gothic" pitchFamily="34" charset="-122"/>
                <a:cs typeface="Century Gothic" pitchFamily="34" charset="-120"/>
              </a:rPr>
              <a:t>Models that serve auditors</a:t>
            </a:r>
            <a:endParaRPr lang="en-US" sz="2000" dirty="0"/>
          </a:p>
        </p:txBody>
      </p:sp>
      <p:sp>
        <p:nvSpPr>
          <p:cNvPr id="13" name="Text 11"/>
          <p:cNvSpPr/>
          <p:nvPr/>
        </p:nvSpPr>
        <p:spPr>
          <a:xfrm>
            <a:off x="868680" y="3529584"/>
            <a:ext cx="10424160" cy="475488"/>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RAG over methodology, issues, and regs · anomaly / population testing · risk sensing · narrative drafts · classification · evidence match · agentic follow-up</a:t>
            </a:r>
            <a:endParaRPr lang="en-US" sz="1300" dirty="0"/>
          </a:p>
        </p:txBody>
      </p:sp>
      <p:sp>
        <p:nvSpPr>
          <p:cNvPr id="14" name="Shape 12"/>
          <p:cNvSpPr/>
          <p:nvPr/>
        </p:nvSpPr>
        <p:spPr>
          <a:xfrm>
            <a:off x="548640" y="4315968"/>
            <a:ext cx="11064240" cy="1444752"/>
          </a:xfrm>
          <a:prstGeom prst="rect">
            <a:avLst/>
          </a:prstGeom>
          <a:solidFill>
            <a:srgbClr val="F5F3EC"/>
          </a:solidFill>
          <a:ln/>
        </p:spPr>
      </p:sp>
      <p:sp>
        <p:nvSpPr>
          <p:cNvPr id="15" name="Shape 13"/>
          <p:cNvSpPr/>
          <p:nvPr/>
        </p:nvSpPr>
        <p:spPr>
          <a:xfrm>
            <a:off x="548640" y="4315968"/>
            <a:ext cx="91440" cy="1444752"/>
          </a:xfrm>
          <a:prstGeom prst="rect">
            <a:avLst/>
          </a:prstGeom>
          <a:solidFill>
            <a:srgbClr val="DBA111"/>
          </a:solidFill>
          <a:ln/>
        </p:spPr>
      </p:sp>
      <p:sp>
        <p:nvSpPr>
          <p:cNvPr id="16" name="Text 14"/>
          <p:cNvSpPr/>
          <p:nvPr/>
        </p:nvSpPr>
        <p:spPr>
          <a:xfrm>
            <a:off x="868680" y="4462272"/>
            <a:ext cx="10424160" cy="237744"/>
          </a:xfrm>
          <a:prstGeom prst="rect">
            <a:avLst/>
          </a:prstGeom>
          <a:noFill/>
          <a:ln/>
        </p:spPr>
        <p:txBody>
          <a:bodyPr wrap="square" lIns="0" tIns="0" rIns="0" bIns="0" rtlCol="0" anchor="ctr"/>
          <a:lstStyle/>
          <a:p>
            <a:pPr indent="0" marL="0">
              <a:buNone/>
            </a:pPr>
            <a:r>
              <a:rPr lang="en-US" sz="1100" b="1" spc="160" kern="0" dirty="0">
                <a:solidFill>
                  <a:srgbClr val="034694"/>
                </a:solidFill>
                <a:latin typeface="Calibri" pitchFamily="34" charset="0"/>
                <a:ea typeface="Calibri" pitchFamily="34" charset="-122"/>
                <a:cs typeface="Calibri" pitchFamily="34" charset="-120"/>
              </a:rPr>
              <a:t>L1  DATA PRODUCT</a:t>
            </a:r>
            <a:endParaRPr lang="en-US" sz="1100" dirty="0"/>
          </a:p>
        </p:txBody>
      </p:sp>
      <p:sp>
        <p:nvSpPr>
          <p:cNvPr id="17" name="Text 15"/>
          <p:cNvSpPr/>
          <p:nvPr/>
        </p:nvSpPr>
        <p:spPr>
          <a:xfrm>
            <a:off x="868680" y="4700016"/>
            <a:ext cx="10424160" cy="329184"/>
          </a:xfrm>
          <a:prstGeom prst="rect">
            <a:avLst/>
          </a:prstGeom>
          <a:noFill/>
          <a:ln/>
        </p:spPr>
        <p:txBody>
          <a:bodyPr wrap="square" lIns="0" tIns="0" rIns="0" bIns="0" rtlCol="0" anchor="ctr"/>
          <a:lstStyle/>
          <a:p>
            <a:pPr indent="0" marL="0">
              <a:buNone/>
            </a:pPr>
            <a:r>
              <a:rPr lang="en-US" sz="2000" b="1" dirty="0">
                <a:solidFill>
                  <a:srgbClr val="034694"/>
                </a:solidFill>
                <a:latin typeface="Century Gothic" pitchFamily="34" charset="0"/>
                <a:ea typeface="Century Gothic" pitchFamily="34" charset="-122"/>
                <a:cs typeface="Century Gothic" pitchFamily="34" charset="-120"/>
              </a:rPr>
              <a:t>The foundation everything else sits on</a:t>
            </a:r>
            <a:endParaRPr lang="en-US" sz="2000" dirty="0"/>
          </a:p>
        </p:txBody>
      </p:sp>
      <p:sp>
        <p:nvSpPr>
          <p:cNvPr id="18" name="Text 16"/>
          <p:cNvSpPr/>
          <p:nvPr/>
        </p:nvSpPr>
        <p:spPr>
          <a:xfrm>
            <a:off x="868680" y="5102352"/>
            <a:ext cx="1042416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Migrated source of record · data contracts with 1LOD / 2LOD / GRC · lineage &amp; quality SLAs · universe + ratings + issues + evidence + KRIs · entitlement &amp; purpose limitation</a:t>
            </a:r>
            <a:endParaRPr lang="en-US" sz="1300" dirty="0"/>
          </a:p>
        </p:txBody>
      </p:sp>
      <p:sp>
        <p:nvSpPr>
          <p:cNvPr id="19" name="Shape 17"/>
          <p:cNvSpPr/>
          <p:nvPr/>
        </p:nvSpPr>
        <p:spPr>
          <a:xfrm>
            <a:off x="548640" y="6510528"/>
            <a:ext cx="320040" cy="36576"/>
          </a:xfrm>
          <a:prstGeom prst="rect">
            <a:avLst/>
          </a:prstGeom>
          <a:solidFill>
            <a:srgbClr val="DBA111"/>
          </a:solidFill>
          <a:ln/>
        </p:spPr>
      </p:sp>
      <p:sp>
        <p:nvSpPr>
          <p:cNvPr id="20" name="Text 18"/>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21" name="Text 19"/>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Architecture</a:t>
            </a:r>
            <a:endParaRPr lang="en-US" sz="1000" dirty="0"/>
          </a:p>
        </p:txBody>
      </p:sp>
      <p:sp>
        <p:nvSpPr>
          <p:cNvPr id="22" name="Text 20"/>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DESIGN PRINCIPLES</a:t>
            </a:r>
            <a:endParaRPr lang="en-US" sz="1100" dirty="0"/>
          </a:p>
        </p:txBody>
      </p:sp>
      <p:sp>
        <p:nvSpPr>
          <p:cNvPr id="3" name="Text 1"/>
          <p:cNvSpPr/>
          <p:nvPr/>
        </p:nvSpPr>
        <p:spPr>
          <a:xfrm>
            <a:off x="548640" y="640080"/>
            <a:ext cx="11064240" cy="384048"/>
          </a:xfrm>
          <a:prstGeom prst="rect">
            <a:avLst/>
          </a:prstGeom>
          <a:noFill/>
          <a:ln/>
        </p:spPr>
        <p:txBody>
          <a:bodyPr wrap="square" lIns="0" tIns="0" rIns="0" bIns="0" rtlCol="0" anchor="ctr"/>
          <a:lstStyle/>
          <a:p>
            <a:pPr indent="0" marL="0">
              <a:buNone/>
            </a:pPr>
            <a:r>
              <a:rPr lang="en-US" sz="2400" b="1" dirty="0">
                <a:solidFill>
                  <a:srgbClr val="034694"/>
                </a:solidFill>
                <a:latin typeface="Century Gothic" pitchFamily="34" charset="0"/>
                <a:ea typeface="Century Gothic" pitchFamily="34" charset="-122"/>
                <a:cs typeface="Century Gothic" pitchFamily="34" charset="-120"/>
              </a:rPr>
              <a:t>How we choose work — and what we refuse to do</a:t>
            </a:r>
            <a:endParaRPr lang="en-US" sz="2400" dirty="0"/>
          </a:p>
        </p:txBody>
      </p:sp>
      <p:sp>
        <p:nvSpPr>
          <p:cNvPr id="4" name="Shape 2"/>
          <p:cNvSpPr/>
          <p:nvPr/>
        </p:nvSpPr>
        <p:spPr>
          <a:xfrm>
            <a:off x="548640" y="1170432"/>
            <a:ext cx="11064240" cy="713232"/>
          </a:xfrm>
          <a:prstGeom prst="rect">
            <a:avLst/>
          </a:prstGeom>
          <a:solidFill>
            <a:srgbClr val="F5F3EC"/>
          </a:solidFill>
          <a:ln/>
        </p:spPr>
      </p:sp>
      <p:sp>
        <p:nvSpPr>
          <p:cNvPr id="5" name="Text 3"/>
          <p:cNvSpPr/>
          <p:nvPr/>
        </p:nvSpPr>
        <p:spPr>
          <a:xfrm>
            <a:off x="777240" y="1243584"/>
            <a:ext cx="3291840" cy="566928"/>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Data before models</a:t>
            </a:r>
            <a:endParaRPr lang="en-US" sz="1500" dirty="0"/>
          </a:p>
        </p:txBody>
      </p:sp>
      <p:sp>
        <p:nvSpPr>
          <p:cNvPr id="6" name="Text 4"/>
          <p:cNvSpPr/>
          <p:nvPr/>
        </p:nvSpPr>
        <p:spPr>
          <a:xfrm>
            <a:off x="4206240" y="1243584"/>
            <a:ext cx="7178040" cy="566928"/>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No production AI on data we cannot lineage, quality-score, or entitle. Migration quality gates are AI quality gates.</a:t>
            </a:r>
            <a:endParaRPr lang="en-US" sz="1400" dirty="0"/>
          </a:p>
        </p:txBody>
      </p:sp>
      <p:sp>
        <p:nvSpPr>
          <p:cNvPr id="7" name="Shape 5"/>
          <p:cNvSpPr/>
          <p:nvPr/>
        </p:nvSpPr>
        <p:spPr>
          <a:xfrm>
            <a:off x="548640" y="1975104"/>
            <a:ext cx="11064240" cy="713232"/>
          </a:xfrm>
          <a:prstGeom prst="rect">
            <a:avLst/>
          </a:prstGeom>
          <a:solidFill>
            <a:srgbClr val="FFFFFF"/>
          </a:solidFill>
          <a:ln/>
        </p:spPr>
      </p:sp>
      <p:sp>
        <p:nvSpPr>
          <p:cNvPr id="8" name="Text 6"/>
          <p:cNvSpPr/>
          <p:nvPr/>
        </p:nvSpPr>
        <p:spPr>
          <a:xfrm>
            <a:off x="777240" y="2048256"/>
            <a:ext cx="3291840" cy="566928"/>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Targeted, not everywhere</a:t>
            </a:r>
            <a:endParaRPr lang="en-US" sz="1500" dirty="0"/>
          </a:p>
        </p:txBody>
      </p:sp>
      <p:sp>
        <p:nvSpPr>
          <p:cNvPr id="9" name="Text 7"/>
          <p:cNvSpPr/>
          <p:nvPr/>
        </p:nvSpPr>
        <p:spPr>
          <a:xfrm>
            <a:off x="4206240" y="2048256"/>
            <a:ext cx="7178040" cy="566928"/>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Fund 5–7 use cases that move coverage, cycle time, or CAE insight. Kill pilots that cannot show a metric in 90 days.</a:t>
            </a:r>
            <a:endParaRPr lang="en-US" sz="1400" dirty="0"/>
          </a:p>
        </p:txBody>
      </p:sp>
      <p:sp>
        <p:nvSpPr>
          <p:cNvPr id="10" name="Shape 8"/>
          <p:cNvSpPr/>
          <p:nvPr/>
        </p:nvSpPr>
        <p:spPr>
          <a:xfrm>
            <a:off x="548640" y="2779776"/>
            <a:ext cx="11064240" cy="713232"/>
          </a:xfrm>
          <a:prstGeom prst="rect">
            <a:avLst/>
          </a:prstGeom>
          <a:solidFill>
            <a:srgbClr val="F5F3EC"/>
          </a:solidFill>
          <a:ln/>
        </p:spPr>
      </p:sp>
      <p:sp>
        <p:nvSpPr>
          <p:cNvPr id="11" name="Text 9"/>
          <p:cNvSpPr/>
          <p:nvPr/>
        </p:nvSpPr>
        <p:spPr>
          <a:xfrm>
            <a:off x="777240" y="2852928"/>
            <a:ext cx="3291840" cy="566928"/>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Human-led, agent-powered</a:t>
            </a:r>
            <a:endParaRPr lang="en-US" sz="1500" dirty="0"/>
          </a:p>
        </p:txBody>
      </p:sp>
      <p:sp>
        <p:nvSpPr>
          <p:cNvPr id="12" name="Text 10"/>
          <p:cNvSpPr/>
          <p:nvPr/>
        </p:nvSpPr>
        <p:spPr>
          <a:xfrm>
            <a:off x="4206240" y="2852928"/>
            <a:ext cx="7178040" cy="566928"/>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Agents retrieve, test, draft, and chase. Auditors scope, challenge, conclude, and own the opinion.</a:t>
            </a:r>
            <a:endParaRPr lang="en-US" sz="1400" dirty="0"/>
          </a:p>
        </p:txBody>
      </p:sp>
      <p:sp>
        <p:nvSpPr>
          <p:cNvPr id="13" name="Shape 11"/>
          <p:cNvSpPr/>
          <p:nvPr/>
        </p:nvSpPr>
        <p:spPr>
          <a:xfrm>
            <a:off x="548640" y="3584448"/>
            <a:ext cx="11064240" cy="713232"/>
          </a:xfrm>
          <a:prstGeom prst="rect">
            <a:avLst/>
          </a:prstGeom>
          <a:solidFill>
            <a:srgbClr val="FFFFFF"/>
          </a:solidFill>
          <a:ln/>
        </p:spPr>
      </p:sp>
      <p:sp>
        <p:nvSpPr>
          <p:cNvPr id="14" name="Text 12"/>
          <p:cNvSpPr/>
          <p:nvPr/>
        </p:nvSpPr>
        <p:spPr>
          <a:xfrm>
            <a:off x="777240" y="3657600"/>
            <a:ext cx="3291840" cy="566928"/>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Same bar we audit others to</a:t>
            </a:r>
            <a:endParaRPr lang="en-US" sz="1500" dirty="0"/>
          </a:p>
        </p:txBody>
      </p:sp>
      <p:sp>
        <p:nvSpPr>
          <p:cNvPr id="15" name="Text 13"/>
          <p:cNvSpPr/>
          <p:nvPr/>
        </p:nvSpPr>
        <p:spPr>
          <a:xfrm>
            <a:off x="4206240" y="3657600"/>
            <a:ext cx="7178040" cy="566928"/>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IA models carry inventory, purpose, validation, logging, and residual-risk acceptance. No shadow tools.</a:t>
            </a:r>
            <a:endParaRPr lang="en-US" sz="1400" dirty="0"/>
          </a:p>
        </p:txBody>
      </p:sp>
      <p:sp>
        <p:nvSpPr>
          <p:cNvPr id="16" name="Shape 14"/>
          <p:cNvSpPr/>
          <p:nvPr/>
        </p:nvSpPr>
        <p:spPr>
          <a:xfrm>
            <a:off x="548640" y="4389120"/>
            <a:ext cx="11064240" cy="713232"/>
          </a:xfrm>
          <a:prstGeom prst="rect">
            <a:avLst/>
          </a:prstGeom>
          <a:solidFill>
            <a:srgbClr val="F5F3EC"/>
          </a:solidFill>
          <a:ln/>
        </p:spPr>
      </p:sp>
      <p:sp>
        <p:nvSpPr>
          <p:cNvPr id="17" name="Text 15"/>
          <p:cNvSpPr/>
          <p:nvPr/>
        </p:nvSpPr>
        <p:spPr>
          <a:xfrm>
            <a:off x="777240" y="4462272"/>
            <a:ext cx="3291840" cy="566928"/>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Reuse the bank, do not fork it</a:t>
            </a:r>
            <a:endParaRPr lang="en-US" sz="1500" dirty="0"/>
          </a:p>
        </p:txBody>
      </p:sp>
      <p:sp>
        <p:nvSpPr>
          <p:cNvPr id="18" name="Text 16"/>
          <p:cNvSpPr/>
          <p:nvPr/>
        </p:nvSpPr>
        <p:spPr>
          <a:xfrm>
            <a:off x="4206240" y="4462272"/>
            <a:ext cx="7178040" cy="566928"/>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Consume enterprise data products, identity, and approved model platforms. Build only what IA uniquely needs.</a:t>
            </a:r>
            <a:endParaRPr lang="en-US" sz="1400" dirty="0"/>
          </a:p>
        </p:txBody>
      </p:sp>
      <p:sp>
        <p:nvSpPr>
          <p:cNvPr id="19" name="Shape 17"/>
          <p:cNvSpPr/>
          <p:nvPr/>
        </p:nvSpPr>
        <p:spPr>
          <a:xfrm>
            <a:off x="548640" y="5193792"/>
            <a:ext cx="11064240" cy="713232"/>
          </a:xfrm>
          <a:prstGeom prst="rect">
            <a:avLst/>
          </a:prstGeom>
          <a:solidFill>
            <a:srgbClr val="FFFFFF"/>
          </a:solidFill>
          <a:ln/>
        </p:spPr>
      </p:sp>
      <p:sp>
        <p:nvSpPr>
          <p:cNvPr id="20" name="Text 18"/>
          <p:cNvSpPr/>
          <p:nvPr/>
        </p:nvSpPr>
        <p:spPr>
          <a:xfrm>
            <a:off x="777240" y="5266944"/>
            <a:ext cx="3291840" cy="566928"/>
          </a:xfrm>
          <a:prstGeom prst="rect">
            <a:avLst/>
          </a:prstGeom>
          <a:noFill/>
          <a:ln/>
        </p:spPr>
        <p:txBody>
          <a:bodyPr wrap="square" lIns="0" tIns="0" rIns="0" bIns="0" rtlCol="0" anchor="ctr"/>
          <a:lstStyle/>
          <a:p>
            <a:pPr indent="0" marL="0">
              <a:buNone/>
            </a:pPr>
            <a:r>
              <a:rPr lang="en-US" sz="1500" b="1" dirty="0">
                <a:solidFill>
                  <a:srgbClr val="034694"/>
                </a:solidFill>
                <a:latin typeface="Century Gothic" pitchFamily="34" charset="0"/>
                <a:ea typeface="Century Gothic" pitchFamily="34" charset="-122"/>
                <a:cs typeface="Century Gothic" pitchFamily="34" charset="-120"/>
              </a:rPr>
              <a:t>Measure what the Committee cares about</a:t>
            </a:r>
            <a:endParaRPr lang="en-US" sz="1500" dirty="0"/>
          </a:p>
        </p:txBody>
      </p:sp>
      <p:sp>
        <p:nvSpPr>
          <p:cNvPr id="21" name="Text 19"/>
          <p:cNvSpPr/>
          <p:nvPr/>
        </p:nvSpPr>
        <p:spPr>
          <a:xfrm>
            <a:off x="4206240" y="5266944"/>
            <a:ext cx="7178040" cy="566928"/>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Coverage of the risk universe, time-to-insight, issue aging quality, and assurance over AI — not tool count.</a:t>
            </a:r>
            <a:endParaRPr lang="en-US" sz="1400" dirty="0"/>
          </a:p>
        </p:txBody>
      </p:sp>
      <p:sp>
        <p:nvSpPr>
          <p:cNvPr id="22" name="Shape 20"/>
          <p:cNvSpPr/>
          <p:nvPr/>
        </p:nvSpPr>
        <p:spPr>
          <a:xfrm>
            <a:off x="548640" y="6510528"/>
            <a:ext cx="320040" cy="36576"/>
          </a:xfrm>
          <a:prstGeom prst="rect">
            <a:avLst/>
          </a:prstGeom>
          <a:solidFill>
            <a:srgbClr val="DBA111"/>
          </a:solidFill>
          <a:ln/>
        </p:spPr>
      </p:sp>
      <p:sp>
        <p:nvSpPr>
          <p:cNvPr id="23" name="Text 21"/>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24" name="Text 22"/>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Principles</a:t>
            </a:r>
            <a:endParaRPr lang="en-US" sz="1000" dirty="0"/>
          </a:p>
        </p:txBody>
      </p:sp>
      <p:sp>
        <p:nvSpPr>
          <p:cNvPr id="25" name="Text 23"/>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DUAL MANDATE</a:t>
            </a:r>
            <a:endParaRPr lang="en-US" sz="1100" dirty="0"/>
          </a:p>
        </p:txBody>
      </p:sp>
      <p:sp>
        <p:nvSpPr>
          <p:cNvPr id="3" name="Text 1"/>
          <p:cNvSpPr/>
          <p:nvPr/>
        </p:nvSpPr>
        <p:spPr>
          <a:xfrm>
            <a:off x="548640" y="640080"/>
            <a:ext cx="11064240" cy="384048"/>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Use AI. Audit AI. Advise on AI. Do not conflate the three.</a:t>
            </a:r>
            <a:endParaRPr lang="en-US" sz="2200" dirty="0"/>
          </a:p>
        </p:txBody>
      </p:sp>
      <p:sp>
        <p:nvSpPr>
          <p:cNvPr id="4" name="Shape 2"/>
          <p:cNvSpPr/>
          <p:nvPr/>
        </p:nvSpPr>
        <p:spPr>
          <a:xfrm>
            <a:off x="548640" y="1170432"/>
            <a:ext cx="3611880" cy="4828032"/>
          </a:xfrm>
          <a:prstGeom prst="rect">
            <a:avLst/>
          </a:prstGeom>
          <a:solidFill>
            <a:srgbClr val="FFFFFF"/>
          </a:solidFill>
          <a:ln w="12700">
            <a:solidFill>
              <a:srgbClr val="E5E7EB"/>
            </a:solidFill>
            <a:prstDash val="solid"/>
          </a:ln>
        </p:spPr>
      </p:sp>
      <p:sp>
        <p:nvSpPr>
          <p:cNvPr id="5" name="Shape 3"/>
          <p:cNvSpPr/>
          <p:nvPr/>
        </p:nvSpPr>
        <p:spPr>
          <a:xfrm>
            <a:off x="548640" y="1170432"/>
            <a:ext cx="3611880" cy="1078992"/>
          </a:xfrm>
          <a:prstGeom prst="rect">
            <a:avLst/>
          </a:prstGeom>
          <a:solidFill>
            <a:srgbClr val="034694"/>
          </a:solidFill>
          <a:ln/>
        </p:spPr>
      </p:sp>
      <p:sp>
        <p:nvSpPr>
          <p:cNvPr id="6" name="Text 4"/>
          <p:cNvSpPr/>
          <p:nvPr/>
        </p:nvSpPr>
        <p:spPr>
          <a:xfrm>
            <a:off x="749808" y="1261872"/>
            <a:ext cx="3200400" cy="420624"/>
          </a:xfrm>
          <a:prstGeom prst="rect">
            <a:avLst/>
          </a:prstGeom>
          <a:noFill/>
          <a:ln/>
        </p:spPr>
        <p:txBody>
          <a:bodyPr wrap="square" lIns="0" tIns="0" rIns="0" bIns="0" rtlCol="0" anchor="ctr"/>
          <a:lstStyle/>
          <a:p>
            <a:pPr indent="0" marL="0">
              <a:buNone/>
            </a:pPr>
            <a:r>
              <a:rPr lang="en-US" sz="2200" b="1" dirty="0">
                <a:solidFill>
                  <a:srgbClr val="DBA111"/>
                </a:solidFill>
                <a:latin typeface="Century Gothic" pitchFamily="34" charset="0"/>
                <a:ea typeface="Century Gothic" pitchFamily="34" charset="-122"/>
                <a:cs typeface="Century Gothic" pitchFamily="34" charset="-120"/>
              </a:rPr>
              <a:t>USE</a:t>
            </a:r>
            <a:endParaRPr lang="en-US" sz="2200" dirty="0"/>
          </a:p>
        </p:txBody>
      </p:sp>
      <p:sp>
        <p:nvSpPr>
          <p:cNvPr id="7" name="Text 5"/>
          <p:cNvSpPr/>
          <p:nvPr/>
        </p:nvSpPr>
        <p:spPr>
          <a:xfrm>
            <a:off x="749808" y="1682496"/>
            <a:ext cx="3200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AI as auditor tool</a:t>
            </a:r>
            <a:endParaRPr lang="en-US" sz="1300" dirty="0"/>
          </a:p>
        </p:txBody>
      </p:sp>
      <p:sp>
        <p:nvSpPr>
          <p:cNvPr id="8" name="Text 6"/>
          <p:cNvSpPr/>
          <p:nvPr/>
        </p:nvSpPr>
        <p:spPr>
          <a:xfrm>
            <a:off x="749808" y="2395728"/>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Risk-ranked universe &amp; dynamic plan</a:t>
            </a:r>
            <a:endParaRPr lang="en-US" sz="1300" dirty="0"/>
          </a:p>
        </p:txBody>
      </p:sp>
      <p:sp>
        <p:nvSpPr>
          <p:cNvPr id="9" name="Text 7"/>
          <p:cNvSpPr/>
          <p:nvPr/>
        </p:nvSpPr>
        <p:spPr>
          <a:xfrm>
            <a:off x="749808" y="2926080"/>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Full-population testing on priority processes</a:t>
            </a:r>
            <a:endParaRPr lang="en-US" sz="1300" dirty="0"/>
          </a:p>
        </p:txBody>
      </p:sp>
      <p:sp>
        <p:nvSpPr>
          <p:cNvPr id="10" name="Text 8"/>
          <p:cNvSpPr/>
          <p:nvPr/>
        </p:nvSpPr>
        <p:spPr>
          <a:xfrm>
            <a:off x="749808" y="3456432"/>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Evidence match and workpaper drafts</a:t>
            </a:r>
            <a:endParaRPr lang="en-US" sz="1300" dirty="0"/>
          </a:p>
        </p:txBody>
      </p:sp>
      <p:sp>
        <p:nvSpPr>
          <p:cNvPr id="11" name="Text 9"/>
          <p:cNvSpPr/>
          <p:nvPr/>
        </p:nvSpPr>
        <p:spPr>
          <a:xfrm>
            <a:off x="749808" y="3986784"/>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Issue clustering and root-cause hints</a:t>
            </a:r>
            <a:endParaRPr lang="en-US" sz="1300" dirty="0"/>
          </a:p>
        </p:txBody>
      </p:sp>
      <p:sp>
        <p:nvSpPr>
          <p:cNvPr id="12" name="Text 10"/>
          <p:cNvSpPr/>
          <p:nvPr/>
        </p:nvSpPr>
        <p:spPr>
          <a:xfrm>
            <a:off x="749808" y="4517136"/>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CAE narrative drafts from live data</a:t>
            </a:r>
            <a:endParaRPr lang="en-US" sz="1300" dirty="0"/>
          </a:p>
        </p:txBody>
      </p:sp>
      <p:sp>
        <p:nvSpPr>
          <p:cNvPr id="13" name="Text 11"/>
          <p:cNvSpPr/>
          <p:nvPr/>
        </p:nvSpPr>
        <p:spPr>
          <a:xfrm>
            <a:off x="749808" y="5047488"/>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Continuous monitoring of KRIs / exceptions</a:t>
            </a:r>
            <a:endParaRPr lang="en-US" sz="1300" dirty="0"/>
          </a:p>
        </p:txBody>
      </p:sp>
      <p:sp>
        <p:nvSpPr>
          <p:cNvPr id="14" name="Shape 12"/>
          <p:cNvSpPr/>
          <p:nvPr/>
        </p:nvSpPr>
        <p:spPr>
          <a:xfrm>
            <a:off x="4343400" y="1170432"/>
            <a:ext cx="3611880" cy="4828032"/>
          </a:xfrm>
          <a:prstGeom prst="rect">
            <a:avLst/>
          </a:prstGeom>
          <a:solidFill>
            <a:srgbClr val="FFFFFF"/>
          </a:solidFill>
          <a:ln w="12700">
            <a:solidFill>
              <a:srgbClr val="E5E7EB"/>
            </a:solidFill>
            <a:prstDash val="solid"/>
          </a:ln>
        </p:spPr>
      </p:sp>
      <p:sp>
        <p:nvSpPr>
          <p:cNvPr id="15" name="Shape 13"/>
          <p:cNvSpPr/>
          <p:nvPr/>
        </p:nvSpPr>
        <p:spPr>
          <a:xfrm>
            <a:off x="4343400" y="1170432"/>
            <a:ext cx="3611880" cy="1078992"/>
          </a:xfrm>
          <a:prstGeom prst="rect">
            <a:avLst/>
          </a:prstGeom>
          <a:solidFill>
            <a:srgbClr val="021F47"/>
          </a:solidFill>
          <a:ln/>
        </p:spPr>
      </p:sp>
      <p:sp>
        <p:nvSpPr>
          <p:cNvPr id="16" name="Text 14"/>
          <p:cNvSpPr/>
          <p:nvPr/>
        </p:nvSpPr>
        <p:spPr>
          <a:xfrm>
            <a:off x="4544568" y="1261872"/>
            <a:ext cx="3200400" cy="420624"/>
          </a:xfrm>
          <a:prstGeom prst="rect">
            <a:avLst/>
          </a:prstGeom>
          <a:noFill/>
          <a:ln/>
        </p:spPr>
        <p:txBody>
          <a:bodyPr wrap="square" lIns="0" tIns="0" rIns="0" bIns="0" rtlCol="0" anchor="ctr"/>
          <a:lstStyle/>
          <a:p>
            <a:pPr indent="0" marL="0">
              <a:buNone/>
            </a:pPr>
            <a:r>
              <a:rPr lang="en-US" sz="2200" b="1" dirty="0">
                <a:solidFill>
                  <a:srgbClr val="DBA111"/>
                </a:solidFill>
                <a:latin typeface="Century Gothic" pitchFamily="34" charset="0"/>
                <a:ea typeface="Century Gothic" pitchFamily="34" charset="-122"/>
                <a:cs typeface="Century Gothic" pitchFamily="34" charset="-120"/>
              </a:rPr>
              <a:t>AUDIT</a:t>
            </a:r>
            <a:endParaRPr lang="en-US" sz="2200" dirty="0"/>
          </a:p>
        </p:txBody>
      </p:sp>
      <p:sp>
        <p:nvSpPr>
          <p:cNvPr id="17" name="Text 15"/>
          <p:cNvSpPr/>
          <p:nvPr/>
        </p:nvSpPr>
        <p:spPr>
          <a:xfrm>
            <a:off x="4544568" y="1682496"/>
            <a:ext cx="3200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AI as auditable object</a:t>
            </a:r>
            <a:endParaRPr lang="en-US" sz="1300" dirty="0"/>
          </a:p>
        </p:txBody>
      </p:sp>
      <p:sp>
        <p:nvSpPr>
          <p:cNvPr id="18" name="Text 16"/>
          <p:cNvSpPr/>
          <p:nvPr/>
        </p:nvSpPr>
        <p:spPr>
          <a:xfrm>
            <a:off x="4544568" y="2395728"/>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Enterprise model / use-case inventory</a:t>
            </a:r>
            <a:endParaRPr lang="en-US" sz="1300" dirty="0"/>
          </a:p>
        </p:txBody>
      </p:sp>
      <p:sp>
        <p:nvSpPr>
          <p:cNvPr id="19" name="Text 17"/>
          <p:cNvSpPr/>
          <p:nvPr/>
        </p:nvSpPr>
        <p:spPr>
          <a:xfrm>
            <a:off x="4544568" y="2926080"/>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Governance vs COSO GenAI / NIST AI RMF</a:t>
            </a:r>
            <a:endParaRPr lang="en-US" sz="1300" dirty="0"/>
          </a:p>
        </p:txBody>
      </p:sp>
      <p:sp>
        <p:nvSpPr>
          <p:cNvPr id="20" name="Text 18"/>
          <p:cNvSpPr/>
          <p:nvPr/>
        </p:nvSpPr>
        <p:spPr>
          <a:xfrm>
            <a:off x="4544568" y="3456432"/>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Data lineage, bias, drift, access</a:t>
            </a:r>
            <a:endParaRPr lang="en-US" sz="1300" dirty="0"/>
          </a:p>
        </p:txBody>
      </p:sp>
      <p:sp>
        <p:nvSpPr>
          <p:cNvPr id="21" name="Text 19"/>
          <p:cNvSpPr/>
          <p:nvPr/>
        </p:nvSpPr>
        <p:spPr>
          <a:xfrm>
            <a:off x="4544568" y="3986784"/>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High-risk systems &amp; third-party models</a:t>
            </a:r>
            <a:endParaRPr lang="en-US" sz="1300" dirty="0"/>
          </a:p>
        </p:txBody>
      </p:sp>
      <p:sp>
        <p:nvSpPr>
          <p:cNvPr id="22" name="Text 20"/>
          <p:cNvSpPr/>
          <p:nvPr/>
        </p:nvSpPr>
        <p:spPr>
          <a:xfrm>
            <a:off x="4544568" y="4517136"/>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Human-oversight and change control</a:t>
            </a:r>
            <a:endParaRPr lang="en-US" sz="1300" dirty="0"/>
          </a:p>
        </p:txBody>
      </p:sp>
      <p:sp>
        <p:nvSpPr>
          <p:cNvPr id="23" name="Text 21"/>
          <p:cNvSpPr/>
          <p:nvPr/>
        </p:nvSpPr>
        <p:spPr>
          <a:xfrm>
            <a:off x="4544568" y="5047488"/>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EU AI Act / OSFI-aligned control tests</a:t>
            </a:r>
            <a:endParaRPr lang="en-US" sz="1300" dirty="0"/>
          </a:p>
        </p:txBody>
      </p:sp>
      <p:sp>
        <p:nvSpPr>
          <p:cNvPr id="24" name="Shape 22"/>
          <p:cNvSpPr/>
          <p:nvPr/>
        </p:nvSpPr>
        <p:spPr>
          <a:xfrm>
            <a:off x="8138160" y="1170432"/>
            <a:ext cx="3611880" cy="4828032"/>
          </a:xfrm>
          <a:prstGeom prst="rect">
            <a:avLst/>
          </a:prstGeom>
          <a:solidFill>
            <a:srgbClr val="FFFFFF"/>
          </a:solidFill>
          <a:ln w="12700">
            <a:solidFill>
              <a:srgbClr val="E5E7EB"/>
            </a:solidFill>
            <a:prstDash val="solid"/>
          </a:ln>
        </p:spPr>
      </p:sp>
      <p:sp>
        <p:nvSpPr>
          <p:cNvPr id="25" name="Shape 23"/>
          <p:cNvSpPr/>
          <p:nvPr/>
        </p:nvSpPr>
        <p:spPr>
          <a:xfrm>
            <a:off x="8138160" y="1170432"/>
            <a:ext cx="3611880" cy="1078992"/>
          </a:xfrm>
          <a:prstGeom prst="rect">
            <a:avLst/>
          </a:prstGeom>
          <a:solidFill>
            <a:srgbClr val="034694"/>
          </a:solidFill>
          <a:ln/>
        </p:spPr>
      </p:sp>
      <p:sp>
        <p:nvSpPr>
          <p:cNvPr id="26" name="Text 24"/>
          <p:cNvSpPr/>
          <p:nvPr/>
        </p:nvSpPr>
        <p:spPr>
          <a:xfrm>
            <a:off x="8339328" y="1261872"/>
            <a:ext cx="3200400" cy="420624"/>
          </a:xfrm>
          <a:prstGeom prst="rect">
            <a:avLst/>
          </a:prstGeom>
          <a:noFill/>
          <a:ln/>
        </p:spPr>
        <p:txBody>
          <a:bodyPr wrap="square" lIns="0" tIns="0" rIns="0" bIns="0" rtlCol="0" anchor="ctr"/>
          <a:lstStyle/>
          <a:p>
            <a:pPr indent="0" marL="0">
              <a:buNone/>
            </a:pPr>
            <a:r>
              <a:rPr lang="en-US" sz="2200" b="1" dirty="0">
                <a:solidFill>
                  <a:srgbClr val="DBA111"/>
                </a:solidFill>
                <a:latin typeface="Century Gothic" pitchFamily="34" charset="0"/>
                <a:ea typeface="Century Gothic" pitchFamily="34" charset="-122"/>
                <a:cs typeface="Century Gothic" pitchFamily="34" charset="-120"/>
              </a:rPr>
              <a:t>ADVISE</a:t>
            </a:r>
            <a:endParaRPr lang="en-US" sz="2200" dirty="0"/>
          </a:p>
        </p:txBody>
      </p:sp>
      <p:sp>
        <p:nvSpPr>
          <p:cNvPr id="27" name="Text 25"/>
          <p:cNvSpPr/>
          <p:nvPr/>
        </p:nvSpPr>
        <p:spPr>
          <a:xfrm>
            <a:off x="8339328" y="1682496"/>
            <a:ext cx="3200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AI as board topic</a:t>
            </a:r>
            <a:endParaRPr lang="en-US" sz="1300" dirty="0"/>
          </a:p>
        </p:txBody>
      </p:sp>
      <p:sp>
        <p:nvSpPr>
          <p:cNvPr id="28" name="Text 26"/>
          <p:cNvSpPr/>
          <p:nvPr/>
        </p:nvSpPr>
        <p:spPr>
          <a:xfrm>
            <a:off x="8339328" y="2395728"/>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Control design input, not ownership</a:t>
            </a:r>
            <a:endParaRPr lang="en-US" sz="1300" dirty="0"/>
          </a:p>
        </p:txBody>
      </p:sp>
      <p:sp>
        <p:nvSpPr>
          <p:cNvPr id="29" name="Text 27"/>
          <p:cNvSpPr/>
          <p:nvPr/>
        </p:nvSpPr>
        <p:spPr>
          <a:xfrm>
            <a:off x="8339328" y="2926080"/>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Shadow-AI and acceptable-use gaps</a:t>
            </a:r>
            <a:endParaRPr lang="en-US" sz="1300" dirty="0"/>
          </a:p>
        </p:txBody>
      </p:sp>
      <p:sp>
        <p:nvSpPr>
          <p:cNvPr id="30" name="Text 28"/>
          <p:cNvSpPr/>
          <p:nvPr/>
        </p:nvSpPr>
        <p:spPr>
          <a:xfrm>
            <a:off x="8339328" y="3456432"/>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Committee education on residual risk</a:t>
            </a:r>
            <a:endParaRPr lang="en-US" sz="1300" dirty="0"/>
          </a:p>
        </p:txBody>
      </p:sp>
      <p:sp>
        <p:nvSpPr>
          <p:cNvPr id="31" name="Text 29"/>
          <p:cNvSpPr/>
          <p:nvPr/>
        </p:nvSpPr>
        <p:spPr>
          <a:xfrm>
            <a:off x="8339328" y="3986784"/>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Readiness for regulatory examination</a:t>
            </a:r>
            <a:endParaRPr lang="en-US" sz="1300" dirty="0"/>
          </a:p>
        </p:txBody>
      </p:sp>
      <p:sp>
        <p:nvSpPr>
          <p:cNvPr id="32" name="Text 30"/>
          <p:cNvSpPr/>
          <p:nvPr/>
        </p:nvSpPr>
        <p:spPr>
          <a:xfrm>
            <a:off x="8339328" y="4517136"/>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Challenge of first-line model claims</a:t>
            </a:r>
            <a:endParaRPr lang="en-US" sz="1300" dirty="0"/>
          </a:p>
        </p:txBody>
      </p:sp>
      <p:sp>
        <p:nvSpPr>
          <p:cNvPr id="33" name="Text 31"/>
          <p:cNvSpPr/>
          <p:nvPr/>
        </p:nvSpPr>
        <p:spPr>
          <a:xfrm>
            <a:off x="8339328" y="5047488"/>
            <a:ext cx="3200400" cy="475488"/>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Playbooks for incident and model failure</a:t>
            </a:r>
            <a:endParaRPr lang="en-US" sz="1300" dirty="0"/>
          </a:p>
        </p:txBody>
      </p:sp>
      <p:sp>
        <p:nvSpPr>
          <p:cNvPr id="34" name="Shape 32"/>
          <p:cNvSpPr/>
          <p:nvPr/>
        </p:nvSpPr>
        <p:spPr>
          <a:xfrm>
            <a:off x="548640" y="6510528"/>
            <a:ext cx="320040" cy="36576"/>
          </a:xfrm>
          <a:prstGeom prst="rect">
            <a:avLst/>
          </a:prstGeom>
          <a:solidFill>
            <a:srgbClr val="DBA111"/>
          </a:solidFill>
          <a:ln/>
        </p:spPr>
      </p:sp>
      <p:sp>
        <p:nvSpPr>
          <p:cNvPr id="35" name="Text 33"/>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36" name="Text 34"/>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Dual Mandate</a:t>
            </a:r>
            <a:endParaRPr lang="en-US" sz="1000" dirty="0"/>
          </a:p>
        </p:txBody>
      </p:sp>
      <p:sp>
        <p:nvSpPr>
          <p:cNvPr id="37" name="Text 3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THREE-YEAR ROADMAP</a:t>
            </a:r>
            <a:endParaRPr lang="en-US" sz="1100" dirty="0"/>
          </a:p>
        </p:txBody>
      </p:sp>
      <p:sp>
        <p:nvSpPr>
          <p:cNvPr id="3" name="Text 1"/>
          <p:cNvSpPr/>
          <p:nvPr/>
        </p:nvSpPr>
        <p:spPr>
          <a:xfrm>
            <a:off x="548640" y="640080"/>
            <a:ext cx="11064240" cy="365760"/>
          </a:xfrm>
          <a:prstGeom prst="rect">
            <a:avLst/>
          </a:prstGeom>
          <a:noFill/>
          <a:ln/>
        </p:spPr>
        <p:txBody>
          <a:bodyPr wrap="square" lIns="0" tIns="0" rIns="0" bIns="0" rtlCol="0" anchor="ctr"/>
          <a:lstStyle/>
          <a:p>
            <a:pPr indent="0" marL="0">
              <a:buNone/>
            </a:pPr>
            <a:r>
              <a:rPr lang="en-US" sz="2000" b="1" dirty="0">
                <a:solidFill>
                  <a:srgbClr val="034694"/>
                </a:solidFill>
                <a:latin typeface="Century Gothic" pitchFamily="34" charset="0"/>
                <a:ea typeface="Century Gothic" pitchFamily="34" charset="-122"/>
                <a:cs typeface="Century Gothic" pitchFamily="34" charset="-120"/>
              </a:rPr>
              <a:t>Foundation first. Scale what works. Then let agents run the routine.</a:t>
            </a:r>
            <a:endParaRPr lang="en-US" sz="2000" dirty="0"/>
          </a:p>
        </p:txBody>
      </p:sp>
      <p:sp>
        <p:nvSpPr>
          <p:cNvPr id="4" name="Shape 2"/>
          <p:cNvSpPr/>
          <p:nvPr/>
        </p:nvSpPr>
        <p:spPr>
          <a:xfrm>
            <a:off x="548640" y="1115568"/>
            <a:ext cx="3611880" cy="4892040"/>
          </a:xfrm>
          <a:prstGeom prst="rect">
            <a:avLst/>
          </a:prstGeom>
          <a:solidFill>
            <a:srgbClr val="FFFFFF"/>
          </a:solidFill>
          <a:ln w="12700">
            <a:solidFill>
              <a:srgbClr val="E5E7EB"/>
            </a:solidFill>
            <a:prstDash val="solid"/>
          </a:ln>
        </p:spPr>
      </p:sp>
      <p:sp>
        <p:nvSpPr>
          <p:cNvPr id="5" name="Shape 3"/>
          <p:cNvSpPr/>
          <p:nvPr/>
        </p:nvSpPr>
        <p:spPr>
          <a:xfrm>
            <a:off x="548640" y="1115568"/>
            <a:ext cx="3611880" cy="91440"/>
          </a:xfrm>
          <a:prstGeom prst="rect">
            <a:avLst/>
          </a:prstGeom>
          <a:solidFill>
            <a:srgbClr val="DBA111"/>
          </a:solidFill>
          <a:ln/>
        </p:spPr>
      </p:sp>
      <p:sp>
        <p:nvSpPr>
          <p:cNvPr id="6" name="Text 4"/>
          <p:cNvSpPr/>
          <p:nvPr/>
        </p:nvSpPr>
        <p:spPr>
          <a:xfrm>
            <a:off x="731520" y="1298448"/>
            <a:ext cx="3246120" cy="256032"/>
          </a:xfrm>
          <a:prstGeom prst="rect">
            <a:avLst/>
          </a:prstGeom>
          <a:noFill/>
          <a:ln/>
        </p:spPr>
        <p:txBody>
          <a:bodyPr wrap="square" lIns="0" tIns="0" rIns="0" bIns="0" rtlCol="0" anchor="ctr"/>
          <a:lstStyle/>
          <a:p>
            <a:pPr indent="0" marL="0">
              <a:buNone/>
            </a:pPr>
            <a:r>
              <a:rPr lang="en-US" sz="1100" b="1" spc="80" kern="0" dirty="0">
                <a:solidFill>
                  <a:srgbClr val="DBA111"/>
                </a:solidFill>
                <a:latin typeface="Calibri" pitchFamily="34" charset="0"/>
                <a:ea typeface="Calibri" pitchFamily="34" charset="-122"/>
                <a:cs typeface="Calibri" pitchFamily="34" charset="-120"/>
              </a:rPr>
              <a:t>H1  ·  NOW–Q3 2027</a:t>
            </a:r>
            <a:endParaRPr lang="en-US" sz="1100" dirty="0"/>
          </a:p>
        </p:txBody>
      </p:sp>
      <p:sp>
        <p:nvSpPr>
          <p:cNvPr id="7" name="Text 5"/>
          <p:cNvSpPr/>
          <p:nvPr/>
        </p:nvSpPr>
        <p:spPr>
          <a:xfrm>
            <a:off x="731520" y="1572768"/>
            <a:ext cx="3246120"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FOUNDATION</a:t>
            </a:r>
            <a:endParaRPr lang="en-US" sz="2200" dirty="0"/>
          </a:p>
        </p:txBody>
      </p:sp>
      <p:sp>
        <p:nvSpPr>
          <p:cNvPr id="8" name="Text 6"/>
          <p:cNvSpPr/>
          <p:nvPr/>
        </p:nvSpPr>
        <p:spPr>
          <a:xfrm>
            <a:off x="731520" y="2084832"/>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Cut over to the new audit data source with quality gates and lineage</a:t>
            </a:r>
            <a:endParaRPr lang="en-US" sz="1200" dirty="0"/>
          </a:p>
        </p:txBody>
      </p:sp>
      <p:sp>
        <p:nvSpPr>
          <p:cNvPr id="9" name="Text 7"/>
          <p:cNvSpPr/>
          <p:nvPr/>
        </p:nvSpPr>
        <p:spPr>
          <a:xfrm>
            <a:off x="731520" y="2688336"/>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AuditIQ is system of record for issues, ratings, and live reporting</a:t>
            </a:r>
            <a:endParaRPr lang="en-US" sz="1200" dirty="0"/>
          </a:p>
        </p:txBody>
      </p:sp>
      <p:sp>
        <p:nvSpPr>
          <p:cNvPr id="10" name="Text 8"/>
          <p:cNvSpPr/>
          <p:nvPr/>
        </p:nvSpPr>
        <p:spPr>
          <a:xfrm>
            <a:off x="731520" y="3291840"/>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IA AI use policy, inventory, and approved-tool list live</a:t>
            </a:r>
            <a:endParaRPr lang="en-US" sz="1200" dirty="0"/>
          </a:p>
        </p:txBody>
      </p:sp>
      <p:sp>
        <p:nvSpPr>
          <p:cNvPr id="11" name="Text 9"/>
          <p:cNvSpPr/>
          <p:nvPr/>
        </p:nvSpPr>
        <p:spPr>
          <a:xfrm>
            <a:off x="731520" y="3895344"/>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3 production use cases: RAG methodology, issue clustering, one population test</a:t>
            </a:r>
            <a:endParaRPr lang="en-US" sz="1200" dirty="0"/>
          </a:p>
        </p:txBody>
      </p:sp>
      <p:sp>
        <p:nvSpPr>
          <p:cNvPr id="12" name="Text 10"/>
          <p:cNvSpPr/>
          <p:nvPr/>
        </p:nvSpPr>
        <p:spPr>
          <a:xfrm>
            <a:off x="731520" y="4498848"/>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Enterprise AI inventory feeds the 2027 audit plan</a:t>
            </a:r>
            <a:endParaRPr lang="en-US" sz="1200" dirty="0"/>
          </a:p>
        </p:txBody>
      </p:sp>
      <p:sp>
        <p:nvSpPr>
          <p:cNvPr id="13" name="Text 11"/>
          <p:cNvSpPr/>
          <p:nvPr/>
        </p:nvSpPr>
        <p:spPr>
          <a:xfrm>
            <a:off x="731520" y="5102352"/>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Digital-auditor curriculum launched; 100% of in-charges trained</a:t>
            </a:r>
            <a:endParaRPr lang="en-US" sz="1200" dirty="0"/>
          </a:p>
        </p:txBody>
      </p:sp>
      <p:sp>
        <p:nvSpPr>
          <p:cNvPr id="14" name="Shape 12"/>
          <p:cNvSpPr/>
          <p:nvPr/>
        </p:nvSpPr>
        <p:spPr>
          <a:xfrm>
            <a:off x="4343400" y="1115568"/>
            <a:ext cx="3611880" cy="4892040"/>
          </a:xfrm>
          <a:prstGeom prst="rect">
            <a:avLst/>
          </a:prstGeom>
          <a:solidFill>
            <a:srgbClr val="FFFFFF"/>
          </a:solidFill>
          <a:ln w="12700">
            <a:solidFill>
              <a:srgbClr val="E5E7EB"/>
            </a:solidFill>
            <a:prstDash val="solid"/>
          </a:ln>
        </p:spPr>
      </p:sp>
      <p:sp>
        <p:nvSpPr>
          <p:cNvPr id="15" name="Shape 13"/>
          <p:cNvSpPr/>
          <p:nvPr/>
        </p:nvSpPr>
        <p:spPr>
          <a:xfrm>
            <a:off x="4343400" y="1115568"/>
            <a:ext cx="3611880" cy="91440"/>
          </a:xfrm>
          <a:prstGeom prst="rect">
            <a:avLst/>
          </a:prstGeom>
          <a:solidFill>
            <a:srgbClr val="DBA111"/>
          </a:solidFill>
          <a:ln/>
        </p:spPr>
      </p:sp>
      <p:sp>
        <p:nvSpPr>
          <p:cNvPr id="16" name="Text 14"/>
          <p:cNvSpPr/>
          <p:nvPr/>
        </p:nvSpPr>
        <p:spPr>
          <a:xfrm>
            <a:off x="4526280" y="1298448"/>
            <a:ext cx="3246120" cy="256032"/>
          </a:xfrm>
          <a:prstGeom prst="rect">
            <a:avLst/>
          </a:prstGeom>
          <a:noFill/>
          <a:ln/>
        </p:spPr>
        <p:txBody>
          <a:bodyPr wrap="square" lIns="0" tIns="0" rIns="0" bIns="0" rtlCol="0" anchor="ctr"/>
          <a:lstStyle/>
          <a:p>
            <a:pPr indent="0" marL="0">
              <a:buNone/>
            </a:pPr>
            <a:r>
              <a:rPr lang="en-US" sz="1100" b="1" spc="80" kern="0" dirty="0">
                <a:solidFill>
                  <a:srgbClr val="DBA111"/>
                </a:solidFill>
                <a:latin typeface="Calibri" pitchFamily="34" charset="0"/>
                <a:ea typeface="Calibri" pitchFamily="34" charset="-122"/>
                <a:cs typeface="Calibri" pitchFamily="34" charset="-120"/>
              </a:rPr>
              <a:t>H2  ·  FY2028</a:t>
            </a:r>
            <a:endParaRPr lang="en-US" sz="1100" dirty="0"/>
          </a:p>
        </p:txBody>
      </p:sp>
      <p:sp>
        <p:nvSpPr>
          <p:cNvPr id="17" name="Text 15"/>
          <p:cNvSpPr/>
          <p:nvPr/>
        </p:nvSpPr>
        <p:spPr>
          <a:xfrm>
            <a:off x="4526280" y="1572768"/>
            <a:ext cx="3246120"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SCALE</a:t>
            </a:r>
            <a:endParaRPr lang="en-US" sz="2200" dirty="0"/>
          </a:p>
        </p:txBody>
      </p:sp>
      <p:sp>
        <p:nvSpPr>
          <p:cNvPr id="18" name="Text 16"/>
          <p:cNvSpPr/>
          <p:nvPr/>
        </p:nvSpPr>
        <p:spPr>
          <a:xfrm>
            <a:off x="4526280" y="2084832"/>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Population testing default on 8–10 material processes</a:t>
            </a:r>
            <a:endParaRPr lang="en-US" sz="1200" dirty="0"/>
          </a:p>
        </p:txBody>
      </p:sp>
      <p:sp>
        <p:nvSpPr>
          <p:cNvPr id="19" name="Text 17"/>
          <p:cNvSpPr/>
          <p:nvPr/>
        </p:nvSpPr>
        <p:spPr>
          <a:xfrm>
            <a:off x="4526280" y="2688336"/>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Risk sensing refreshes the plan quarterly, then monthly</a:t>
            </a:r>
            <a:endParaRPr lang="en-US" sz="1200" dirty="0"/>
          </a:p>
        </p:txBody>
      </p:sp>
      <p:sp>
        <p:nvSpPr>
          <p:cNvPr id="20" name="Text 18"/>
          <p:cNvSpPr/>
          <p:nvPr/>
        </p:nvSpPr>
        <p:spPr>
          <a:xfrm>
            <a:off x="4526280" y="3291840"/>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CAE / AC pack assembled from AuditIQ with AI-drafted narrative</a:t>
            </a:r>
            <a:endParaRPr lang="en-US" sz="1200" dirty="0"/>
          </a:p>
        </p:txBody>
      </p:sp>
      <p:sp>
        <p:nvSpPr>
          <p:cNvPr id="21" name="Text 19"/>
          <p:cNvSpPr/>
          <p:nvPr/>
        </p:nvSpPr>
        <p:spPr>
          <a:xfrm>
            <a:off x="4526280" y="3895344"/>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First agentic workflows: evidence match, issue chase, workpaper QA</a:t>
            </a:r>
            <a:endParaRPr lang="en-US" sz="1200" dirty="0"/>
          </a:p>
        </p:txBody>
      </p:sp>
      <p:sp>
        <p:nvSpPr>
          <p:cNvPr id="22" name="Text 20"/>
          <p:cNvSpPr/>
          <p:nvPr/>
        </p:nvSpPr>
        <p:spPr>
          <a:xfrm>
            <a:off x="4526280" y="4498848"/>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Standalone AI governance audit on the annual plan</a:t>
            </a:r>
            <a:endParaRPr lang="en-US" sz="1200" dirty="0"/>
          </a:p>
        </p:txBody>
      </p:sp>
      <p:sp>
        <p:nvSpPr>
          <p:cNvPr id="23" name="Text 21"/>
          <p:cNvSpPr/>
          <p:nvPr/>
        </p:nvSpPr>
        <p:spPr>
          <a:xfrm>
            <a:off x="4526280" y="5102352"/>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Data products published for reuse by 2LOD where appropriate</a:t>
            </a:r>
            <a:endParaRPr lang="en-US" sz="1200" dirty="0"/>
          </a:p>
        </p:txBody>
      </p:sp>
      <p:sp>
        <p:nvSpPr>
          <p:cNvPr id="24" name="Shape 22"/>
          <p:cNvSpPr/>
          <p:nvPr/>
        </p:nvSpPr>
        <p:spPr>
          <a:xfrm>
            <a:off x="8138160" y="1115568"/>
            <a:ext cx="3611880" cy="4892040"/>
          </a:xfrm>
          <a:prstGeom prst="rect">
            <a:avLst/>
          </a:prstGeom>
          <a:solidFill>
            <a:srgbClr val="FFFFFF"/>
          </a:solidFill>
          <a:ln w="12700">
            <a:solidFill>
              <a:srgbClr val="E5E7EB"/>
            </a:solidFill>
            <a:prstDash val="solid"/>
          </a:ln>
        </p:spPr>
      </p:sp>
      <p:sp>
        <p:nvSpPr>
          <p:cNvPr id="25" name="Shape 23"/>
          <p:cNvSpPr/>
          <p:nvPr/>
        </p:nvSpPr>
        <p:spPr>
          <a:xfrm>
            <a:off x="8138160" y="1115568"/>
            <a:ext cx="3611880" cy="91440"/>
          </a:xfrm>
          <a:prstGeom prst="rect">
            <a:avLst/>
          </a:prstGeom>
          <a:solidFill>
            <a:srgbClr val="DBA111"/>
          </a:solidFill>
          <a:ln/>
        </p:spPr>
      </p:sp>
      <p:sp>
        <p:nvSpPr>
          <p:cNvPr id="26" name="Text 24"/>
          <p:cNvSpPr/>
          <p:nvPr/>
        </p:nvSpPr>
        <p:spPr>
          <a:xfrm>
            <a:off x="8321040" y="1298448"/>
            <a:ext cx="3246120" cy="256032"/>
          </a:xfrm>
          <a:prstGeom prst="rect">
            <a:avLst/>
          </a:prstGeom>
          <a:noFill/>
          <a:ln/>
        </p:spPr>
        <p:txBody>
          <a:bodyPr wrap="square" lIns="0" tIns="0" rIns="0" bIns="0" rtlCol="0" anchor="ctr"/>
          <a:lstStyle/>
          <a:p>
            <a:pPr indent="0" marL="0">
              <a:buNone/>
            </a:pPr>
            <a:r>
              <a:rPr lang="en-US" sz="1100" b="1" spc="80" kern="0" dirty="0">
                <a:solidFill>
                  <a:srgbClr val="DBA111"/>
                </a:solidFill>
                <a:latin typeface="Calibri" pitchFamily="34" charset="0"/>
                <a:ea typeface="Calibri" pitchFamily="34" charset="-122"/>
                <a:cs typeface="Calibri" pitchFamily="34" charset="-120"/>
              </a:rPr>
              <a:t>H3  ·  FY2029</a:t>
            </a:r>
            <a:endParaRPr lang="en-US" sz="1100" dirty="0"/>
          </a:p>
        </p:txBody>
      </p:sp>
      <p:sp>
        <p:nvSpPr>
          <p:cNvPr id="27" name="Text 25"/>
          <p:cNvSpPr/>
          <p:nvPr/>
        </p:nvSpPr>
        <p:spPr>
          <a:xfrm>
            <a:off x="8321040" y="1572768"/>
            <a:ext cx="3246120"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ADAPTIVE</a:t>
            </a:r>
            <a:endParaRPr lang="en-US" sz="2200" dirty="0"/>
          </a:p>
        </p:txBody>
      </p:sp>
      <p:sp>
        <p:nvSpPr>
          <p:cNvPr id="28" name="Text 26"/>
          <p:cNvSpPr/>
          <p:nvPr/>
        </p:nvSpPr>
        <p:spPr>
          <a:xfrm>
            <a:off x="8321040" y="2084832"/>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Agents execute routine testing under auditor orchestration</a:t>
            </a:r>
            <a:endParaRPr lang="en-US" sz="1200" dirty="0"/>
          </a:p>
        </p:txBody>
      </p:sp>
      <p:sp>
        <p:nvSpPr>
          <p:cNvPr id="29" name="Text 27"/>
          <p:cNvSpPr/>
          <p:nvPr/>
        </p:nvSpPr>
        <p:spPr>
          <a:xfrm>
            <a:off x="8321040" y="2688336"/>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Predictive heatmaps drive in-year plan changes</a:t>
            </a:r>
            <a:endParaRPr lang="en-US" sz="1200" dirty="0"/>
          </a:p>
        </p:txBody>
      </p:sp>
      <p:sp>
        <p:nvSpPr>
          <p:cNvPr id="30" name="Text 28"/>
          <p:cNvSpPr/>
          <p:nvPr/>
        </p:nvSpPr>
        <p:spPr>
          <a:xfrm>
            <a:off x="8321040" y="3291840"/>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Continuous assurance on a defined control set, not point-in-time only</a:t>
            </a:r>
            <a:endParaRPr lang="en-US" sz="1200" dirty="0"/>
          </a:p>
        </p:txBody>
      </p:sp>
      <p:sp>
        <p:nvSpPr>
          <p:cNvPr id="31" name="Text 29"/>
          <p:cNvSpPr/>
          <p:nvPr/>
        </p:nvSpPr>
        <p:spPr>
          <a:xfrm>
            <a:off x="8321040" y="3895344"/>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IA is the independent validator of high-risk enterprise AI</a:t>
            </a:r>
            <a:endParaRPr lang="en-US" sz="1200" dirty="0"/>
          </a:p>
        </p:txBody>
      </p:sp>
      <p:sp>
        <p:nvSpPr>
          <p:cNvPr id="32" name="Text 30"/>
          <p:cNvSpPr/>
          <p:nvPr/>
        </p:nvSpPr>
        <p:spPr>
          <a:xfrm>
            <a:off x="8321040" y="4498848"/>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Coverage and cycle-time targets in the CAE scorecard</a:t>
            </a:r>
            <a:endParaRPr lang="en-US" sz="1200" dirty="0"/>
          </a:p>
        </p:txBody>
      </p:sp>
      <p:sp>
        <p:nvSpPr>
          <p:cNvPr id="33" name="Text 31"/>
          <p:cNvSpPr/>
          <p:nvPr/>
        </p:nvSpPr>
        <p:spPr>
          <a:xfrm>
            <a:off x="8321040" y="5102352"/>
            <a:ext cx="3246120" cy="56692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  External quality assessment can inspect the AI control environment</a:t>
            </a:r>
            <a:endParaRPr lang="en-US" sz="1200" dirty="0"/>
          </a:p>
        </p:txBody>
      </p:sp>
      <p:sp>
        <p:nvSpPr>
          <p:cNvPr id="34" name="Shape 32"/>
          <p:cNvSpPr/>
          <p:nvPr/>
        </p:nvSpPr>
        <p:spPr>
          <a:xfrm>
            <a:off x="548640" y="6510528"/>
            <a:ext cx="320040" cy="36576"/>
          </a:xfrm>
          <a:prstGeom prst="rect">
            <a:avLst/>
          </a:prstGeom>
          <a:solidFill>
            <a:srgbClr val="DBA111"/>
          </a:solidFill>
          <a:ln/>
        </p:spPr>
      </p:sp>
      <p:sp>
        <p:nvSpPr>
          <p:cNvPr id="35" name="Text 33"/>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36" name="Text 34"/>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Roadmap</a:t>
            </a:r>
            <a:endParaRPr lang="en-US" sz="1000" dirty="0"/>
          </a:p>
        </p:txBody>
      </p:sp>
      <p:sp>
        <p:nvSpPr>
          <p:cNvPr id="37" name="Text 3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HORIZON 1 DETAIL</a:t>
            </a:r>
            <a:endParaRPr lang="en-US" sz="1100" dirty="0"/>
          </a:p>
        </p:txBody>
      </p:sp>
      <p:sp>
        <p:nvSpPr>
          <p:cNvPr id="3" name="Text 1"/>
          <p:cNvSpPr/>
          <p:nvPr/>
        </p:nvSpPr>
        <p:spPr>
          <a:xfrm>
            <a:off x="548640" y="640080"/>
            <a:ext cx="11064240"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Next 12 months — what must be true by Q3 2027</a:t>
            </a:r>
            <a:endParaRPr lang="en-US" sz="2200" dirty="0"/>
          </a:p>
        </p:txBody>
      </p:sp>
      <p:sp>
        <p:nvSpPr>
          <p:cNvPr id="4" name="Shape 2"/>
          <p:cNvSpPr/>
          <p:nvPr/>
        </p:nvSpPr>
        <p:spPr>
          <a:xfrm>
            <a:off x="548640" y="1152144"/>
            <a:ext cx="2724912" cy="4846320"/>
          </a:xfrm>
          <a:prstGeom prst="rect">
            <a:avLst/>
          </a:prstGeom>
          <a:solidFill>
            <a:srgbClr val="F5F3EC"/>
          </a:solidFill>
          <a:ln w="12700">
            <a:solidFill>
              <a:srgbClr val="E5E7EB"/>
            </a:solidFill>
            <a:prstDash val="solid"/>
          </a:ln>
        </p:spPr>
      </p:sp>
      <p:sp>
        <p:nvSpPr>
          <p:cNvPr id="5" name="Shape 3"/>
          <p:cNvSpPr/>
          <p:nvPr/>
        </p:nvSpPr>
        <p:spPr>
          <a:xfrm>
            <a:off x="548640" y="1152144"/>
            <a:ext cx="2724912" cy="566928"/>
          </a:xfrm>
          <a:prstGeom prst="rect">
            <a:avLst/>
          </a:prstGeom>
          <a:solidFill>
            <a:srgbClr val="034694"/>
          </a:solidFill>
          <a:ln/>
        </p:spPr>
      </p:sp>
      <p:sp>
        <p:nvSpPr>
          <p:cNvPr id="6" name="Text 4"/>
          <p:cNvSpPr/>
          <p:nvPr/>
        </p:nvSpPr>
        <p:spPr>
          <a:xfrm>
            <a:off x="548640" y="1243584"/>
            <a:ext cx="2724912"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Q4 2026</a:t>
            </a:r>
            <a:endParaRPr lang="en-US" sz="1600" dirty="0"/>
          </a:p>
        </p:txBody>
      </p:sp>
      <p:sp>
        <p:nvSpPr>
          <p:cNvPr id="7" name="Shape 5"/>
          <p:cNvSpPr/>
          <p:nvPr/>
        </p:nvSpPr>
        <p:spPr>
          <a:xfrm>
            <a:off x="713232" y="1975104"/>
            <a:ext cx="146304" cy="146304"/>
          </a:xfrm>
          <a:prstGeom prst="ellipse">
            <a:avLst/>
          </a:prstGeom>
          <a:solidFill>
            <a:srgbClr val="DBA111"/>
          </a:solidFill>
          <a:ln/>
        </p:spPr>
      </p:sp>
      <p:sp>
        <p:nvSpPr>
          <p:cNvPr id="8" name="Text 6"/>
          <p:cNvSpPr/>
          <p:nvPr/>
        </p:nvSpPr>
        <p:spPr>
          <a:xfrm>
            <a:off x="950976" y="1865376"/>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Migration cutover + parallel run close</a:t>
            </a:r>
            <a:endParaRPr lang="en-US" sz="1300" dirty="0"/>
          </a:p>
        </p:txBody>
      </p:sp>
      <p:sp>
        <p:nvSpPr>
          <p:cNvPr id="9" name="Shape 7"/>
          <p:cNvSpPr/>
          <p:nvPr/>
        </p:nvSpPr>
        <p:spPr>
          <a:xfrm>
            <a:off x="713232" y="2907792"/>
            <a:ext cx="146304" cy="146304"/>
          </a:xfrm>
          <a:prstGeom prst="ellipse">
            <a:avLst/>
          </a:prstGeom>
          <a:solidFill>
            <a:srgbClr val="DBA111"/>
          </a:solidFill>
          <a:ln/>
        </p:spPr>
      </p:sp>
      <p:sp>
        <p:nvSpPr>
          <p:cNvPr id="10" name="Text 8"/>
          <p:cNvSpPr/>
          <p:nvPr/>
        </p:nvSpPr>
        <p:spPr>
          <a:xfrm>
            <a:off x="950976" y="2798064"/>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Data-quality dashboard on the new source</a:t>
            </a:r>
            <a:endParaRPr lang="en-US" sz="1300" dirty="0"/>
          </a:p>
        </p:txBody>
      </p:sp>
      <p:sp>
        <p:nvSpPr>
          <p:cNvPr id="11" name="Shape 9"/>
          <p:cNvSpPr/>
          <p:nvPr/>
        </p:nvSpPr>
        <p:spPr>
          <a:xfrm>
            <a:off x="713232" y="3840480"/>
            <a:ext cx="146304" cy="146304"/>
          </a:xfrm>
          <a:prstGeom prst="ellipse">
            <a:avLst/>
          </a:prstGeom>
          <a:solidFill>
            <a:srgbClr val="DBA111"/>
          </a:solidFill>
          <a:ln/>
        </p:spPr>
      </p:sp>
      <p:sp>
        <p:nvSpPr>
          <p:cNvPr id="12" name="Text 10"/>
          <p:cNvSpPr/>
          <p:nvPr/>
        </p:nvSpPr>
        <p:spPr>
          <a:xfrm>
            <a:off x="950976" y="3730752"/>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AuditIQ Q4 reporting cycle live</a:t>
            </a:r>
            <a:endParaRPr lang="en-US" sz="1300" dirty="0"/>
          </a:p>
        </p:txBody>
      </p:sp>
      <p:sp>
        <p:nvSpPr>
          <p:cNvPr id="13" name="Shape 11"/>
          <p:cNvSpPr/>
          <p:nvPr/>
        </p:nvSpPr>
        <p:spPr>
          <a:xfrm>
            <a:off x="713232" y="4773168"/>
            <a:ext cx="146304" cy="146304"/>
          </a:xfrm>
          <a:prstGeom prst="ellipse">
            <a:avLst/>
          </a:prstGeom>
          <a:solidFill>
            <a:srgbClr val="DBA111"/>
          </a:solidFill>
          <a:ln/>
        </p:spPr>
      </p:sp>
      <p:sp>
        <p:nvSpPr>
          <p:cNvPr id="14" name="Text 12"/>
          <p:cNvSpPr/>
          <p:nvPr/>
        </p:nvSpPr>
        <p:spPr>
          <a:xfrm>
            <a:off x="950976" y="4663440"/>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AI acceptable-use + inventory stand-up</a:t>
            </a:r>
            <a:endParaRPr lang="en-US" sz="1300" dirty="0"/>
          </a:p>
        </p:txBody>
      </p:sp>
      <p:sp>
        <p:nvSpPr>
          <p:cNvPr id="15" name="Shape 13"/>
          <p:cNvSpPr/>
          <p:nvPr/>
        </p:nvSpPr>
        <p:spPr>
          <a:xfrm>
            <a:off x="3401568" y="1152144"/>
            <a:ext cx="2724912" cy="4846320"/>
          </a:xfrm>
          <a:prstGeom prst="rect">
            <a:avLst/>
          </a:prstGeom>
          <a:solidFill>
            <a:srgbClr val="FFFFFF"/>
          </a:solidFill>
          <a:ln w="12700">
            <a:solidFill>
              <a:srgbClr val="E5E7EB"/>
            </a:solidFill>
            <a:prstDash val="solid"/>
          </a:ln>
        </p:spPr>
      </p:sp>
      <p:sp>
        <p:nvSpPr>
          <p:cNvPr id="16" name="Shape 14"/>
          <p:cNvSpPr/>
          <p:nvPr/>
        </p:nvSpPr>
        <p:spPr>
          <a:xfrm>
            <a:off x="3401568" y="1152144"/>
            <a:ext cx="2724912" cy="566928"/>
          </a:xfrm>
          <a:prstGeom prst="rect">
            <a:avLst/>
          </a:prstGeom>
          <a:solidFill>
            <a:srgbClr val="034694"/>
          </a:solidFill>
          <a:ln/>
        </p:spPr>
      </p:sp>
      <p:sp>
        <p:nvSpPr>
          <p:cNvPr id="17" name="Text 15"/>
          <p:cNvSpPr/>
          <p:nvPr/>
        </p:nvSpPr>
        <p:spPr>
          <a:xfrm>
            <a:off x="3401568" y="1243584"/>
            <a:ext cx="2724912"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Q1 2027</a:t>
            </a:r>
            <a:endParaRPr lang="en-US" sz="1600" dirty="0"/>
          </a:p>
        </p:txBody>
      </p:sp>
      <p:sp>
        <p:nvSpPr>
          <p:cNvPr id="18" name="Shape 16"/>
          <p:cNvSpPr/>
          <p:nvPr/>
        </p:nvSpPr>
        <p:spPr>
          <a:xfrm>
            <a:off x="3566160" y="1975104"/>
            <a:ext cx="146304" cy="146304"/>
          </a:xfrm>
          <a:prstGeom prst="ellipse">
            <a:avLst/>
          </a:prstGeom>
          <a:solidFill>
            <a:srgbClr val="DBA111"/>
          </a:solidFill>
          <a:ln/>
        </p:spPr>
      </p:sp>
      <p:sp>
        <p:nvSpPr>
          <p:cNvPr id="19" name="Text 17"/>
          <p:cNvSpPr/>
          <p:nvPr/>
        </p:nvSpPr>
        <p:spPr>
          <a:xfrm>
            <a:off x="3803904" y="1865376"/>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RAG over methodology and issue library</a:t>
            </a:r>
            <a:endParaRPr lang="en-US" sz="1300" dirty="0"/>
          </a:p>
        </p:txBody>
      </p:sp>
      <p:sp>
        <p:nvSpPr>
          <p:cNvPr id="20" name="Shape 18"/>
          <p:cNvSpPr/>
          <p:nvPr/>
        </p:nvSpPr>
        <p:spPr>
          <a:xfrm>
            <a:off x="3566160" y="2907792"/>
            <a:ext cx="146304" cy="146304"/>
          </a:xfrm>
          <a:prstGeom prst="ellipse">
            <a:avLst/>
          </a:prstGeom>
          <a:solidFill>
            <a:srgbClr val="DBA111"/>
          </a:solidFill>
          <a:ln/>
        </p:spPr>
      </p:sp>
      <p:sp>
        <p:nvSpPr>
          <p:cNvPr id="21" name="Text 19"/>
          <p:cNvSpPr/>
          <p:nvPr/>
        </p:nvSpPr>
        <p:spPr>
          <a:xfrm>
            <a:off x="3803904" y="2798064"/>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First full-population test in production</a:t>
            </a:r>
            <a:endParaRPr lang="en-US" sz="1300" dirty="0"/>
          </a:p>
        </p:txBody>
      </p:sp>
      <p:sp>
        <p:nvSpPr>
          <p:cNvPr id="22" name="Shape 20"/>
          <p:cNvSpPr/>
          <p:nvPr/>
        </p:nvSpPr>
        <p:spPr>
          <a:xfrm>
            <a:off x="3566160" y="3840480"/>
            <a:ext cx="146304" cy="146304"/>
          </a:xfrm>
          <a:prstGeom prst="ellipse">
            <a:avLst/>
          </a:prstGeom>
          <a:solidFill>
            <a:srgbClr val="DBA111"/>
          </a:solidFill>
          <a:ln/>
        </p:spPr>
      </p:sp>
      <p:sp>
        <p:nvSpPr>
          <p:cNvPr id="23" name="Text 21"/>
          <p:cNvSpPr/>
          <p:nvPr/>
        </p:nvSpPr>
        <p:spPr>
          <a:xfrm>
            <a:off x="3803904" y="3730752"/>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Enterprise AI landscape advisory memo</a:t>
            </a:r>
            <a:endParaRPr lang="en-US" sz="1300" dirty="0"/>
          </a:p>
        </p:txBody>
      </p:sp>
      <p:sp>
        <p:nvSpPr>
          <p:cNvPr id="24" name="Shape 22"/>
          <p:cNvSpPr/>
          <p:nvPr/>
        </p:nvSpPr>
        <p:spPr>
          <a:xfrm>
            <a:off x="3566160" y="4773168"/>
            <a:ext cx="146304" cy="146304"/>
          </a:xfrm>
          <a:prstGeom prst="ellipse">
            <a:avLst/>
          </a:prstGeom>
          <a:solidFill>
            <a:srgbClr val="DBA111"/>
          </a:solidFill>
          <a:ln/>
        </p:spPr>
      </p:sp>
      <p:sp>
        <p:nvSpPr>
          <p:cNvPr id="25" name="Text 23"/>
          <p:cNvSpPr/>
          <p:nvPr/>
        </p:nvSpPr>
        <p:spPr>
          <a:xfrm>
            <a:off x="3803904" y="4663440"/>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Skills baseline and role design</a:t>
            </a:r>
            <a:endParaRPr lang="en-US" sz="1300" dirty="0"/>
          </a:p>
        </p:txBody>
      </p:sp>
      <p:sp>
        <p:nvSpPr>
          <p:cNvPr id="26" name="Shape 24"/>
          <p:cNvSpPr/>
          <p:nvPr/>
        </p:nvSpPr>
        <p:spPr>
          <a:xfrm>
            <a:off x="6254496" y="1152144"/>
            <a:ext cx="2724912" cy="4846320"/>
          </a:xfrm>
          <a:prstGeom prst="rect">
            <a:avLst/>
          </a:prstGeom>
          <a:solidFill>
            <a:srgbClr val="FFFFFF"/>
          </a:solidFill>
          <a:ln w="12700">
            <a:solidFill>
              <a:srgbClr val="E5E7EB"/>
            </a:solidFill>
            <a:prstDash val="solid"/>
          </a:ln>
        </p:spPr>
      </p:sp>
      <p:sp>
        <p:nvSpPr>
          <p:cNvPr id="27" name="Shape 25"/>
          <p:cNvSpPr/>
          <p:nvPr/>
        </p:nvSpPr>
        <p:spPr>
          <a:xfrm>
            <a:off x="6254496" y="1152144"/>
            <a:ext cx="2724912" cy="566928"/>
          </a:xfrm>
          <a:prstGeom prst="rect">
            <a:avLst/>
          </a:prstGeom>
          <a:solidFill>
            <a:srgbClr val="034694"/>
          </a:solidFill>
          <a:ln/>
        </p:spPr>
      </p:sp>
      <p:sp>
        <p:nvSpPr>
          <p:cNvPr id="28" name="Text 26"/>
          <p:cNvSpPr/>
          <p:nvPr/>
        </p:nvSpPr>
        <p:spPr>
          <a:xfrm>
            <a:off x="6254496" y="1243584"/>
            <a:ext cx="2724912"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Q2 2027</a:t>
            </a:r>
            <a:endParaRPr lang="en-US" sz="1600" dirty="0"/>
          </a:p>
        </p:txBody>
      </p:sp>
      <p:sp>
        <p:nvSpPr>
          <p:cNvPr id="29" name="Shape 27"/>
          <p:cNvSpPr/>
          <p:nvPr/>
        </p:nvSpPr>
        <p:spPr>
          <a:xfrm>
            <a:off x="6419088" y="1975104"/>
            <a:ext cx="146304" cy="146304"/>
          </a:xfrm>
          <a:prstGeom prst="ellipse">
            <a:avLst/>
          </a:prstGeom>
          <a:solidFill>
            <a:srgbClr val="DBA111"/>
          </a:solidFill>
          <a:ln/>
        </p:spPr>
      </p:sp>
      <p:sp>
        <p:nvSpPr>
          <p:cNvPr id="30" name="Text 28"/>
          <p:cNvSpPr/>
          <p:nvPr/>
        </p:nvSpPr>
        <p:spPr>
          <a:xfrm>
            <a:off x="6656832" y="1865376"/>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Issue clustering + root-cause assist</a:t>
            </a:r>
            <a:endParaRPr lang="en-US" sz="1300" dirty="0"/>
          </a:p>
        </p:txBody>
      </p:sp>
      <p:sp>
        <p:nvSpPr>
          <p:cNvPr id="31" name="Shape 29"/>
          <p:cNvSpPr/>
          <p:nvPr/>
        </p:nvSpPr>
        <p:spPr>
          <a:xfrm>
            <a:off x="6419088" y="2907792"/>
            <a:ext cx="146304" cy="146304"/>
          </a:xfrm>
          <a:prstGeom prst="ellipse">
            <a:avLst/>
          </a:prstGeom>
          <a:solidFill>
            <a:srgbClr val="DBA111"/>
          </a:solidFill>
          <a:ln/>
        </p:spPr>
      </p:sp>
      <p:sp>
        <p:nvSpPr>
          <p:cNvPr id="32" name="Text 30"/>
          <p:cNvSpPr/>
          <p:nvPr/>
        </p:nvSpPr>
        <p:spPr>
          <a:xfrm>
            <a:off x="6656832" y="2798064"/>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CAE insight pack v2 from live data</a:t>
            </a:r>
            <a:endParaRPr lang="en-US" sz="1300" dirty="0"/>
          </a:p>
        </p:txBody>
      </p:sp>
      <p:sp>
        <p:nvSpPr>
          <p:cNvPr id="33" name="Shape 31"/>
          <p:cNvSpPr/>
          <p:nvPr/>
        </p:nvSpPr>
        <p:spPr>
          <a:xfrm>
            <a:off x="6419088" y="3840480"/>
            <a:ext cx="146304" cy="146304"/>
          </a:xfrm>
          <a:prstGeom prst="ellipse">
            <a:avLst/>
          </a:prstGeom>
          <a:solidFill>
            <a:srgbClr val="DBA111"/>
          </a:solidFill>
          <a:ln/>
        </p:spPr>
      </p:sp>
      <p:sp>
        <p:nvSpPr>
          <p:cNvPr id="34" name="Text 32"/>
          <p:cNvSpPr/>
          <p:nvPr/>
        </p:nvSpPr>
        <p:spPr>
          <a:xfrm>
            <a:off x="6656832" y="3730752"/>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Model-risk walkthrough of IA tools</a:t>
            </a:r>
            <a:endParaRPr lang="en-US" sz="1300" dirty="0"/>
          </a:p>
        </p:txBody>
      </p:sp>
      <p:sp>
        <p:nvSpPr>
          <p:cNvPr id="35" name="Shape 33"/>
          <p:cNvSpPr/>
          <p:nvPr/>
        </p:nvSpPr>
        <p:spPr>
          <a:xfrm>
            <a:off x="6419088" y="4773168"/>
            <a:ext cx="146304" cy="146304"/>
          </a:xfrm>
          <a:prstGeom prst="ellipse">
            <a:avLst/>
          </a:prstGeom>
          <a:solidFill>
            <a:srgbClr val="DBA111"/>
          </a:solidFill>
          <a:ln/>
        </p:spPr>
      </p:sp>
      <p:sp>
        <p:nvSpPr>
          <p:cNvPr id="36" name="Text 34"/>
          <p:cNvSpPr/>
          <p:nvPr/>
        </p:nvSpPr>
        <p:spPr>
          <a:xfrm>
            <a:off x="6656832" y="4663440"/>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Kill / scale decision on each pilot</a:t>
            </a:r>
            <a:endParaRPr lang="en-US" sz="1300" dirty="0"/>
          </a:p>
        </p:txBody>
      </p:sp>
      <p:sp>
        <p:nvSpPr>
          <p:cNvPr id="37" name="Shape 35"/>
          <p:cNvSpPr/>
          <p:nvPr/>
        </p:nvSpPr>
        <p:spPr>
          <a:xfrm>
            <a:off x="9107424" y="1152144"/>
            <a:ext cx="2724912" cy="4846320"/>
          </a:xfrm>
          <a:prstGeom prst="rect">
            <a:avLst/>
          </a:prstGeom>
          <a:solidFill>
            <a:srgbClr val="FFFFFF"/>
          </a:solidFill>
          <a:ln w="12700">
            <a:solidFill>
              <a:srgbClr val="E5E7EB"/>
            </a:solidFill>
            <a:prstDash val="solid"/>
          </a:ln>
        </p:spPr>
      </p:sp>
      <p:sp>
        <p:nvSpPr>
          <p:cNvPr id="38" name="Shape 36"/>
          <p:cNvSpPr/>
          <p:nvPr/>
        </p:nvSpPr>
        <p:spPr>
          <a:xfrm>
            <a:off x="9107424" y="1152144"/>
            <a:ext cx="2724912" cy="566928"/>
          </a:xfrm>
          <a:prstGeom prst="rect">
            <a:avLst/>
          </a:prstGeom>
          <a:solidFill>
            <a:srgbClr val="034694"/>
          </a:solidFill>
          <a:ln/>
        </p:spPr>
      </p:sp>
      <p:sp>
        <p:nvSpPr>
          <p:cNvPr id="39" name="Text 37"/>
          <p:cNvSpPr/>
          <p:nvPr/>
        </p:nvSpPr>
        <p:spPr>
          <a:xfrm>
            <a:off x="9107424" y="1243584"/>
            <a:ext cx="2724912"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entury Gothic" pitchFamily="34" charset="0"/>
                <a:ea typeface="Century Gothic" pitchFamily="34" charset="-122"/>
                <a:cs typeface="Century Gothic" pitchFamily="34" charset="-120"/>
              </a:rPr>
              <a:t>Q3 2027</a:t>
            </a:r>
            <a:endParaRPr lang="en-US" sz="1600" dirty="0"/>
          </a:p>
        </p:txBody>
      </p:sp>
      <p:sp>
        <p:nvSpPr>
          <p:cNvPr id="40" name="Shape 38"/>
          <p:cNvSpPr/>
          <p:nvPr/>
        </p:nvSpPr>
        <p:spPr>
          <a:xfrm>
            <a:off x="9272016" y="1975104"/>
            <a:ext cx="146304" cy="146304"/>
          </a:xfrm>
          <a:prstGeom prst="ellipse">
            <a:avLst/>
          </a:prstGeom>
          <a:solidFill>
            <a:srgbClr val="DBA111"/>
          </a:solidFill>
          <a:ln/>
        </p:spPr>
      </p:sp>
      <p:sp>
        <p:nvSpPr>
          <p:cNvPr id="41" name="Text 39"/>
          <p:cNvSpPr/>
          <p:nvPr/>
        </p:nvSpPr>
        <p:spPr>
          <a:xfrm>
            <a:off x="9509760" y="1865376"/>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3 use cases in BAU with owners</a:t>
            </a:r>
            <a:endParaRPr lang="en-US" sz="1300" dirty="0"/>
          </a:p>
        </p:txBody>
      </p:sp>
      <p:sp>
        <p:nvSpPr>
          <p:cNvPr id="42" name="Shape 40"/>
          <p:cNvSpPr/>
          <p:nvPr/>
        </p:nvSpPr>
        <p:spPr>
          <a:xfrm>
            <a:off x="9272016" y="2907792"/>
            <a:ext cx="146304" cy="146304"/>
          </a:xfrm>
          <a:prstGeom prst="ellipse">
            <a:avLst/>
          </a:prstGeom>
          <a:solidFill>
            <a:srgbClr val="DBA111"/>
          </a:solidFill>
          <a:ln/>
        </p:spPr>
      </p:sp>
      <p:sp>
        <p:nvSpPr>
          <p:cNvPr id="43" name="Text 41"/>
          <p:cNvSpPr/>
          <p:nvPr/>
        </p:nvSpPr>
        <p:spPr>
          <a:xfrm>
            <a:off x="9509760" y="2798064"/>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2028 plan includes AI-assurance audits</a:t>
            </a:r>
            <a:endParaRPr lang="en-US" sz="1300" dirty="0"/>
          </a:p>
        </p:txBody>
      </p:sp>
      <p:sp>
        <p:nvSpPr>
          <p:cNvPr id="44" name="Shape 42"/>
          <p:cNvSpPr/>
          <p:nvPr/>
        </p:nvSpPr>
        <p:spPr>
          <a:xfrm>
            <a:off x="9272016" y="3840480"/>
            <a:ext cx="146304" cy="146304"/>
          </a:xfrm>
          <a:prstGeom prst="ellipse">
            <a:avLst/>
          </a:prstGeom>
          <a:solidFill>
            <a:srgbClr val="DBA111"/>
          </a:solidFill>
          <a:ln/>
        </p:spPr>
      </p:sp>
      <p:sp>
        <p:nvSpPr>
          <p:cNvPr id="45" name="Text 43"/>
          <p:cNvSpPr/>
          <p:nvPr/>
        </p:nvSpPr>
        <p:spPr>
          <a:xfrm>
            <a:off x="9509760" y="3730752"/>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Data contracts signed with key domains</a:t>
            </a:r>
            <a:endParaRPr lang="en-US" sz="1300" dirty="0"/>
          </a:p>
        </p:txBody>
      </p:sp>
      <p:sp>
        <p:nvSpPr>
          <p:cNvPr id="46" name="Shape 44"/>
          <p:cNvSpPr/>
          <p:nvPr/>
        </p:nvSpPr>
        <p:spPr>
          <a:xfrm>
            <a:off x="9272016" y="4773168"/>
            <a:ext cx="146304" cy="146304"/>
          </a:xfrm>
          <a:prstGeom prst="ellipse">
            <a:avLst/>
          </a:prstGeom>
          <a:solidFill>
            <a:srgbClr val="DBA111"/>
          </a:solidFill>
          <a:ln/>
        </p:spPr>
      </p:sp>
      <p:sp>
        <p:nvSpPr>
          <p:cNvPr id="47" name="Text 45"/>
          <p:cNvSpPr/>
          <p:nvPr/>
        </p:nvSpPr>
        <p:spPr>
          <a:xfrm>
            <a:off x="9509760" y="4663440"/>
            <a:ext cx="2176272" cy="82296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SteerCo reviews H2 investment case</a:t>
            </a:r>
            <a:endParaRPr lang="en-US" sz="1300" dirty="0"/>
          </a:p>
        </p:txBody>
      </p:sp>
      <p:sp>
        <p:nvSpPr>
          <p:cNvPr id="48" name="Shape 46"/>
          <p:cNvSpPr/>
          <p:nvPr/>
        </p:nvSpPr>
        <p:spPr>
          <a:xfrm>
            <a:off x="548640" y="6510528"/>
            <a:ext cx="320040" cy="36576"/>
          </a:xfrm>
          <a:prstGeom prst="rect">
            <a:avLst/>
          </a:prstGeom>
          <a:solidFill>
            <a:srgbClr val="DBA111"/>
          </a:solidFill>
          <a:ln/>
        </p:spPr>
      </p:sp>
      <p:sp>
        <p:nvSpPr>
          <p:cNvPr id="49" name="Text 47"/>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50" name="Text 48"/>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Horizon 1</a:t>
            </a:r>
            <a:endParaRPr lang="en-US" sz="1000" dirty="0"/>
          </a:p>
        </p:txBody>
      </p:sp>
      <p:sp>
        <p:nvSpPr>
          <p:cNvPr id="51" name="Text 49"/>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PRIORITY USE CASES</a:t>
            </a:r>
            <a:endParaRPr lang="en-US" sz="1100" dirty="0"/>
          </a:p>
        </p:txBody>
      </p:sp>
      <p:sp>
        <p:nvSpPr>
          <p:cNvPr id="3" name="Text 1"/>
          <p:cNvSpPr/>
          <p:nvPr/>
        </p:nvSpPr>
        <p:spPr>
          <a:xfrm>
            <a:off x="548640" y="640080"/>
            <a:ext cx="11064240"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Fund these. Defer everything else until they prove out.</a:t>
            </a:r>
            <a:endParaRPr lang="en-US" sz="2200" dirty="0"/>
          </a:p>
        </p:txBody>
      </p:sp>
      <p:sp>
        <p:nvSpPr>
          <p:cNvPr id="4" name="Shape 2"/>
          <p:cNvSpPr/>
          <p:nvPr/>
        </p:nvSpPr>
        <p:spPr>
          <a:xfrm>
            <a:off x="548640" y="1133856"/>
            <a:ext cx="11064240" cy="384048"/>
          </a:xfrm>
          <a:prstGeom prst="rect">
            <a:avLst/>
          </a:prstGeom>
          <a:solidFill>
            <a:srgbClr val="021F47"/>
          </a:solidFill>
          <a:ln/>
        </p:spPr>
      </p:sp>
      <p:sp>
        <p:nvSpPr>
          <p:cNvPr id="5" name="Text 3"/>
          <p:cNvSpPr/>
          <p:nvPr/>
        </p:nvSpPr>
        <p:spPr>
          <a:xfrm>
            <a:off x="640080" y="1170432"/>
            <a:ext cx="1051560" cy="310896"/>
          </a:xfrm>
          <a:prstGeom prst="rect">
            <a:avLst/>
          </a:prstGeom>
          <a:noFill/>
          <a:ln/>
        </p:spPr>
        <p:txBody>
          <a:bodyPr wrap="square" lIns="0" tIns="0" rIns="0" bIns="0" rtlCol="0" anchor="ctr"/>
          <a:lstStyle/>
          <a:p>
            <a:pPr indent="0" marL="0">
              <a:buNone/>
            </a:pPr>
            <a:r>
              <a:rPr lang="en-US" sz="1100" b="1" spc="60" kern="0" dirty="0">
                <a:solidFill>
                  <a:srgbClr val="DBA111"/>
                </a:solidFill>
                <a:latin typeface="Calibri" pitchFamily="34" charset="0"/>
                <a:ea typeface="Calibri" pitchFamily="34" charset="-122"/>
                <a:cs typeface="Calibri" pitchFamily="34" charset="-120"/>
              </a:rPr>
              <a:t>HORIZON</a:t>
            </a:r>
            <a:endParaRPr lang="en-US" sz="1100" dirty="0"/>
          </a:p>
        </p:txBody>
      </p:sp>
      <p:sp>
        <p:nvSpPr>
          <p:cNvPr id="6" name="Text 4"/>
          <p:cNvSpPr/>
          <p:nvPr/>
        </p:nvSpPr>
        <p:spPr>
          <a:xfrm>
            <a:off x="1737360" y="1170432"/>
            <a:ext cx="2286000" cy="310896"/>
          </a:xfrm>
          <a:prstGeom prst="rect">
            <a:avLst/>
          </a:prstGeom>
          <a:noFill/>
          <a:ln/>
        </p:spPr>
        <p:txBody>
          <a:bodyPr wrap="square" lIns="0" tIns="0" rIns="0" bIns="0" rtlCol="0" anchor="ctr"/>
          <a:lstStyle/>
          <a:p>
            <a:pPr indent="0" marL="0">
              <a:buNone/>
            </a:pPr>
            <a:r>
              <a:rPr lang="en-US" sz="1100" b="1" spc="60" kern="0" dirty="0">
                <a:solidFill>
                  <a:srgbClr val="DBA111"/>
                </a:solidFill>
                <a:latin typeface="Calibri" pitchFamily="34" charset="0"/>
                <a:ea typeface="Calibri" pitchFamily="34" charset="-122"/>
                <a:cs typeface="Calibri" pitchFamily="34" charset="-120"/>
              </a:rPr>
              <a:t>USE CASE</a:t>
            </a:r>
            <a:endParaRPr lang="en-US" sz="1100" dirty="0"/>
          </a:p>
        </p:txBody>
      </p:sp>
      <p:sp>
        <p:nvSpPr>
          <p:cNvPr id="7" name="Text 5"/>
          <p:cNvSpPr/>
          <p:nvPr/>
        </p:nvSpPr>
        <p:spPr>
          <a:xfrm>
            <a:off x="4069080" y="1170432"/>
            <a:ext cx="4023360" cy="310896"/>
          </a:xfrm>
          <a:prstGeom prst="rect">
            <a:avLst/>
          </a:prstGeom>
          <a:noFill/>
          <a:ln/>
        </p:spPr>
        <p:txBody>
          <a:bodyPr wrap="square" lIns="0" tIns="0" rIns="0" bIns="0" rtlCol="0" anchor="ctr"/>
          <a:lstStyle/>
          <a:p>
            <a:pPr indent="0" marL="0">
              <a:buNone/>
            </a:pPr>
            <a:r>
              <a:rPr lang="en-US" sz="1100" b="1" spc="60" kern="0" dirty="0">
                <a:solidFill>
                  <a:srgbClr val="DBA111"/>
                </a:solidFill>
                <a:latin typeface="Calibri" pitchFamily="34" charset="0"/>
                <a:ea typeface="Calibri" pitchFamily="34" charset="-122"/>
                <a:cs typeface="Calibri" pitchFamily="34" charset="-120"/>
              </a:rPr>
              <a:t>WHAT IT DOES</a:t>
            </a:r>
            <a:endParaRPr lang="en-US" sz="1100" dirty="0"/>
          </a:p>
        </p:txBody>
      </p:sp>
      <p:sp>
        <p:nvSpPr>
          <p:cNvPr id="8" name="Text 6"/>
          <p:cNvSpPr/>
          <p:nvPr/>
        </p:nvSpPr>
        <p:spPr>
          <a:xfrm>
            <a:off x="8138160" y="1170432"/>
            <a:ext cx="2286000" cy="310896"/>
          </a:xfrm>
          <a:prstGeom prst="rect">
            <a:avLst/>
          </a:prstGeom>
          <a:noFill/>
          <a:ln/>
        </p:spPr>
        <p:txBody>
          <a:bodyPr wrap="square" lIns="0" tIns="0" rIns="0" bIns="0" rtlCol="0" anchor="ctr"/>
          <a:lstStyle/>
          <a:p>
            <a:pPr indent="0" marL="0">
              <a:buNone/>
            </a:pPr>
            <a:r>
              <a:rPr lang="en-US" sz="1100" b="1" spc="60" kern="0" dirty="0">
                <a:solidFill>
                  <a:srgbClr val="DBA111"/>
                </a:solidFill>
                <a:latin typeface="Calibri" pitchFamily="34" charset="0"/>
                <a:ea typeface="Calibri" pitchFamily="34" charset="-122"/>
                <a:cs typeface="Calibri" pitchFamily="34" charset="-120"/>
              </a:rPr>
              <a:t>SUCCESS METRIC</a:t>
            </a:r>
            <a:endParaRPr lang="en-US" sz="1100" dirty="0"/>
          </a:p>
        </p:txBody>
      </p:sp>
      <p:sp>
        <p:nvSpPr>
          <p:cNvPr id="9" name="Text 7"/>
          <p:cNvSpPr/>
          <p:nvPr/>
        </p:nvSpPr>
        <p:spPr>
          <a:xfrm>
            <a:off x="10515600" y="1170432"/>
            <a:ext cx="960120" cy="310896"/>
          </a:xfrm>
          <a:prstGeom prst="rect">
            <a:avLst/>
          </a:prstGeom>
          <a:noFill/>
          <a:ln/>
        </p:spPr>
        <p:txBody>
          <a:bodyPr wrap="square" lIns="0" tIns="0" rIns="0" bIns="0" rtlCol="0" anchor="ctr"/>
          <a:lstStyle/>
          <a:p>
            <a:pPr indent="0" marL="0">
              <a:buNone/>
            </a:pPr>
            <a:r>
              <a:rPr lang="en-US" sz="1100" b="1" spc="60" kern="0" dirty="0">
                <a:solidFill>
                  <a:srgbClr val="DBA111"/>
                </a:solidFill>
                <a:latin typeface="Calibri" pitchFamily="34" charset="0"/>
                <a:ea typeface="Calibri" pitchFamily="34" charset="-122"/>
                <a:cs typeface="Calibri" pitchFamily="34" charset="-120"/>
              </a:rPr>
              <a:t>VALUE</a:t>
            </a:r>
            <a:endParaRPr lang="en-US" sz="1100" dirty="0"/>
          </a:p>
        </p:txBody>
      </p:sp>
      <p:sp>
        <p:nvSpPr>
          <p:cNvPr id="10" name="Shape 8"/>
          <p:cNvSpPr/>
          <p:nvPr/>
        </p:nvSpPr>
        <p:spPr>
          <a:xfrm>
            <a:off x="548640" y="1517904"/>
            <a:ext cx="11064240" cy="530352"/>
          </a:xfrm>
          <a:prstGeom prst="rect">
            <a:avLst/>
          </a:prstGeom>
          <a:solidFill>
            <a:srgbClr val="F5F3EC"/>
          </a:solidFill>
          <a:ln/>
        </p:spPr>
      </p:sp>
      <p:sp>
        <p:nvSpPr>
          <p:cNvPr id="11" name="Text 9"/>
          <p:cNvSpPr/>
          <p:nvPr/>
        </p:nvSpPr>
        <p:spPr>
          <a:xfrm>
            <a:off x="640080" y="1517904"/>
            <a:ext cx="105156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H1</a:t>
            </a:r>
            <a:endParaRPr lang="en-US" sz="1200" dirty="0"/>
          </a:p>
        </p:txBody>
      </p:sp>
      <p:sp>
        <p:nvSpPr>
          <p:cNvPr id="12" name="Text 10"/>
          <p:cNvSpPr/>
          <p:nvPr/>
        </p:nvSpPr>
        <p:spPr>
          <a:xfrm>
            <a:off x="1737360" y="1517904"/>
            <a:ext cx="2286000" cy="530352"/>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Methodology RAG</a:t>
            </a:r>
            <a:endParaRPr lang="en-US" sz="1300" dirty="0"/>
          </a:p>
        </p:txBody>
      </p:sp>
      <p:sp>
        <p:nvSpPr>
          <p:cNvPr id="13" name="Text 11"/>
          <p:cNvSpPr/>
          <p:nvPr/>
        </p:nvSpPr>
        <p:spPr>
          <a:xfrm>
            <a:off x="4069080" y="1517904"/>
            <a:ext cx="3977640" cy="53035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Search policies, prior issues, regs in seconds</a:t>
            </a:r>
            <a:endParaRPr lang="en-US" sz="1300" dirty="0"/>
          </a:p>
        </p:txBody>
      </p:sp>
      <p:sp>
        <p:nvSpPr>
          <p:cNvPr id="14" name="Text 12"/>
          <p:cNvSpPr/>
          <p:nvPr/>
        </p:nvSpPr>
        <p:spPr>
          <a:xfrm>
            <a:off x="8138160" y="1517904"/>
            <a:ext cx="2286000" cy="53035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Hours per planning file</a:t>
            </a:r>
            <a:endParaRPr lang="en-US" sz="1200" dirty="0"/>
          </a:p>
        </p:txBody>
      </p:sp>
      <p:sp>
        <p:nvSpPr>
          <p:cNvPr id="15" name="Text 13"/>
          <p:cNvSpPr/>
          <p:nvPr/>
        </p:nvSpPr>
        <p:spPr>
          <a:xfrm>
            <a:off x="10515600" y="1517904"/>
            <a:ext cx="96012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High</a:t>
            </a:r>
            <a:endParaRPr lang="en-US" sz="1200" dirty="0"/>
          </a:p>
        </p:txBody>
      </p:sp>
      <p:sp>
        <p:nvSpPr>
          <p:cNvPr id="16" name="Shape 14"/>
          <p:cNvSpPr/>
          <p:nvPr/>
        </p:nvSpPr>
        <p:spPr>
          <a:xfrm>
            <a:off x="548640" y="2048256"/>
            <a:ext cx="11064240" cy="530352"/>
          </a:xfrm>
          <a:prstGeom prst="rect">
            <a:avLst/>
          </a:prstGeom>
          <a:solidFill>
            <a:srgbClr val="FFFFFF"/>
          </a:solidFill>
          <a:ln/>
        </p:spPr>
      </p:sp>
      <p:sp>
        <p:nvSpPr>
          <p:cNvPr id="17" name="Text 15"/>
          <p:cNvSpPr/>
          <p:nvPr/>
        </p:nvSpPr>
        <p:spPr>
          <a:xfrm>
            <a:off x="640080" y="2048256"/>
            <a:ext cx="105156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H1</a:t>
            </a:r>
            <a:endParaRPr lang="en-US" sz="1200" dirty="0"/>
          </a:p>
        </p:txBody>
      </p:sp>
      <p:sp>
        <p:nvSpPr>
          <p:cNvPr id="18" name="Text 16"/>
          <p:cNvSpPr/>
          <p:nvPr/>
        </p:nvSpPr>
        <p:spPr>
          <a:xfrm>
            <a:off x="1737360" y="2048256"/>
            <a:ext cx="2286000" cy="530352"/>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Issue intelligence</a:t>
            </a:r>
            <a:endParaRPr lang="en-US" sz="1300" dirty="0"/>
          </a:p>
        </p:txBody>
      </p:sp>
      <p:sp>
        <p:nvSpPr>
          <p:cNvPr id="19" name="Text 17"/>
          <p:cNvSpPr/>
          <p:nvPr/>
        </p:nvSpPr>
        <p:spPr>
          <a:xfrm>
            <a:off x="4069080" y="2048256"/>
            <a:ext cx="3977640" cy="53035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Cluster, tag, and draft root-cause language</a:t>
            </a:r>
            <a:endParaRPr lang="en-US" sz="1300" dirty="0"/>
          </a:p>
        </p:txBody>
      </p:sp>
      <p:sp>
        <p:nvSpPr>
          <p:cNvPr id="20" name="Text 18"/>
          <p:cNvSpPr/>
          <p:nvPr/>
        </p:nvSpPr>
        <p:spPr>
          <a:xfrm>
            <a:off x="8138160" y="2048256"/>
            <a:ext cx="2286000" cy="53035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Time-to-quality issue text</a:t>
            </a:r>
            <a:endParaRPr lang="en-US" sz="1200" dirty="0"/>
          </a:p>
        </p:txBody>
      </p:sp>
      <p:sp>
        <p:nvSpPr>
          <p:cNvPr id="21" name="Text 19"/>
          <p:cNvSpPr/>
          <p:nvPr/>
        </p:nvSpPr>
        <p:spPr>
          <a:xfrm>
            <a:off x="10515600" y="2048256"/>
            <a:ext cx="96012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High</a:t>
            </a:r>
            <a:endParaRPr lang="en-US" sz="1200" dirty="0"/>
          </a:p>
        </p:txBody>
      </p:sp>
      <p:sp>
        <p:nvSpPr>
          <p:cNvPr id="22" name="Shape 20"/>
          <p:cNvSpPr/>
          <p:nvPr/>
        </p:nvSpPr>
        <p:spPr>
          <a:xfrm>
            <a:off x="548640" y="2578608"/>
            <a:ext cx="11064240" cy="530352"/>
          </a:xfrm>
          <a:prstGeom prst="rect">
            <a:avLst/>
          </a:prstGeom>
          <a:solidFill>
            <a:srgbClr val="F5F3EC"/>
          </a:solidFill>
          <a:ln/>
        </p:spPr>
      </p:sp>
      <p:sp>
        <p:nvSpPr>
          <p:cNvPr id="23" name="Text 21"/>
          <p:cNvSpPr/>
          <p:nvPr/>
        </p:nvSpPr>
        <p:spPr>
          <a:xfrm>
            <a:off x="640080" y="2578608"/>
            <a:ext cx="105156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H1</a:t>
            </a:r>
            <a:endParaRPr lang="en-US" sz="1200" dirty="0"/>
          </a:p>
        </p:txBody>
      </p:sp>
      <p:sp>
        <p:nvSpPr>
          <p:cNvPr id="24" name="Text 22"/>
          <p:cNvSpPr/>
          <p:nvPr/>
        </p:nvSpPr>
        <p:spPr>
          <a:xfrm>
            <a:off x="1737360" y="2578608"/>
            <a:ext cx="2286000" cy="530352"/>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Population test #1</a:t>
            </a:r>
            <a:endParaRPr lang="en-US" sz="1300" dirty="0"/>
          </a:p>
        </p:txBody>
      </p:sp>
      <p:sp>
        <p:nvSpPr>
          <p:cNvPr id="25" name="Text 23"/>
          <p:cNvSpPr/>
          <p:nvPr/>
        </p:nvSpPr>
        <p:spPr>
          <a:xfrm>
            <a:off x="4069080" y="2578608"/>
            <a:ext cx="3977640" cy="53035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One high-volume, rule-based process end-to-end</a:t>
            </a:r>
            <a:endParaRPr lang="en-US" sz="1300" dirty="0"/>
          </a:p>
        </p:txBody>
      </p:sp>
      <p:sp>
        <p:nvSpPr>
          <p:cNvPr id="26" name="Text 24"/>
          <p:cNvSpPr/>
          <p:nvPr/>
        </p:nvSpPr>
        <p:spPr>
          <a:xfrm>
            <a:off x="8138160" y="2578608"/>
            <a:ext cx="2286000" cy="53035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Coverage vs sample; exceptions found</a:t>
            </a:r>
            <a:endParaRPr lang="en-US" sz="1200" dirty="0"/>
          </a:p>
        </p:txBody>
      </p:sp>
      <p:sp>
        <p:nvSpPr>
          <p:cNvPr id="27" name="Text 25"/>
          <p:cNvSpPr/>
          <p:nvPr/>
        </p:nvSpPr>
        <p:spPr>
          <a:xfrm>
            <a:off x="10515600" y="2578608"/>
            <a:ext cx="96012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High</a:t>
            </a:r>
            <a:endParaRPr lang="en-US" sz="1200" dirty="0"/>
          </a:p>
        </p:txBody>
      </p:sp>
      <p:sp>
        <p:nvSpPr>
          <p:cNvPr id="28" name="Shape 26"/>
          <p:cNvSpPr/>
          <p:nvPr/>
        </p:nvSpPr>
        <p:spPr>
          <a:xfrm>
            <a:off x="548640" y="3108960"/>
            <a:ext cx="11064240" cy="530352"/>
          </a:xfrm>
          <a:prstGeom prst="rect">
            <a:avLst/>
          </a:prstGeom>
          <a:solidFill>
            <a:srgbClr val="FFFFFF"/>
          </a:solidFill>
          <a:ln/>
        </p:spPr>
      </p:sp>
      <p:sp>
        <p:nvSpPr>
          <p:cNvPr id="29" name="Text 27"/>
          <p:cNvSpPr/>
          <p:nvPr/>
        </p:nvSpPr>
        <p:spPr>
          <a:xfrm>
            <a:off x="640080" y="3108960"/>
            <a:ext cx="105156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H2</a:t>
            </a:r>
            <a:endParaRPr lang="en-US" sz="1200" dirty="0"/>
          </a:p>
        </p:txBody>
      </p:sp>
      <p:sp>
        <p:nvSpPr>
          <p:cNvPr id="30" name="Text 28"/>
          <p:cNvSpPr/>
          <p:nvPr/>
        </p:nvSpPr>
        <p:spPr>
          <a:xfrm>
            <a:off x="1737360" y="3108960"/>
            <a:ext cx="2286000" cy="530352"/>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Risk sensing</a:t>
            </a:r>
            <a:endParaRPr lang="en-US" sz="1300" dirty="0"/>
          </a:p>
        </p:txBody>
      </p:sp>
      <p:sp>
        <p:nvSpPr>
          <p:cNvPr id="31" name="Text 29"/>
          <p:cNvSpPr/>
          <p:nvPr/>
        </p:nvSpPr>
        <p:spPr>
          <a:xfrm>
            <a:off x="4069080" y="3108960"/>
            <a:ext cx="3977640" cy="53035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KRI + issue + external signal → plan refresh</a:t>
            </a:r>
            <a:endParaRPr lang="en-US" sz="1300" dirty="0"/>
          </a:p>
        </p:txBody>
      </p:sp>
      <p:sp>
        <p:nvSpPr>
          <p:cNvPr id="32" name="Text 30"/>
          <p:cNvSpPr/>
          <p:nvPr/>
        </p:nvSpPr>
        <p:spPr>
          <a:xfrm>
            <a:off x="8138160" y="3108960"/>
            <a:ext cx="2286000" cy="53035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In-year plan changes that stick</a:t>
            </a:r>
            <a:endParaRPr lang="en-US" sz="1200" dirty="0"/>
          </a:p>
        </p:txBody>
      </p:sp>
      <p:sp>
        <p:nvSpPr>
          <p:cNvPr id="33" name="Text 31"/>
          <p:cNvSpPr/>
          <p:nvPr/>
        </p:nvSpPr>
        <p:spPr>
          <a:xfrm>
            <a:off x="10515600" y="3108960"/>
            <a:ext cx="960120" cy="530352"/>
          </a:xfrm>
          <a:prstGeom prst="rect">
            <a:avLst/>
          </a:prstGeom>
          <a:noFill/>
          <a:ln/>
        </p:spPr>
        <p:txBody>
          <a:bodyPr wrap="square" lIns="0" tIns="0" rIns="0" bIns="0" rtlCol="0" anchor="ctr"/>
          <a:lstStyle/>
          <a:p>
            <a:pPr indent="0" marL="0">
              <a:buNone/>
            </a:pPr>
            <a:r>
              <a:rPr lang="en-US" sz="1200" b="1" dirty="0">
                <a:solidFill>
                  <a:srgbClr val="475569"/>
                </a:solidFill>
                <a:latin typeface="Calibri" pitchFamily="34" charset="0"/>
                <a:ea typeface="Calibri" pitchFamily="34" charset="-122"/>
                <a:cs typeface="Calibri" pitchFamily="34" charset="-120"/>
              </a:rPr>
              <a:t>Med</a:t>
            </a:r>
            <a:endParaRPr lang="en-US" sz="1200" dirty="0"/>
          </a:p>
        </p:txBody>
      </p:sp>
      <p:sp>
        <p:nvSpPr>
          <p:cNvPr id="34" name="Shape 32"/>
          <p:cNvSpPr/>
          <p:nvPr/>
        </p:nvSpPr>
        <p:spPr>
          <a:xfrm>
            <a:off x="548640" y="3639312"/>
            <a:ext cx="11064240" cy="530352"/>
          </a:xfrm>
          <a:prstGeom prst="rect">
            <a:avLst/>
          </a:prstGeom>
          <a:solidFill>
            <a:srgbClr val="F5F3EC"/>
          </a:solidFill>
          <a:ln/>
        </p:spPr>
      </p:sp>
      <p:sp>
        <p:nvSpPr>
          <p:cNvPr id="35" name="Text 33"/>
          <p:cNvSpPr/>
          <p:nvPr/>
        </p:nvSpPr>
        <p:spPr>
          <a:xfrm>
            <a:off x="640080" y="3639312"/>
            <a:ext cx="105156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H2</a:t>
            </a:r>
            <a:endParaRPr lang="en-US" sz="1200" dirty="0"/>
          </a:p>
        </p:txBody>
      </p:sp>
      <p:sp>
        <p:nvSpPr>
          <p:cNvPr id="36" name="Text 34"/>
          <p:cNvSpPr/>
          <p:nvPr/>
        </p:nvSpPr>
        <p:spPr>
          <a:xfrm>
            <a:off x="1737360" y="3639312"/>
            <a:ext cx="2286000" cy="530352"/>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Evidence match agent</a:t>
            </a:r>
            <a:endParaRPr lang="en-US" sz="1300" dirty="0"/>
          </a:p>
        </p:txBody>
      </p:sp>
      <p:sp>
        <p:nvSpPr>
          <p:cNvPr id="37" name="Text 35"/>
          <p:cNvSpPr/>
          <p:nvPr/>
        </p:nvSpPr>
        <p:spPr>
          <a:xfrm>
            <a:off x="4069080" y="3639312"/>
            <a:ext cx="3977640" cy="53035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Document-to-assertion matching with auditor review</a:t>
            </a:r>
            <a:endParaRPr lang="en-US" sz="1300" dirty="0"/>
          </a:p>
        </p:txBody>
      </p:sp>
      <p:sp>
        <p:nvSpPr>
          <p:cNvPr id="38" name="Text 36"/>
          <p:cNvSpPr/>
          <p:nvPr/>
        </p:nvSpPr>
        <p:spPr>
          <a:xfrm>
            <a:off x="8138160" y="3639312"/>
            <a:ext cx="2286000" cy="53035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Fieldwork hours on evidence</a:t>
            </a:r>
            <a:endParaRPr lang="en-US" sz="1200" dirty="0"/>
          </a:p>
        </p:txBody>
      </p:sp>
      <p:sp>
        <p:nvSpPr>
          <p:cNvPr id="39" name="Text 37"/>
          <p:cNvSpPr/>
          <p:nvPr/>
        </p:nvSpPr>
        <p:spPr>
          <a:xfrm>
            <a:off x="10515600" y="3639312"/>
            <a:ext cx="960120" cy="530352"/>
          </a:xfrm>
          <a:prstGeom prst="rect">
            <a:avLst/>
          </a:prstGeom>
          <a:noFill/>
          <a:ln/>
        </p:spPr>
        <p:txBody>
          <a:bodyPr wrap="square" lIns="0" tIns="0" rIns="0" bIns="0" rtlCol="0" anchor="ctr"/>
          <a:lstStyle/>
          <a:p>
            <a:pPr indent="0" marL="0">
              <a:buNone/>
            </a:pPr>
            <a:r>
              <a:rPr lang="en-US" sz="1200" b="1" dirty="0">
                <a:solidFill>
                  <a:srgbClr val="475569"/>
                </a:solidFill>
                <a:latin typeface="Calibri" pitchFamily="34" charset="0"/>
                <a:ea typeface="Calibri" pitchFamily="34" charset="-122"/>
                <a:cs typeface="Calibri" pitchFamily="34" charset="-120"/>
              </a:rPr>
              <a:t>Med</a:t>
            </a:r>
            <a:endParaRPr lang="en-US" sz="1200" dirty="0"/>
          </a:p>
        </p:txBody>
      </p:sp>
      <p:sp>
        <p:nvSpPr>
          <p:cNvPr id="40" name="Shape 38"/>
          <p:cNvSpPr/>
          <p:nvPr/>
        </p:nvSpPr>
        <p:spPr>
          <a:xfrm>
            <a:off x="548640" y="4169664"/>
            <a:ext cx="11064240" cy="530352"/>
          </a:xfrm>
          <a:prstGeom prst="rect">
            <a:avLst/>
          </a:prstGeom>
          <a:solidFill>
            <a:srgbClr val="FFFFFF"/>
          </a:solidFill>
          <a:ln/>
        </p:spPr>
      </p:sp>
      <p:sp>
        <p:nvSpPr>
          <p:cNvPr id="41" name="Text 39"/>
          <p:cNvSpPr/>
          <p:nvPr/>
        </p:nvSpPr>
        <p:spPr>
          <a:xfrm>
            <a:off x="640080" y="4169664"/>
            <a:ext cx="105156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H2</a:t>
            </a:r>
            <a:endParaRPr lang="en-US" sz="1200" dirty="0"/>
          </a:p>
        </p:txBody>
      </p:sp>
      <p:sp>
        <p:nvSpPr>
          <p:cNvPr id="42" name="Text 40"/>
          <p:cNvSpPr/>
          <p:nvPr/>
        </p:nvSpPr>
        <p:spPr>
          <a:xfrm>
            <a:off x="1737360" y="4169664"/>
            <a:ext cx="2286000" cy="530352"/>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CAE narrative draft</a:t>
            </a:r>
            <a:endParaRPr lang="en-US" sz="1300" dirty="0"/>
          </a:p>
        </p:txBody>
      </p:sp>
      <p:sp>
        <p:nvSpPr>
          <p:cNvPr id="43" name="Text 41"/>
          <p:cNvSpPr/>
          <p:nvPr/>
        </p:nvSpPr>
        <p:spPr>
          <a:xfrm>
            <a:off x="4069080" y="4169664"/>
            <a:ext cx="3977640" cy="53035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Live AuditIQ metrics → first-draft insight pages</a:t>
            </a:r>
            <a:endParaRPr lang="en-US" sz="1300" dirty="0"/>
          </a:p>
        </p:txBody>
      </p:sp>
      <p:sp>
        <p:nvSpPr>
          <p:cNvPr id="44" name="Text 42"/>
          <p:cNvSpPr/>
          <p:nvPr/>
        </p:nvSpPr>
        <p:spPr>
          <a:xfrm>
            <a:off x="8138160" y="4169664"/>
            <a:ext cx="2286000" cy="53035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Cycle time of AC pack</a:t>
            </a:r>
            <a:endParaRPr lang="en-US" sz="1200" dirty="0"/>
          </a:p>
        </p:txBody>
      </p:sp>
      <p:sp>
        <p:nvSpPr>
          <p:cNvPr id="45" name="Text 43"/>
          <p:cNvSpPr/>
          <p:nvPr/>
        </p:nvSpPr>
        <p:spPr>
          <a:xfrm>
            <a:off x="10515600" y="4169664"/>
            <a:ext cx="96012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High</a:t>
            </a:r>
            <a:endParaRPr lang="en-US" sz="1200" dirty="0"/>
          </a:p>
        </p:txBody>
      </p:sp>
      <p:sp>
        <p:nvSpPr>
          <p:cNvPr id="46" name="Shape 44"/>
          <p:cNvSpPr/>
          <p:nvPr/>
        </p:nvSpPr>
        <p:spPr>
          <a:xfrm>
            <a:off x="548640" y="4700016"/>
            <a:ext cx="11064240" cy="530352"/>
          </a:xfrm>
          <a:prstGeom prst="rect">
            <a:avLst/>
          </a:prstGeom>
          <a:solidFill>
            <a:srgbClr val="F5F3EC"/>
          </a:solidFill>
          <a:ln/>
        </p:spPr>
      </p:sp>
      <p:sp>
        <p:nvSpPr>
          <p:cNvPr id="47" name="Text 45"/>
          <p:cNvSpPr/>
          <p:nvPr/>
        </p:nvSpPr>
        <p:spPr>
          <a:xfrm>
            <a:off x="640080" y="4700016"/>
            <a:ext cx="105156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H3</a:t>
            </a:r>
            <a:endParaRPr lang="en-US" sz="1200" dirty="0"/>
          </a:p>
        </p:txBody>
      </p:sp>
      <p:sp>
        <p:nvSpPr>
          <p:cNvPr id="48" name="Text 46"/>
          <p:cNvSpPr/>
          <p:nvPr/>
        </p:nvSpPr>
        <p:spPr>
          <a:xfrm>
            <a:off x="1737360" y="4700016"/>
            <a:ext cx="2286000" cy="530352"/>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Continuous control set</a:t>
            </a:r>
            <a:endParaRPr lang="en-US" sz="1300" dirty="0"/>
          </a:p>
        </p:txBody>
      </p:sp>
      <p:sp>
        <p:nvSpPr>
          <p:cNvPr id="49" name="Text 47"/>
          <p:cNvSpPr/>
          <p:nvPr/>
        </p:nvSpPr>
        <p:spPr>
          <a:xfrm>
            <a:off x="4069080" y="4700016"/>
            <a:ext cx="3977640" cy="53035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Always-on tests on a defined control inventory</a:t>
            </a:r>
            <a:endParaRPr lang="en-US" sz="1300" dirty="0"/>
          </a:p>
        </p:txBody>
      </p:sp>
      <p:sp>
        <p:nvSpPr>
          <p:cNvPr id="50" name="Text 48"/>
          <p:cNvSpPr/>
          <p:nvPr/>
        </p:nvSpPr>
        <p:spPr>
          <a:xfrm>
            <a:off x="8138160" y="4700016"/>
            <a:ext cx="2286000" cy="53035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Elapsed time risk is open</a:t>
            </a:r>
            <a:endParaRPr lang="en-US" sz="1200" dirty="0"/>
          </a:p>
        </p:txBody>
      </p:sp>
      <p:sp>
        <p:nvSpPr>
          <p:cNvPr id="51" name="Text 49"/>
          <p:cNvSpPr/>
          <p:nvPr/>
        </p:nvSpPr>
        <p:spPr>
          <a:xfrm>
            <a:off x="10515600" y="4700016"/>
            <a:ext cx="960120" cy="530352"/>
          </a:xfrm>
          <a:prstGeom prst="rect">
            <a:avLst/>
          </a:prstGeom>
          <a:noFill/>
          <a:ln/>
        </p:spPr>
        <p:txBody>
          <a:bodyPr wrap="square" lIns="0" tIns="0" rIns="0" bIns="0" rtlCol="0" anchor="ctr"/>
          <a:lstStyle/>
          <a:p>
            <a:pPr indent="0" marL="0">
              <a:buNone/>
            </a:pPr>
            <a:r>
              <a:rPr lang="en-US" sz="1200" b="1" dirty="0">
                <a:solidFill>
                  <a:srgbClr val="475569"/>
                </a:solidFill>
                <a:latin typeface="Calibri" pitchFamily="34" charset="0"/>
                <a:ea typeface="Calibri" pitchFamily="34" charset="-122"/>
                <a:cs typeface="Calibri" pitchFamily="34" charset="-120"/>
              </a:rPr>
              <a:t>Med</a:t>
            </a:r>
            <a:endParaRPr lang="en-US" sz="1200" dirty="0"/>
          </a:p>
        </p:txBody>
      </p:sp>
      <p:sp>
        <p:nvSpPr>
          <p:cNvPr id="52" name="Shape 50"/>
          <p:cNvSpPr/>
          <p:nvPr/>
        </p:nvSpPr>
        <p:spPr>
          <a:xfrm>
            <a:off x="548640" y="5230368"/>
            <a:ext cx="11064240" cy="530352"/>
          </a:xfrm>
          <a:prstGeom prst="rect">
            <a:avLst/>
          </a:prstGeom>
          <a:solidFill>
            <a:srgbClr val="FFFFFF"/>
          </a:solidFill>
          <a:ln/>
        </p:spPr>
      </p:sp>
      <p:sp>
        <p:nvSpPr>
          <p:cNvPr id="53" name="Text 51"/>
          <p:cNvSpPr/>
          <p:nvPr/>
        </p:nvSpPr>
        <p:spPr>
          <a:xfrm>
            <a:off x="640080" y="5230368"/>
            <a:ext cx="105156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H3</a:t>
            </a:r>
            <a:endParaRPr lang="en-US" sz="1200" dirty="0"/>
          </a:p>
        </p:txBody>
      </p:sp>
      <p:sp>
        <p:nvSpPr>
          <p:cNvPr id="54" name="Text 52"/>
          <p:cNvSpPr/>
          <p:nvPr/>
        </p:nvSpPr>
        <p:spPr>
          <a:xfrm>
            <a:off x="1737360" y="5230368"/>
            <a:ext cx="2286000" cy="530352"/>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Enterprise AI assurance</a:t>
            </a:r>
            <a:endParaRPr lang="en-US" sz="1300" dirty="0"/>
          </a:p>
        </p:txBody>
      </p:sp>
      <p:sp>
        <p:nvSpPr>
          <p:cNvPr id="55" name="Text 53"/>
          <p:cNvSpPr/>
          <p:nvPr/>
        </p:nvSpPr>
        <p:spPr>
          <a:xfrm>
            <a:off x="4069080" y="5230368"/>
            <a:ext cx="3977640" cy="53035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Repeatable program over high-risk models</a:t>
            </a:r>
            <a:endParaRPr lang="en-US" sz="1300" dirty="0"/>
          </a:p>
        </p:txBody>
      </p:sp>
      <p:sp>
        <p:nvSpPr>
          <p:cNvPr id="56" name="Text 54"/>
          <p:cNvSpPr/>
          <p:nvPr/>
        </p:nvSpPr>
        <p:spPr>
          <a:xfrm>
            <a:off x="8138160" y="5230368"/>
            <a:ext cx="2286000" cy="530352"/>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AI universe coverage %</a:t>
            </a:r>
            <a:endParaRPr lang="en-US" sz="1200" dirty="0"/>
          </a:p>
        </p:txBody>
      </p:sp>
      <p:sp>
        <p:nvSpPr>
          <p:cNvPr id="57" name="Text 55"/>
          <p:cNvSpPr/>
          <p:nvPr/>
        </p:nvSpPr>
        <p:spPr>
          <a:xfrm>
            <a:off x="10515600" y="5230368"/>
            <a:ext cx="960120" cy="530352"/>
          </a:xfrm>
          <a:prstGeom prst="rect">
            <a:avLst/>
          </a:prstGeom>
          <a:noFill/>
          <a:ln/>
        </p:spPr>
        <p:txBody>
          <a:bodyPr wrap="square" lIns="0" tIns="0" rIns="0" bIns="0" rtlCol="0" anchor="ctr"/>
          <a:lstStyle/>
          <a:p>
            <a:pPr indent="0" marL="0">
              <a:buNone/>
            </a:pPr>
            <a:r>
              <a:rPr lang="en-US" sz="1200" b="1" dirty="0">
                <a:solidFill>
                  <a:srgbClr val="034694"/>
                </a:solidFill>
                <a:latin typeface="Calibri" pitchFamily="34" charset="0"/>
                <a:ea typeface="Calibri" pitchFamily="34" charset="-122"/>
                <a:cs typeface="Calibri" pitchFamily="34" charset="-120"/>
              </a:rPr>
              <a:t>High</a:t>
            </a:r>
            <a:endParaRPr lang="en-US" sz="1200" dirty="0"/>
          </a:p>
        </p:txBody>
      </p:sp>
      <p:sp>
        <p:nvSpPr>
          <p:cNvPr id="58" name="Shape 56"/>
          <p:cNvSpPr/>
          <p:nvPr/>
        </p:nvSpPr>
        <p:spPr>
          <a:xfrm>
            <a:off x="548640" y="6510528"/>
            <a:ext cx="320040" cy="36576"/>
          </a:xfrm>
          <a:prstGeom prst="rect">
            <a:avLst/>
          </a:prstGeom>
          <a:solidFill>
            <a:srgbClr val="DBA111"/>
          </a:solidFill>
          <a:ln/>
        </p:spPr>
      </p:sp>
      <p:sp>
        <p:nvSpPr>
          <p:cNvPr id="59" name="Text 57"/>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60" name="Text 58"/>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Use Cases</a:t>
            </a:r>
            <a:endParaRPr lang="en-US" sz="1000" dirty="0"/>
          </a:p>
        </p:txBody>
      </p:sp>
      <p:sp>
        <p:nvSpPr>
          <p:cNvPr id="61" name="Text 59"/>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OPERATING MODEL</a:t>
            </a:r>
            <a:endParaRPr lang="en-US" sz="1100" dirty="0"/>
          </a:p>
        </p:txBody>
      </p:sp>
      <p:sp>
        <p:nvSpPr>
          <p:cNvPr id="3" name="Text 1"/>
          <p:cNvSpPr/>
          <p:nvPr/>
        </p:nvSpPr>
        <p:spPr>
          <a:xfrm>
            <a:off x="548640" y="640080"/>
            <a:ext cx="11064240"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A small specialist core. Auditors who can direct machines.</a:t>
            </a:r>
            <a:endParaRPr lang="en-US" sz="2200" dirty="0"/>
          </a:p>
        </p:txBody>
      </p:sp>
      <p:sp>
        <p:nvSpPr>
          <p:cNvPr id="4" name="Shape 2"/>
          <p:cNvSpPr/>
          <p:nvPr/>
        </p:nvSpPr>
        <p:spPr>
          <a:xfrm>
            <a:off x="548640" y="1152144"/>
            <a:ext cx="5532120" cy="1828800"/>
          </a:xfrm>
          <a:prstGeom prst="rect">
            <a:avLst/>
          </a:prstGeom>
          <a:solidFill>
            <a:srgbClr val="FFFFFF"/>
          </a:solidFill>
          <a:ln w="12700">
            <a:solidFill>
              <a:srgbClr val="E5E7EB"/>
            </a:solidFill>
            <a:prstDash val="solid"/>
          </a:ln>
        </p:spPr>
      </p:sp>
      <p:sp>
        <p:nvSpPr>
          <p:cNvPr id="5" name="Shape 3"/>
          <p:cNvSpPr/>
          <p:nvPr/>
        </p:nvSpPr>
        <p:spPr>
          <a:xfrm>
            <a:off x="548640" y="1152144"/>
            <a:ext cx="82296" cy="1828800"/>
          </a:xfrm>
          <a:prstGeom prst="rect">
            <a:avLst/>
          </a:prstGeom>
          <a:solidFill>
            <a:srgbClr val="DBA111"/>
          </a:solidFill>
          <a:ln/>
        </p:spPr>
      </p:sp>
      <p:sp>
        <p:nvSpPr>
          <p:cNvPr id="6" name="Text 4"/>
          <p:cNvSpPr/>
          <p:nvPr/>
        </p:nvSpPr>
        <p:spPr>
          <a:xfrm>
            <a:off x="804672" y="1316736"/>
            <a:ext cx="5074920" cy="347472"/>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Analytics &amp; Insights</a:t>
            </a:r>
            <a:endParaRPr lang="en-US" sz="1600" dirty="0"/>
          </a:p>
        </p:txBody>
      </p:sp>
      <p:sp>
        <p:nvSpPr>
          <p:cNvPr id="7" name="Text 5"/>
          <p:cNvSpPr/>
          <p:nvPr/>
        </p:nvSpPr>
        <p:spPr>
          <a:xfrm>
            <a:off x="804672" y="1719072"/>
            <a:ext cx="5074920" cy="107899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Owns data product, AuditIQ roadmap, model inventory for IA tools, use-case factory, and CAE insight production. Reports through Innovation / Data.</a:t>
            </a:r>
            <a:endParaRPr lang="en-US" sz="1400" dirty="0"/>
          </a:p>
        </p:txBody>
      </p:sp>
      <p:sp>
        <p:nvSpPr>
          <p:cNvPr id="8" name="Shape 6"/>
          <p:cNvSpPr/>
          <p:nvPr/>
        </p:nvSpPr>
        <p:spPr>
          <a:xfrm>
            <a:off x="6263640" y="1152144"/>
            <a:ext cx="5532120" cy="1828800"/>
          </a:xfrm>
          <a:prstGeom prst="rect">
            <a:avLst/>
          </a:prstGeom>
          <a:solidFill>
            <a:srgbClr val="FFFFFF"/>
          </a:solidFill>
          <a:ln w="12700">
            <a:solidFill>
              <a:srgbClr val="E5E7EB"/>
            </a:solidFill>
            <a:prstDash val="solid"/>
          </a:ln>
        </p:spPr>
      </p:sp>
      <p:sp>
        <p:nvSpPr>
          <p:cNvPr id="9" name="Shape 7"/>
          <p:cNvSpPr/>
          <p:nvPr/>
        </p:nvSpPr>
        <p:spPr>
          <a:xfrm>
            <a:off x="6263640" y="1152144"/>
            <a:ext cx="82296" cy="1828800"/>
          </a:xfrm>
          <a:prstGeom prst="rect">
            <a:avLst/>
          </a:prstGeom>
          <a:solidFill>
            <a:srgbClr val="DBA111"/>
          </a:solidFill>
          <a:ln/>
        </p:spPr>
      </p:sp>
      <p:sp>
        <p:nvSpPr>
          <p:cNvPr id="10" name="Text 8"/>
          <p:cNvSpPr/>
          <p:nvPr/>
        </p:nvSpPr>
        <p:spPr>
          <a:xfrm>
            <a:off x="6519672" y="1316736"/>
            <a:ext cx="5074920" cy="347472"/>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Engagement teams</a:t>
            </a:r>
            <a:endParaRPr lang="en-US" sz="1600" dirty="0"/>
          </a:p>
        </p:txBody>
      </p:sp>
      <p:sp>
        <p:nvSpPr>
          <p:cNvPr id="11" name="Text 9"/>
          <p:cNvSpPr/>
          <p:nvPr/>
        </p:nvSpPr>
        <p:spPr>
          <a:xfrm>
            <a:off x="6519672" y="1719072"/>
            <a:ext cx="5074920" cy="107899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Consume products. Scope AI procedures. Challenge outputs. Sign the opinion. Every in-charge is a digital auditor by H1 exit.</a:t>
            </a:r>
            <a:endParaRPr lang="en-US" sz="1400" dirty="0"/>
          </a:p>
        </p:txBody>
      </p:sp>
      <p:sp>
        <p:nvSpPr>
          <p:cNvPr id="12" name="Shape 10"/>
          <p:cNvSpPr/>
          <p:nvPr/>
        </p:nvSpPr>
        <p:spPr>
          <a:xfrm>
            <a:off x="548640" y="3118104"/>
            <a:ext cx="5532120" cy="1828800"/>
          </a:xfrm>
          <a:prstGeom prst="rect">
            <a:avLst/>
          </a:prstGeom>
          <a:solidFill>
            <a:srgbClr val="FFFFFF"/>
          </a:solidFill>
          <a:ln w="12700">
            <a:solidFill>
              <a:srgbClr val="E5E7EB"/>
            </a:solidFill>
            <a:prstDash val="solid"/>
          </a:ln>
        </p:spPr>
      </p:sp>
      <p:sp>
        <p:nvSpPr>
          <p:cNvPr id="13" name="Shape 11"/>
          <p:cNvSpPr/>
          <p:nvPr/>
        </p:nvSpPr>
        <p:spPr>
          <a:xfrm>
            <a:off x="548640" y="3118104"/>
            <a:ext cx="82296" cy="1828800"/>
          </a:xfrm>
          <a:prstGeom prst="rect">
            <a:avLst/>
          </a:prstGeom>
          <a:solidFill>
            <a:srgbClr val="DBA111"/>
          </a:solidFill>
          <a:ln/>
        </p:spPr>
      </p:sp>
      <p:sp>
        <p:nvSpPr>
          <p:cNvPr id="14" name="Text 12"/>
          <p:cNvSpPr/>
          <p:nvPr/>
        </p:nvSpPr>
        <p:spPr>
          <a:xfrm>
            <a:off x="804672" y="3282696"/>
            <a:ext cx="5074920" cy="347472"/>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IT / Cyber audit</a:t>
            </a:r>
            <a:endParaRPr lang="en-US" sz="1600" dirty="0"/>
          </a:p>
        </p:txBody>
      </p:sp>
      <p:sp>
        <p:nvSpPr>
          <p:cNvPr id="15" name="Text 13"/>
          <p:cNvSpPr/>
          <p:nvPr/>
        </p:nvSpPr>
        <p:spPr>
          <a:xfrm>
            <a:off x="804672" y="3685032"/>
            <a:ext cx="5074920" cy="107899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Leads assurance over enterprise AI, model risk, data governance, and third-party models. Partners with Analytics on methods.</a:t>
            </a:r>
            <a:endParaRPr lang="en-US" sz="1400" dirty="0"/>
          </a:p>
        </p:txBody>
      </p:sp>
      <p:sp>
        <p:nvSpPr>
          <p:cNvPr id="16" name="Shape 14"/>
          <p:cNvSpPr/>
          <p:nvPr/>
        </p:nvSpPr>
        <p:spPr>
          <a:xfrm>
            <a:off x="6263640" y="3118104"/>
            <a:ext cx="5532120" cy="1828800"/>
          </a:xfrm>
          <a:prstGeom prst="rect">
            <a:avLst/>
          </a:prstGeom>
          <a:solidFill>
            <a:srgbClr val="FFFFFF"/>
          </a:solidFill>
          <a:ln w="12700">
            <a:solidFill>
              <a:srgbClr val="E5E7EB"/>
            </a:solidFill>
            <a:prstDash val="solid"/>
          </a:ln>
        </p:spPr>
      </p:sp>
      <p:sp>
        <p:nvSpPr>
          <p:cNvPr id="17" name="Shape 15"/>
          <p:cNvSpPr/>
          <p:nvPr/>
        </p:nvSpPr>
        <p:spPr>
          <a:xfrm>
            <a:off x="6263640" y="3118104"/>
            <a:ext cx="82296" cy="1828800"/>
          </a:xfrm>
          <a:prstGeom prst="rect">
            <a:avLst/>
          </a:prstGeom>
          <a:solidFill>
            <a:srgbClr val="DBA111"/>
          </a:solidFill>
          <a:ln/>
        </p:spPr>
      </p:sp>
      <p:sp>
        <p:nvSpPr>
          <p:cNvPr id="18" name="Text 16"/>
          <p:cNvSpPr/>
          <p:nvPr/>
        </p:nvSpPr>
        <p:spPr>
          <a:xfrm>
            <a:off x="6519672" y="3282696"/>
            <a:ext cx="5074920" cy="347472"/>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SteerCo / CAE</a:t>
            </a:r>
            <a:endParaRPr lang="en-US" sz="1600" dirty="0"/>
          </a:p>
        </p:txBody>
      </p:sp>
      <p:sp>
        <p:nvSpPr>
          <p:cNvPr id="19" name="Text 17"/>
          <p:cNvSpPr/>
          <p:nvPr/>
        </p:nvSpPr>
        <p:spPr>
          <a:xfrm>
            <a:off x="6519672" y="3685032"/>
            <a:ext cx="5074920" cy="1078992"/>
          </a:xfrm>
          <a:prstGeom prst="rect">
            <a:avLst/>
          </a:prstGeom>
          <a:noFill/>
          <a:ln/>
        </p:spPr>
        <p:txBody>
          <a:bodyPr wrap="square" lIns="0" tIns="0" rIns="0" bIns="0" rtlCol="0" anchor="ctr"/>
          <a:lstStyle/>
          <a:p>
            <a:pPr indent="0" marL="0">
              <a:buNone/>
            </a:pPr>
            <a:r>
              <a:rPr lang="en-US" sz="1400" dirty="0">
                <a:solidFill>
                  <a:srgbClr val="111827"/>
                </a:solidFill>
                <a:latin typeface="Calibri" pitchFamily="34" charset="0"/>
                <a:ea typeface="Calibri" pitchFamily="34" charset="-122"/>
                <a:cs typeface="Calibri" pitchFamily="34" charset="-120"/>
              </a:rPr>
              <a:t>Sets risk appetite for IA’s own AI. Approves use-case funding. Receives a quarterly value and residual-risk pack.</a:t>
            </a:r>
            <a:endParaRPr lang="en-US" sz="1400" dirty="0"/>
          </a:p>
        </p:txBody>
      </p:sp>
      <p:sp>
        <p:nvSpPr>
          <p:cNvPr id="20" name="Shape 18"/>
          <p:cNvSpPr/>
          <p:nvPr/>
        </p:nvSpPr>
        <p:spPr>
          <a:xfrm>
            <a:off x="548640" y="5138928"/>
            <a:ext cx="11064240" cy="868680"/>
          </a:xfrm>
          <a:prstGeom prst="rect">
            <a:avLst/>
          </a:prstGeom>
          <a:solidFill>
            <a:srgbClr val="021F47"/>
          </a:solidFill>
          <a:ln/>
        </p:spPr>
      </p:sp>
      <p:sp>
        <p:nvSpPr>
          <p:cNvPr id="21" name="Text 19"/>
          <p:cNvSpPr/>
          <p:nvPr/>
        </p:nvSpPr>
        <p:spPr>
          <a:xfrm>
            <a:off x="777240" y="5248656"/>
            <a:ext cx="10607040" cy="658368"/>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Resourcing rule:  do not hire a parallel data science lab. Embed 2–3 specialists, co-source scarce skills, and convert auditor time released by automation into higher-judgment work — not headcount reduction theatre.</a:t>
            </a:r>
            <a:endParaRPr lang="en-US" sz="1400" dirty="0"/>
          </a:p>
        </p:txBody>
      </p:sp>
      <p:sp>
        <p:nvSpPr>
          <p:cNvPr id="22" name="Shape 20"/>
          <p:cNvSpPr/>
          <p:nvPr/>
        </p:nvSpPr>
        <p:spPr>
          <a:xfrm>
            <a:off x="548640" y="6510528"/>
            <a:ext cx="320040" cy="36576"/>
          </a:xfrm>
          <a:prstGeom prst="rect">
            <a:avLst/>
          </a:prstGeom>
          <a:solidFill>
            <a:srgbClr val="DBA111"/>
          </a:solidFill>
          <a:ln/>
        </p:spPr>
      </p:sp>
      <p:sp>
        <p:nvSpPr>
          <p:cNvPr id="23" name="Text 21"/>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24" name="Text 22"/>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Operating Model</a:t>
            </a:r>
            <a:endParaRPr lang="en-US" sz="1000" dirty="0"/>
          </a:p>
        </p:txBody>
      </p:sp>
      <p:sp>
        <p:nvSpPr>
          <p:cNvPr id="25" name="Text 23"/>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GOVERNANCE AND SCORECARD</a:t>
            </a:r>
            <a:endParaRPr lang="en-US" sz="1100" dirty="0"/>
          </a:p>
        </p:txBody>
      </p:sp>
      <p:sp>
        <p:nvSpPr>
          <p:cNvPr id="3" name="Text 1"/>
          <p:cNvSpPr/>
          <p:nvPr/>
        </p:nvSpPr>
        <p:spPr>
          <a:xfrm>
            <a:off x="548640" y="640080"/>
            <a:ext cx="11064240" cy="365760"/>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If we cannot measure it, it is a hobby.</a:t>
            </a:r>
            <a:endParaRPr lang="en-US" sz="2200" dirty="0"/>
          </a:p>
        </p:txBody>
      </p:sp>
      <p:sp>
        <p:nvSpPr>
          <p:cNvPr id="4" name="Shape 2"/>
          <p:cNvSpPr/>
          <p:nvPr/>
        </p:nvSpPr>
        <p:spPr>
          <a:xfrm>
            <a:off x="548640" y="1133856"/>
            <a:ext cx="5532120" cy="4892040"/>
          </a:xfrm>
          <a:prstGeom prst="rect">
            <a:avLst/>
          </a:prstGeom>
          <a:solidFill>
            <a:srgbClr val="FFFFFF"/>
          </a:solidFill>
          <a:ln w="12700">
            <a:solidFill>
              <a:srgbClr val="E5E7EB"/>
            </a:solidFill>
            <a:prstDash val="solid"/>
          </a:ln>
        </p:spPr>
      </p:sp>
      <p:sp>
        <p:nvSpPr>
          <p:cNvPr id="5" name="Shape 3"/>
          <p:cNvSpPr/>
          <p:nvPr/>
        </p:nvSpPr>
        <p:spPr>
          <a:xfrm>
            <a:off x="548640" y="1133856"/>
            <a:ext cx="5532120" cy="457200"/>
          </a:xfrm>
          <a:prstGeom prst="rect">
            <a:avLst/>
          </a:prstGeom>
          <a:solidFill>
            <a:srgbClr val="034694"/>
          </a:solidFill>
          <a:ln/>
        </p:spPr>
      </p:sp>
      <p:sp>
        <p:nvSpPr>
          <p:cNvPr id="6" name="Text 4"/>
          <p:cNvSpPr/>
          <p:nvPr/>
        </p:nvSpPr>
        <p:spPr>
          <a:xfrm>
            <a:off x="731520" y="1207008"/>
            <a:ext cx="5212080" cy="310896"/>
          </a:xfrm>
          <a:prstGeom prst="rect">
            <a:avLst/>
          </a:prstGeom>
          <a:noFill/>
          <a:ln/>
        </p:spPr>
        <p:txBody>
          <a:bodyPr wrap="square" lIns="0" tIns="0" rIns="0" bIns="0" rtlCol="0" anchor="ctr"/>
          <a:lstStyle/>
          <a:p>
            <a:pPr indent="0" marL="0">
              <a:buNone/>
            </a:pPr>
            <a:r>
              <a:rPr lang="en-US" sz="1300" b="1" spc="120" kern="0" dirty="0">
                <a:solidFill>
                  <a:srgbClr val="FFFFFF"/>
                </a:solidFill>
                <a:latin typeface="Calibri" pitchFamily="34" charset="0"/>
                <a:ea typeface="Calibri" pitchFamily="34" charset="-122"/>
                <a:cs typeface="Calibri" pitchFamily="34" charset="-120"/>
              </a:rPr>
              <a:t>CONTROL OVER IA’S OWN AI</a:t>
            </a:r>
            <a:endParaRPr lang="en-US" sz="1300" dirty="0"/>
          </a:p>
        </p:txBody>
      </p:sp>
      <p:sp>
        <p:nvSpPr>
          <p:cNvPr id="7" name="Text 5"/>
          <p:cNvSpPr/>
          <p:nvPr/>
        </p:nvSpPr>
        <p:spPr>
          <a:xfrm>
            <a:off x="777240" y="1737360"/>
            <a:ext cx="5074920" cy="62179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SteerCo owns use-case intake, kill/scale, and residual risk</a:t>
            </a:r>
            <a:endParaRPr lang="en-US" sz="1300" dirty="0"/>
          </a:p>
        </p:txBody>
      </p:sp>
      <p:sp>
        <p:nvSpPr>
          <p:cNvPr id="8" name="Text 6"/>
          <p:cNvSpPr/>
          <p:nvPr/>
        </p:nvSpPr>
        <p:spPr>
          <a:xfrm>
            <a:off x="777240" y="2395728"/>
            <a:ext cx="5074920" cy="62179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Every production model: purpose, data sources, owner, validation date, human-in-the-loop rule</a:t>
            </a:r>
            <a:endParaRPr lang="en-US" sz="1300" dirty="0"/>
          </a:p>
        </p:txBody>
      </p:sp>
      <p:sp>
        <p:nvSpPr>
          <p:cNvPr id="9" name="Text 7"/>
          <p:cNvSpPr/>
          <p:nvPr/>
        </p:nvSpPr>
        <p:spPr>
          <a:xfrm>
            <a:off x="777240" y="3054096"/>
            <a:ext cx="5074920" cy="62179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Prompt / agent library versioned; no unsanctioned tools on bank data</a:t>
            </a:r>
            <a:endParaRPr lang="en-US" sz="1300" dirty="0"/>
          </a:p>
        </p:txBody>
      </p:sp>
      <p:sp>
        <p:nvSpPr>
          <p:cNvPr id="10" name="Text 8"/>
          <p:cNvSpPr/>
          <p:nvPr/>
        </p:nvSpPr>
        <p:spPr>
          <a:xfrm>
            <a:off x="777240" y="3712464"/>
            <a:ext cx="5074920" cy="62179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Logging of prompts, retrievals, and material outputs for working-paper reliance</a:t>
            </a:r>
            <a:endParaRPr lang="en-US" sz="1300" dirty="0"/>
          </a:p>
        </p:txBody>
      </p:sp>
      <p:sp>
        <p:nvSpPr>
          <p:cNvPr id="11" name="Text 9"/>
          <p:cNvSpPr/>
          <p:nvPr/>
        </p:nvSpPr>
        <p:spPr>
          <a:xfrm>
            <a:off x="777240" y="4370832"/>
            <a:ext cx="5074920" cy="62179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Annual independent review of IA analytics — we eat our own cooking</a:t>
            </a:r>
            <a:endParaRPr lang="en-US" sz="1300" dirty="0"/>
          </a:p>
        </p:txBody>
      </p:sp>
      <p:sp>
        <p:nvSpPr>
          <p:cNvPr id="12" name="Text 10"/>
          <p:cNvSpPr/>
          <p:nvPr/>
        </p:nvSpPr>
        <p:spPr>
          <a:xfrm>
            <a:off x="777240" y="5029200"/>
            <a:ext cx="5074920" cy="62179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  Alignment to enterprise AI policy, model-risk standard, and privacy</a:t>
            </a:r>
            <a:endParaRPr lang="en-US" sz="1300" dirty="0"/>
          </a:p>
        </p:txBody>
      </p:sp>
      <p:sp>
        <p:nvSpPr>
          <p:cNvPr id="13" name="Shape 11"/>
          <p:cNvSpPr/>
          <p:nvPr/>
        </p:nvSpPr>
        <p:spPr>
          <a:xfrm>
            <a:off x="6263640" y="1133856"/>
            <a:ext cx="5349240" cy="4892040"/>
          </a:xfrm>
          <a:prstGeom prst="rect">
            <a:avLst/>
          </a:prstGeom>
          <a:solidFill>
            <a:srgbClr val="F5F3EC"/>
          </a:solidFill>
          <a:ln/>
        </p:spPr>
      </p:sp>
      <p:sp>
        <p:nvSpPr>
          <p:cNvPr id="14" name="Text 12"/>
          <p:cNvSpPr/>
          <p:nvPr/>
        </p:nvSpPr>
        <p:spPr>
          <a:xfrm>
            <a:off x="6492240" y="1280160"/>
            <a:ext cx="4937760" cy="274320"/>
          </a:xfrm>
          <a:prstGeom prst="rect">
            <a:avLst/>
          </a:prstGeom>
          <a:noFill/>
          <a:ln/>
        </p:spPr>
        <p:txBody>
          <a:bodyPr wrap="square" lIns="0" tIns="0" rIns="0" bIns="0" rtlCol="0" anchor="ctr"/>
          <a:lstStyle/>
          <a:p>
            <a:pPr indent="0" marL="0">
              <a:buNone/>
            </a:pPr>
            <a:r>
              <a:rPr lang="en-US" sz="1300" b="1" spc="100" kern="0" dirty="0">
                <a:solidFill>
                  <a:srgbClr val="DBA111"/>
                </a:solidFill>
                <a:latin typeface="Calibri" pitchFamily="34" charset="0"/>
                <a:ea typeface="Calibri" pitchFamily="34" charset="-122"/>
                <a:cs typeface="Calibri" pitchFamily="34" charset="-120"/>
              </a:rPr>
              <a:t>2029 TARGETS  (directional)</a:t>
            </a:r>
            <a:endParaRPr lang="en-US" sz="1300" dirty="0"/>
          </a:p>
        </p:txBody>
      </p:sp>
      <p:sp>
        <p:nvSpPr>
          <p:cNvPr id="15" name="Text 13"/>
          <p:cNvSpPr/>
          <p:nvPr/>
        </p:nvSpPr>
        <p:spPr>
          <a:xfrm>
            <a:off x="6492240" y="1700784"/>
            <a:ext cx="1554480" cy="640080"/>
          </a:xfrm>
          <a:prstGeom prst="rect">
            <a:avLst/>
          </a:prstGeom>
          <a:noFill/>
          <a:ln/>
        </p:spPr>
        <p:txBody>
          <a:bodyPr wrap="square" lIns="0" tIns="0" rIns="0" bIns="0" rtlCol="0" anchor="ctr"/>
          <a:lstStyle/>
          <a:p>
            <a:pPr indent="0" marL="0">
              <a:buNone/>
            </a:pPr>
            <a:r>
              <a:rPr lang="en-US" sz="1800" b="1" dirty="0">
                <a:solidFill>
                  <a:srgbClr val="034694"/>
                </a:solidFill>
                <a:latin typeface="Century Gothic" pitchFamily="34" charset="0"/>
                <a:ea typeface="Century Gothic" pitchFamily="34" charset="-122"/>
                <a:cs typeface="Century Gothic" pitchFamily="34" charset="-120"/>
              </a:rPr>
              <a:t>≥ 60%</a:t>
            </a:r>
            <a:endParaRPr lang="en-US" sz="1800" dirty="0"/>
          </a:p>
        </p:txBody>
      </p:sp>
      <p:sp>
        <p:nvSpPr>
          <p:cNvPr id="16" name="Text 14"/>
          <p:cNvSpPr/>
          <p:nvPr/>
        </p:nvSpPr>
        <p:spPr>
          <a:xfrm>
            <a:off x="8092440" y="1700784"/>
            <a:ext cx="3246120" cy="64008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of material processes tested at full population, not sample</a:t>
            </a:r>
            <a:endParaRPr lang="en-US" sz="1300" dirty="0"/>
          </a:p>
        </p:txBody>
      </p:sp>
      <p:sp>
        <p:nvSpPr>
          <p:cNvPr id="17" name="Text 15"/>
          <p:cNvSpPr/>
          <p:nvPr/>
        </p:nvSpPr>
        <p:spPr>
          <a:xfrm>
            <a:off x="6492240" y="2505456"/>
            <a:ext cx="1554480" cy="640080"/>
          </a:xfrm>
          <a:prstGeom prst="rect">
            <a:avLst/>
          </a:prstGeom>
          <a:noFill/>
          <a:ln/>
        </p:spPr>
        <p:txBody>
          <a:bodyPr wrap="square" lIns="0" tIns="0" rIns="0" bIns="0" rtlCol="0" anchor="ctr"/>
          <a:lstStyle/>
          <a:p>
            <a:pPr indent="0" marL="0">
              <a:buNone/>
            </a:pPr>
            <a:r>
              <a:rPr lang="en-US" sz="1800" b="1" dirty="0">
                <a:solidFill>
                  <a:srgbClr val="034694"/>
                </a:solidFill>
                <a:latin typeface="Century Gothic" pitchFamily="34" charset="0"/>
                <a:ea typeface="Century Gothic" pitchFamily="34" charset="-122"/>
                <a:cs typeface="Century Gothic" pitchFamily="34" charset="-120"/>
              </a:rPr>
              <a:t>–40%</a:t>
            </a:r>
            <a:endParaRPr lang="en-US" sz="1800" dirty="0"/>
          </a:p>
        </p:txBody>
      </p:sp>
      <p:sp>
        <p:nvSpPr>
          <p:cNvPr id="18" name="Text 16"/>
          <p:cNvSpPr/>
          <p:nvPr/>
        </p:nvSpPr>
        <p:spPr>
          <a:xfrm>
            <a:off x="8092440" y="2505456"/>
            <a:ext cx="3246120" cy="64008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median days from fieldwork start to draft issue</a:t>
            </a:r>
            <a:endParaRPr lang="en-US" sz="1300" dirty="0"/>
          </a:p>
        </p:txBody>
      </p:sp>
      <p:sp>
        <p:nvSpPr>
          <p:cNvPr id="19" name="Text 17"/>
          <p:cNvSpPr/>
          <p:nvPr/>
        </p:nvSpPr>
        <p:spPr>
          <a:xfrm>
            <a:off x="6492240" y="3310128"/>
            <a:ext cx="1554480" cy="640080"/>
          </a:xfrm>
          <a:prstGeom prst="rect">
            <a:avLst/>
          </a:prstGeom>
          <a:noFill/>
          <a:ln/>
        </p:spPr>
        <p:txBody>
          <a:bodyPr wrap="square" lIns="0" tIns="0" rIns="0" bIns="0" rtlCol="0" anchor="ctr"/>
          <a:lstStyle/>
          <a:p>
            <a:pPr indent="0" marL="0">
              <a:buNone/>
            </a:pPr>
            <a:r>
              <a:rPr lang="en-US" sz="1800" b="1" dirty="0">
                <a:solidFill>
                  <a:srgbClr val="034694"/>
                </a:solidFill>
                <a:latin typeface="Century Gothic" pitchFamily="34" charset="0"/>
                <a:ea typeface="Century Gothic" pitchFamily="34" charset="-122"/>
                <a:cs typeface="Century Gothic" pitchFamily="34" charset="-120"/>
              </a:rPr>
              <a:t>100%</a:t>
            </a:r>
            <a:endParaRPr lang="en-US" sz="1800" dirty="0"/>
          </a:p>
        </p:txBody>
      </p:sp>
      <p:sp>
        <p:nvSpPr>
          <p:cNvPr id="20" name="Text 18"/>
          <p:cNvSpPr/>
          <p:nvPr/>
        </p:nvSpPr>
        <p:spPr>
          <a:xfrm>
            <a:off x="8092440" y="3310128"/>
            <a:ext cx="3246120" cy="64008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of AC insight pages sourced from AuditIQ live metrics</a:t>
            </a:r>
            <a:endParaRPr lang="en-US" sz="1300" dirty="0"/>
          </a:p>
        </p:txBody>
      </p:sp>
      <p:sp>
        <p:nvSpPr>
          <p:cNvPr id="21" name="Text 19"/>
          <p:cNvSpPr/>
          <p:nvPr/>
        </p:nvSpPr>
        <p:spPr>
          <a:xfrm>
            <a:off x="6492240" y="4114800"/>
            <a:ext cx="1554480" cy="640080"/>
          </a:xfrm>
          <a:prstGeom prst="rect">
            <a:avLst/>
          </a:prstGeom>
          <a:noFill/>
          <a:ln/>
        </p:spPr>
        <p:txBody>
          <a:bodyPr wrap="square" lIns="0" tIns="0" rIns="0" bIns="0" rtlCol="0" anchor="ctr"/>
          <a:lstStyle/>
          <a:p>
            <a:pPr indent="0" marL="0">
              <a:buNone/>
            </a:pPr>
            <a:r>
              <a:rPr lang="en-US" sz="1800" b="1" dirty="0">
                <a:solidFill>
                  <a:srgbClr val="034694"/>
                </a:solidFill>
                <a:latin typeface="Century Gothic" pitchFamily="34" charset="0"/>
                <a:ea typeface="Century Gothic" pitchFamily="34" charset="-122"/>
                <a:cs typeface="Century Gothic" pitchFamily="34" charset="-120"/>
              </a:rPr>
              <a:t>100%</a:t>
            </a:r>
            <a:endParaRPr lang="en-US" sz="1800" dirty="0"/>
          </a:p>
        </p:txBody>
      </p:sp>
      <p:sp>
        <p:nvSpPr>
          <p:cNvPr id="22" name="Text 20"/>
          <p:cNvSpPr/>
          <p:nvPr/>
        </p:nvSpPr>
        <p:spPr>
          <a:xfrm>
            <a:off x="8092440" y="4114800"/>
            <a:ext cx="3246120" cy="64008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of IA production models inventoried and validated</a:t>
            </a:r>
            <a:endParaRPr lang="en-US" sz="1300" dirty="0"/>
          </a:p>
        </p:txBody>
      </p:sp>
      <p:sp>
        <p:nvSpPr>
          <p:cNvPr id="23" name="Text 21"/>
          <p:cNvSpPr/>
          <p:nvPr/>
        </p:nvSpPr>
        <p:spPr>
          <a:xfrm>
            <a:off x="6492240" y="4919472"/>
            <a:ext cx="1554480" cy="640080"/>
          </a:xfrm>
          <a:prstGeom prst="rect">
            <a:avLst/>
          </a:prstGeom>
          <a:noFill/>
          <a:ln/>
        </p:spPr>
        <p:txBody>
          <a:bodyPr wrap="square" lIns="0" tIns="0" rIns="0" bIns="0" rtlCol="0" anchor="ctr"/>
          <a:lstStyle/>
          <a:p>
            <a:pPr indent="0" marL="0">
              <a:buNone/>
            </a:pPr>
            <a:r>
              <a:rPr lang="en-US" sz="1800" b="1" dirty="0">
                <a:solidFill>
                  <a:srgbClr val="034694"/>
                </a:solidFill>
                <a:latin typeface="Century Gothic" pitchFamily="34" charset="0"/>
                <a:ea typeface="Century Gothic" pitchFamily="34" charset="-122"/>
                <a:cs typeface="Century Gothic" pitchFamily="34" charset="-120"/>
              </a:rPr>
              <a:t>Annual</a:t>
            </a:r>
            <a:endParaRPr lang="en-US" sz="1800" dirty="0"/>
          </a:p>
        </p:txBody>
      </p:sp>
      <p:sp>
        <p:nvSpPr>
          <p:cNvPr id="24" name="Text 22"/>
          <p:cNvSpPr/>
          <p:nvPr/>
        </p:nvSpPr>
        <p:spPr>
          <a:xfrm>
            <a:off x="8092440" y="4919472"/>
            <a:ext cx="3246120" cy="640080"/>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AI-governance audit on the plan, with coverage of high-risk models</a:t>
            </a:r>
            <a:endParaRPr lang="en-US" sz="1300" dirty="0"/>
          </a:p>
        </p:txBody>
      </p:sp>
      <p:sp>
        <p:nvSpPr>
          <p:cNvPr id="25" name="Shape 23"/>
          <p:cNvSpPr/>
          <p:nvPr/>
        </p:nvSpPr>
        <p:spPr>
          <a:xfrm>
            <a:off x="548640" y="6510528"/>
            <a:ext cx="320040" cy="36576"/>
          </a:xfrm>
          <a:prstGeom prst="rect">
            <a:avLst/>
          </a:prstGeom>
          <a:solidFill>
            <a:srgbClr val="DBA111"/>
          </a:solidFill>
          <a:ln/>
        </p:spPr>
      </p:sp>
      <p:sp>
        <p:nvSpPr>
          <p:cNvPr id="26" name="Text 24"/>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27" name="Text 25"/>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Governance</a:t>
            </a:r>
            <a:endParaRPr lang="en-US" sz="1000" dirty="0"/>
          </a:p>
        </p:txBody>
      </p:sp>
      <p:sp>
        <p:nvSpPr>
          <p:cNvPr id="28" name="Text 26"/>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0972800" cy="256032"/>
          </a:xfrm>
          <a:prstGeom prst="rect">
            <a:avLst/>
          </a:prstGeom>
          <a:noFill/>
          <a:ln/>
        </p:spPr>
        <p:txBody>
          <a:bodyPr wrap="square" lIns="0" tIns="0" rIns="0" bIns="0" rtlCol="0" anchor="ctr"/>
          <a:lstStyle/>
          <a:p>
            <a:pPr indent="0" marL="0">
              <a:buNone/>
            </a:pPr>
            <a:r>
              <a:rPr lang="en-US" sz="1100" b="1" spc="320" kern="0" dirty="0">
                <a:solidFill>
                  <a:srgbClr val="DBA111"/>
                </a:solidFill>
                <a:latin typeface="Calibri" pitchFamily="34" charset="0"/>
                <a:ea typeface="Calibri" pitchFamily="34" charset="-122"/>
                <a:cs typeface="Calibri" pitchFamily="34" charset="-120"/>
              </a:rPr>
              <a:t>DECISIONS REQUESTED</a:t>
            </a:r>
            <a:endParaRPr lang="en-US" sz="1100" dirty="0"/>
          </a:p>
        </p:txBody>
      </p:sp>
      <p:sp>
        <p:nvSpPr>
          <p:cNvPr id="3" name="Text 1"/>
          <p:cNvSpPr/>
          <p:nvPr/>
        </p:nvSpPr>
        <p:spPr>
          <a:xfrm>
            <a:off x="548640" y="640080"/>
            <a:ext cx="11064240" cy="384048"/>
          </a:xfrm>
          <a:prstGeom prst="rect">
            <a:avLst/>
          </a:prstGeom>
          <a:noFill/>
          <a:ln/>
        </p:spPr>
        <p:txBody>
          <a:bodyPr wrap="square" lIns="0" tIns="0" rIns="0" bIns="0" rtlCol="0" anchor="ctr"/>
          <a:lstStyle/>
          <a:p>
            <a:pPr indent="0" marL="0">
              <a:buNone/>
            </a:pPr>
            <a:r>
              <a:rPr lang="en-US" sz="2200" b="1" dirty="0">
                <a:solidFill>
                  <a:srgbClr val="034694"/>
                </a:solidFill>
                <a:latin typeface="Century Gothic" pitchFamily="34" charset="0"/>
                <a:ea typeface="Century Gothic" pitchFamily="34" charset="-122"/>
                <a:cs typeface="Century Gothic" pitchFamily="34" charset="-120"/>
              </a:rPr>
              <a:t>Approve the strategy. Fund Horizon 1. Hold us to the scorecard.</a:t>
            </a:r>
            <a:endParaRPr lang="en-US" sz="2200" dirty="0"/>
          </a:p>
        </p:txBody>
      </p:sp>
      <p:sp>
        <p:nvSpPr>
          <p:cNvPr id="4" name="Shape 2"/>
          <p:cNvSpPr/>
          <p:nvPr/>
        </p:nvSpPr>
        <p:spPr>
          <a:xfrm>
            <a:off x="548640" y="1152144"/>
            <a:ext cx="11064240" cy="841248"/>
          </a:xfrm>
          <a:prstGeom prst="rect">
            <a:avLst/>
          </a:prstGeom>
          <a:solidFill>
            <a:srgbClr val="F5F3EC"/>
          </a:solidFill>
          <a:ln/>
        </p:spPr>
      </p:sp>
      <p:sp>
        <p:nvSpPr>
          <p:cNvPr id="5" name="Text 3"/>
          <p:cNvSpPr/>
          <p:nvPr/>
        </p:nvSpPr>
        <p:spPr>
          <a:xfrm>
            <a:off x="731520" y="1152144"/>
            <a:ext cx="731520" cy="841248"/>
          </a:xfrm>
          <a:prstGeom prst="rect">
            <a:avLst/>
          </a:prstGeom>
          <a:noFill/>
          <a:ln/>
        </p:spPr>
        <p:txBody>
          <a:bodyPr wrap="square" lIns="0" tIns="0" rIns="0" bIns="0" rtlCol="0" anchor="ctr"/>
          <a:lstStyle/>
          <a:p>
            <a:pPr indent="0" marL="0">
              <a:buNone/>
            </a:pPr>
            <a:r>
              <a:rPr lang="en-US" sz="2000" b="1" dirty="0">
                <a:solidFill>
                  <a:srgbClr val="DBA111"/>
                </a:solidFill>
                <a:latin typeface="Century Gothic" pitchFamily="34" charset="0"/>
                <a:ea typeface="Century Gothic" pitchFamily="34" charset="-122"/>
                <a:cs typeface="Century Gothic" pitchFamily="34" charset="-120"/>
              </a:rPr>
              <a:t>01</a:t>
            </a:r>
            <a:endParaRPr lang="en-US" sz="2000" dirty="0"/>
          </a:p>
        </p:txBody>
      </p:sp>
      <p:sp>
        <p:nvSpPr>
          <p:cNvPr id="6" name="Text 4"/>
          <p:cNvSpPr/>
          <p:nvPr/>
        </p:nvSpPr>
        <p:spPr>
          <a:xfrm>
            <a:off x="1554480" y="1225296"/>
            <a:ext cx="9784080" cy="329184"/>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Adopt the north star and five pillars</a:t>
            </a:r>
            <a:endParaRPr lang="en-US" sz="1600" dirty="0"/>
          </a:p>
        </p:txBody>
      </p:sp>
      <p:sp>
        <p:nvSpPr>
          <p:cNvPr id="7" name="Text 5"/>
          <p:cNvSpPr/>
          <p:nvPr/>
        </p:nvSpPr>
        <p:spPr>
          <a:xfrm>
            <a:off x="1554480" y="1554480"/>
            <a:ext cx="9784080" cy="34747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as the IA data strategy through 2029, aligned to IIA Standards 9.2 / 10.3 and the enterprise AI policy.</a:t>
            </a:r>
            <a:endParaRPr lang="en-US" sz="1300" dirty="0"/>
          </a:p>
        </p:txBody>
      </p:sp>
      <p:sp>
        <p:nvSpPr>
          <p:cNvPr id="8" name="Shape 6"/>
          <p:cNvSpPr/>
          <p:nvPr/>
        </p:nvSpPr>
        <p:spPr>
          <a:xfrm>
            <a:off x="548640" y="2084832"/>
            <a:ext cx="11064240" cy="841248"/>
          </a:xfrm>
          <a:prstGeom prst="rect">
            <a:avLst/>
          </a:prstGeom>
          <a:solidFill>
            <a:srgbClr val="FFFFFF"/>
          </a:solidFill>
          <a:ln/>
        </p:spPr>
      </p:sp>
      <p:sp>
        <p:nvSpPr>
          <p:cNvPr id="9" name="Text 7"/>
          <p:cNvSpPr/>
          <p:nvPr/>
        </p:nvSpPr>
        <p:spPr>
          <a:xfrm>
            <a:off x="731520" y="2084832"/>
            <a:ext cx="731520" cy="841248"/>
          </a:xfrm>
          <a:prstGeom prst="rect">
            <a:avLst/>
          </a:prstGeom>
          <a:noFill/>
          <a:ln/>
        </p:spPr>
        <p:txBody>
          <a:bodyPr wrap="square" lIns="0" tIns="0" rIns="0" bIns="0" rtlCol="0" anchor="ctr"/>
          <a:lstStyle/>
          <a:p>
            <a:pPr indent="0" marL="0">
              <a:buNone/>
            </a:pPr>
            <a:r>
              <a:rPr lang="en-US" sz="2000" b="1" dirty="0">
                <a:solidFill>
                  <a:srgbClr val="DBA111"/>
                </a:solidFill>
                <a:latin typeface="Century Gothic" pitchFamily="34" charset="0"/>
                <a:ea typeface="Century Gothic" pitchFamily="34" charset="-122"/>
                <a:cs typeface="Century Gothic" pitchFamily="34" charset="-120"/>
              </a:rPr>
              <a:t>02</a:t>
            </a:r>
            <a:endParaRPr lang="en-US" sz="2000" dirty="0"/>
          </a:p>
        </p:txBody>
      </p:sp>
      <p:sp>
        <p:nvSpPr>
          <p:cNvPr id="10" name="Text 8"/>
          <p:cNvSpPr/>
          <p:nvPr/>
        </p:nvSpPr>
        <p:spPr>
          <a:xfrm>
            <a:off x="1554480" y="2157984"/>
            <a:ext cx="9784080" cy="329184"/>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Confirm Horizon 1 scope</a:t>
            </a:r>
            <a:endParaRPr lang="en-US" sz="1600" dirty="0"/>
          </a:p>
        </p:txBody>
      </p:sp>
      <p:sp>
        <p:nvSpPr>
          <p:cNvPr id="11" name="Text 9"/>
          <p:cNvSpPr/>
          <p:nvPr/>
        </p:nvSpPr>
        <p:spPr>
          <a:xfrm>
            <a:off x="1554480" y="2487168"/>
            <a:ext cx="9784080" cy="34747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migration quality gates, AuditIQ as system of record, three production use cases, and the IA AI control framework by Q3 2027.</a:t>
            </a:r>
            <a:endParaRPr lang="en-US" sz="1300" dirty="0"/>
          </a:p>
        </p:txBody>
      </p:sp>
      <p:sp>
        <p:nvSpPr>
          <p:cNvPr id="12" name="Shape 10"/>
          <p:cNvSpPr/>
          <p:nvPr/>
        </p:nvSpPr>
        <p:spPr>
          <a:xfrm>
            <a:off x="548640" y="3017520"/>
            <a:ext cx="11064240" cy="841248"/>
          </a:xfrm>
          <a:prstGeom prst="rect">
            <a:avLst/>
          </a:prstGeom>
          <a:solidFill>
            <a:srgbClr val="F5F3EC"/>
          </a:solidFill>
          <a:ln/>
        </p:spPr>
      </p:sp>
      <p:sp>
        <p:nvSpPr>
          <p:cNvPr id="13" name="Text 11"/>
          <p:cNvSpPr/>
          <p:nvPr/>
        </p:nvSpPr>
        <p:spPr>
          <a:xfrm>
            <a:off x="731520" y="3017520"/>
            <a:ext cx="731520" cy="841248"/>
          </a:xfrm>
          <a:prstGeom prst="rect">
            <a:avLst/>
          </a:prstGeom>
          <a:noFill/>
          <a:ln/>
        </p:spPr>
        <p:txBody>
          <a:bodyPr wrap="square" lIns="0" tIns="0" rIns="0" bIns="0" rtlCol="0" anchor="ctr"/>
          <a:lstStyle/>
          <a:p>
            <a:pPr indent="0" marL="0">
              <a:buNone/>
            </a:pPr>
            <a:r>
              <a:rPr lang="en-US" sz="2000" b="1" dirty="0">
                <a:solidFill>
                  <a:srgbClr val="DBA111"/>
                </a:solidFill>
                <a:latin typeface="Century Gothic" pitchFamily="34" charset="0"/>
                <a:ea typeface="Century Gothic" pitchFamily="34" charset="-122"/>
                <a:cs typeface="Century Gothic" pitchFamily="34" charset="-120"/>
              </a:rPr>
              <a:t>03</a:t>
            </a:r>
            <a:endParaRPr lang="en-US" sz="2000" dirty="0"/>
          </a:p>
        </p:txBody>
      </p:sp>
      <p:sp>
        <p:nvSpPr>
          <p:cNvPr id="14" name="Text 12"/>
          <p:cNvSpPr/>
          <p:nvPr/>
        </p:nvSpPr>
        <p:spPr>
          <a:xfrm>
            <a:off x="1554480" y="3090672"/>
            <a:ext cx="9784080" cy="329184"/>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Stand up dual-mandate coverage</a:t>
            </a:r>
            <a:endParaRPr lang="en-US" sz="1600" dirty="0"/>
          </a:p>
        </p:txBody>
      </p:sp>
      <p:sp>
        <p:nvSpPr>
          <p:cNvPr id="15" name="Text 13"/>
          <p:cNvSpPr/>
          <p:nvPr/>
        </p:nvSpPr>
        <p:spPr>
          <a:xfrm>
            <a:off x="1554480" y="3419856"/>
            <a:ext cx="9784080" cy="34747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enterprise AI inventory into the 2027 plan; one AI-governance audit; Analytics + IT Audit joint method.</a:t>
            </a:r>
            <a:endParaRPr lang="en-US" sz="1300" dirty="0"/>
          </a:p>
        </p:txBody>
      </p:sp>
      <p:sp>
        <p:nvSpPr>
          <p:cNvPr id="16" name="Shape 14"/>
          <p:cNvSpPr/>
          <p:nvPr/>
        </p:nvSpPr>
        <p:spPr>
          <a:xfrm>
            <a:off x="548640" y="3950208"/>
            <a:ext cx="11064240" cy="841248"/>
          </a:xfrm>
          <a:prstGeom prst="rect">
            <a:avLst/>
          </a:prstGeom>
          <a:solidFill>
            <a:srgbClr val="FFFFFF"/>
          </a:solidFill>
          <a:ln/>
        </p:spPr>
      </p:sp>
      <p:sp>
        <p:nvSpPr>
          <p:cNvPr id="17" name="Text 15"/>
          <p:cNvSpPr/>
          <p:nvPr/>
        </p:nvSpPr>
        <p:spPr>
          <a:xfrm>
            <a:off x="731520" y="3950208"/>
            <a:ext cx="731520" cy="841248"/>
          </a:xfrm>
          <a:prstGeom prst="rect">
            <a:avLst/>
          </a:prstGeom>
          <a:noFill/>
          <a:ln/>
        </p:spPr>
        <p:txBody>
          <a:bodyPr wrap="square" lIns="0" tIns="0" rIns="0" bIns="0" rtlCol="0" anchor="ctr"/>
          <a:lstStyle/>
          <a:p>
            <a:pPr indent="0" marL="0">
              <a:buNone/>
            </a:pPr>
            <a:r>
              <a:rPr lang="en-US" sz="2000" b="1" dirty="0">
                <a:solidFill>
                  <a:srgbClr val="DBA111"/>
                </a:solidFill>
                <a:latin typeface="Century Gothic" pitchFamily="34" charset="0"/>
                <a:ea typeface="Century Gothic" pitchFamily="34" charset="-122"/>
                <a:cs typeface="Century Gothic" pitchFamily="34" charset="-120"/>
              </a:rPr>
              <a:t>04</a:t>
            </a:r>
            <a:endParaRPr lang="en-US" sz="2000" dirty="0"/>
          </a:p>
        </p:txBody>
      </p:sp>
      <p:sp>
        <p:nvSpPr>
          <p:cNvPr id="18" name="Text 16"/>
          <p:cNvSpPr/>
          <p:nvPr/>
        </p:nvSpPr>
        <p:spPr>
          <a:xfrm>
            <a:off x="1554480" y="4023360"/>
            <a:ext cx="9784080" cy="329184"/>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Resource the specialist core</a:t>
            </a:r>
            <a:endParaRPr lang="en-US" sz="1600" dirty="0"/>
          </a:p>
        </p:txBody>
      </p:sp>
      <p:sp>
        <p:nvSpPr>
          <p:cNvPr id="19" name="Text 17"/>
          <p:cNvSpPr/>
          <p:nvPr/>
        </p:nvSpPr>
        <p:spPr>
          <a:xfrm>
            <a:off x="1554480" y="4352544"/>
            <a:ext cx="9784080" cy="34747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protect 2–3 specialist FTEs plus a defined co-source envelope; do not trade this for generic headcount.</a:t>
            </a:r>
            <a:endParaRPr lang="en-US" sz="1300" dirty="0"/>
          </a:p>
        </p:txBody>
      </p:sp>
      <p:sp>
        <p:nvSpPr>
          <p:cNvPr id="20" name="Shape 18"/>
          <p:cNvSpPr/>
          <p:nvPr/>
        </p:nvSpPr>
        <p:spPr>
          <a:xfrm>
            <a:off x="548640" y="4882896"/>
            <a:ext cx="11064240" cy="841248"/>
          </a:xfrm>
          <a:prstGeom prst="rect">
            <a:avLst/>
          </a:prstGeom>
          <a:solidFill>
            <a:srgbClr val="F5F3EC"/>
          </a:solidFill>
          <a:ln/>
        </p:spPr>
      </p:sp>
      <p:sp>
        <p:nvSpPr>
          <p:cNvPr id="21" name="Text 19"/>
          <p:cNvSpPr/>
          <p:nvPr/>
        </p:nvSpPr>
        <p:spPr>
          <a:xfrm>
            <a:off x="731520" y="4882896"/>
            <a:ext cx="731520" cy="841248"/>
          </a:xfrm>
          <a:prstGeom prst="rect">
            <a:avLst/>
          </a:prstGeom>
          <a:noFill/>
          <a:ln/>
        </p:spPr>
        <p:txBody>
          <a:bodyPr wrap="square" lIns="0" tIns="0" rIns="0" bIns="0" rtlCol="0" anchor="ctr"/>
          <a:lstStyle/>
          <a:p>
            <a:pPr indent="0" marL="0">
              <a:buNone/>
            </a:pPr>
            <a:r>
              <a:rPr lang="en-US" sz="2000" b="1" dirty="0">
                <a:solidFill>
                  <a:srgbClr val="DBA111"/>
                </a:solidFill>
                <a:latin typeface="Century Gothic" pitchFamily="34" charset="0"/>
                <a:ea typeface="Century Gothic" pitchFamily="34" charset="-122"/>
                <a:cs typeface="Century Gothic" pitchFamily="34" charset="-120"/>
              </a:rPr>
              <a:t>05</a:t>
            </a:r>
            <a:endParaRPr lang="en-US" sz="2000" dirty="0"/>
          </a:p>
        </p:txBody>
      </p:sp>
      <p:sp>
        <p:nvSpPr>
          <p:cNvPr id="22" name="Text 20"/>
          <p:cNvSpPr/>
          <p:nvPr/>
        </p:nvSpPr>
        <p:spPr>
          <a:xfrm>
            <a:off x="1554480" y="4956048"/>
            <a:ext cx="9784080" cy="329184"/>
          </a:xfrm>
          <a:prstGeom prst="rect">
            <a:avLst/>
          </a:prstGeom>
          <a:noFill/>
          <a:ln/>
        </p:spPr>
        <p:txBody>
          <a:bodyPr wrap="square" lIns="0" tIns="0" rIns="0" bIns="0" rtlCol="0" anchor="ctr"/>
          <a:lstStyle/>
          <a:p>
            <a:pPr indent="0" marL="0">
              <a:buNone/>
            </a:pPr>
            <a:r>
              <a:rPr lang="en-US" sz="1600" b="1" dirty="0">
                <a:solidFill>
                  <a:srgbClr val="034694"/>
                </a:solidFill>
                <a:latin typeface="Century Gothic" pitchFamily="34" charset="0"/>
                <a:ea typeface="Century Gothic" pitchFamily="34" charset="-122"/>
                <a:cs typeface="Century Gothic" pitchFamily="34" charset="-120"/>
              </a:rPr>
              <a:t>Quarterly SteerCo cadence</a:t>
            </a:r>
            <a:endParaRPr lang="en-US" sz="1600" dirty="0"/>
          </a:p>
        </p:txBody>
      </p:sp>
      <p:sp>
        <p:nvSpPr>
          <p:cNvPr id="23" name="Text 21"/>
          <p:cNvSpPr/>
          <p:nvPr/>
        </p:nvSpPr>
        <p:spPr>
          <a:xfrm>
            <a:off x="1554480" y="5285232"/>
            <a:ext cx="9784080" cy="347472"/>
          </a:xfrm>
          <a:prstGeom prst="rect">
            <a:avLst/>
          </a:prstGeom>
          <a:noFill/>
          <a:ln/>
        </p:spPr>
        <p:txBody>
          <a:bodyPr wrap="square" lIns="0" tIns="0" rIns="0" bIns="0" rtlCol="0" anchor="ctr"/>
          <a:lstStyle/>
          <a:p>
            <a:pPr indent="0" marL="0">
              <a:buNone/>
            </a:pPr>
            <a:r>
              <a:rPr lang="en-US" sz="1300" dirty="0">
                <a:solidFill>
                  <a:srgbClr val="111827"/>
                </a:solidFill>
                <a:latin typeface="Calibri" pitchFamily="34" charset="0"/>
                <a:ea typeface="Calibri" pitchFamily="34" charset="-122"/>
                <a:cs typeface="Calibri" pitchFamily="34" charset="-120"/>
              </a:rPr>
              <a:t>kill / scale on use cases, residual risk of IA tools, and progress vs the 2029 scorecard.</a:t>
            </a:r>
            <a:endParaRPr lang="en-US" sz="1300" dirty="0"/>
          </a:p>
        </p:txBody>
      </p:sp>
      <p:sp>
        <p:nvSpPr>
          <p:cNvPr id="24" name="Shape 22"/>
          <p:cNvSpPr/>
          <p:nvPr/>
        </p:nvSpPr>
        <p:spPr>
          <a:xfrm>
            <a:off x="548640" y="6510528"/>
            <a:ext cx="320040" cy="36576"/>
          </a:xfrm>
          <a:prstGeom prst="rect">
            <a:avLst/>
          </a:prstGeom>
          <a:solidFill>
            <a:srgbClr val="DBA111"/>
          </a:solidFill>
          <a:ln/>
        </p:spPr>
      </p:sp>
      <p:sp>
        <p:nvSpPr>
          <p:cNvPr id="25" name="Text 23"/>
          <p:cNvSpPr/>
          <p:nvPr/>
        </p:nvSpPr>
        <p:spPr>
          <a:xfrm>
            <a:off x="960120" y="6382512"/>
            <a:ext cx="7498080" cy="274320"/>
          </a:xfrm>
          <a:prstGeom prst="rect">
            <a:avLst/>
          </a:prstGeom>
          <a:noFill/>
          <a:ln/>
        </p:spPr>
        <p:txBody>
          <a:bodyPr wrap="square" lIns="0" tIns="0" rIns="0" bIns="0" rtlCol="0" anchor="ctr"/>
          <a:lstStyle/>
          <a:p>
            <a:pPr indent="0" marL="0">
              <a:buNone/>
            </a:pPr>
            <a:r>
              <a:rPr lang="en-US" sz="1000" b="1" spc="140" kern="0" dirty="0">
                <a:solidFill>
                  <a:srgbClr val="475569"/>
                </a:solidFill>
                <a:latin typeface="Calibri" pitchFamily="34" charset="0"/>
                <a:ea typeface="Calibri" pitchFamily="34" charset="-122"/>
                <a:cs typeface="Calibri" pitchFamily="34" charset="-120"/>
              </a:rPr>
              <a:t>INTERNAL AUDIT  |  DATA STRATEGY 2027–2029</a:t>
            </a:r>
            <a:endParaRPr lang="en-US" sz="1000" dirty="0"/>
          </a:p>
        </p:txBody>
      </p:sp>
      <p:sp>
        <p:nvSpPr>
          <p:cNvPr id="26" name="Text 24"/>
          <p:cNvSpPr/>
          <p:nvPr/>
        </p:nvSpPr>
        <p:spPr>
          <a:xfrm>
            <a:off x="7680960" y="6382512"/>
            <a:ext cx="3108960" cy="274320"/>
          </a:xfrm>
          <a:prstGeom prst="rect">
            <a:avLst/>
          </a:prstGeom>
          <a:noFill/>
          <a:ln/>
        </p:spPr>
        <p:txBody>
          <a:bodyPr wrap="square" lIns="0" tIns="0" rIns="0" bIns="0" rtlCol="0" anchor="ctr"/>
          <a:lstStyle/>
          <a:p>
            <a:pPr algn="r" indent="0" marL="0">
              <a:buNone/>
            </a:pPr>
            <a:r>
              <a:rPr lang="en-US" sz="1000" i="1" dirty="0">
                <a:solidFill>
                  <a:srgbClr val="475569"/>
                </a:solidFill>
                <a:latin typeface="Calibri" pitchFamily="34" charset="0"/>
                <a:ea typeface="Calibri" pitchFamily="34" charset="-122"/>
                <a:cs typeface="Calibri" pitchFamily="34" charset="-120"/>
              </a:rPr>
              <a:t>Decisions</a:t>
            </a:r>
            <a:endParaRPr lang="en-US" sz="1000" dirty="0"/>
          </a:p>
        </p:txBody>
      </p:sp>
      <p:sp>
        <p:nvSpPr>
          <p:cNvPr id="27" name="Text 25"/>
          <p:cNvSpPr/>
          <p:nvPr/>
        </p:nvSpPr>
        <p:spPr>
          <a:xfrm>
            <a:off x="10972800" y="6382512"/>
            <a:ext cx="640080" cy="274320"/>
          </a:xfrm>
          <a:prstGeom prst="rect">
            <a:avLst/>
          </a:prstGeom>
          <a:noFill/>
          <a:ln/>
        </p:spPr>
        <p:txBody>
          <a:bodyPr wrap="square" lIns="0" tIns="0" rIns="0" bIns="0" rtlCol="0" anchor="ctr"/>
          <a:lstStyle/>
          <a:p>
            <a:pPr algn="r" indent="0" marL="0">
              <a:buNone/>
            </a:pPr>
            <a:r>
              <a:rPr lang="en-US" sz="1200" b="1" dirty="0">
                <a:solidFill>
                  <a:srgbClr val="034694"/>
                </a:solidFill>
                <a:latin typeface="Century Gothic" pitchFamily="34" charset="0"/>
                <a:ea typeface="Century Gothic" pitchFamily="34" charset="-122"/>
                <a:cs typeface="Century Gothic" pitchFamily="34" charset="-120"/>
              </a:rPr>
              <a:t>12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Audit Data Strategy 2027–2029</dc:title>
  <dc:subject>Three-year data strategy covering AI transformation</dc:subject>
  <dc:creator>Audit Analytics and Insights</dc:creator>
  <cp:lastModifiedBy>Audit Analytics and Insights</cp:lastModifiedBy>
  <cp:revision>1</cp:revision>
  <dcterms:created xsi:type="dcterms:W3CDTF">2026-08-28T16:07:46Z</dcterms:created>
  <dcterms:modified xsi:type="dcterms:W3CDTF">2026-08-28T16:07:46Z</dcterms:modified>
</cp:coreProperties>
</file>