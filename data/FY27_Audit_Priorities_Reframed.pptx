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message: FY27 is not three independent workstreams. The priority is process transformation across CRM, annual risk assessment and audit planning, and senior management reporting. We want those processes redesigned around a connected information flow so monitoring intelligence is reused in planning and, together with plan execution and audit outcomes, produces a clearer management narrative. The operating-performance framework and analytics capability are enabling disciplines: one gives transparent resource, cost and performance decision-making, and the other ensures analytics and AI are focused on material FY27 assurance risks. Prove outcomes in full-cycle effort, traceability, reporting effectiveness, risk coverage and quality. Avoid assuming a direct CRM-to-reporting pipeline is sufficient: actual audit results must also feed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12B45"/>
          </a:solidFill>
          <a:ln w="12700">
            <a:solidFill>
              <a:srgbClr val="112B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56616"/>
            <a:ext cx="82296" cy="658368"/>
          </a:xfrm>
          <a:prstGeom prst="rect">
            <a:avLst/>
          </a:prstGeom>
          <a:solidFill>
            <a:srgbClr val="D8AE57"/>
          </a:solidFill>
          <a:ln w="12700">
            <a:solidFill>
              <a:srgbClr val="D8AE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176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 STRATEGIC PRIORITIES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" y="5852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how Audit operates. Strengthen how Audit assures.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8096" y="11338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50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transformation is the centrepiece; operational discipline and analytics convert redesign into measurable assurance value.</a:t>
            </a:r>
            <a:endParaRPr lang="en-US" sz="137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11128248" cy="2615184"/>
          </a:xfrm>
          <a:prstGeom prst="roundRect">
            <a:avLst>
              <a:gd name="adj" fmla="val 4545"/>
            </a:avLst>
          </a:prstGeom>
          <a:solidFill>
            <a:srgbClr val="F0F6FB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737360"/>
            <a:ext cx="68580" cy="2615184"/>
          </a:xfrm>
          <a:prstGeom prst="rect">
            <a:avLst/>
          </a:prstGeom>
          <a:solidFill>
            <a:srgbClr val="1761A0"/>
          </a:solidFill>
          <a:ln w="12700">
            <a:solidFill>
              <a:srgbClr val="1761A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019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spc="70" kern="0" dirty="0">
                <a:solidFill>
                  <a:srgbClr val="176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PROCESS TRANSFORMATION  /  PRIMARY FY27 PRIORITY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04672" y="2194560"/>
            <a:ext cx="10378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risk sensing, planning and reporting into one simpler decision flow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32104" y="2734056"/>
            <a:ext cx="3054096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" y="2734056"/>
            <a:ext cx="3054096" cy="68580"/>
          </a:xfrm>
          <a:prstGeom prst="rect">
            <a:avLst/>
          </a:prstGeom>
          <a:solidFill>
            <a:srgbClr val="1761A0"/>
          </a:solidFill>
          <a:ln w="12700">
            <a:solidFill>
              <a:srgbClr val="1761A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871216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risk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8408" y="3328416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50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changing risk earlier; remove repetitive monitoring effort.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4581144" y="2734056"/>
            <a:ext cx="3054096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2734056"/>
            <a:ext cx="3054096" cy="68580"/>
          </a:xfrm>
          <a:prstGeom prst="rect">
            <a:avLst/>
          </a:prstGeom>
          <a:solidFill>
            <a:srgbClr val="1979BE"/>
          </a:solidFill>
          <a:ln w="12700">
            <a:solidFill>
              <a:srgbClr val="1979B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2871216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risk assessment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audit planning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27448" y="3328416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50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risk insight into a focused, defensible audit plan.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8321040" y="2734056"/>
            <a:ext cx="3054096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734056"/>
            <a:ext cx="3054096" cy="68580"/>
          </a:xfrm>
          <a:prstGeom prst="rect">
            <a:avLst/>
          </a:prstGeom>
          <a:solidFill>
            <a:srgbClr val="4DAACD"/>
          </a:solidFill>
          <a:ln w="12700">
            <a:solidFill>
              <a:srgbClr val="4DAAC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2871216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management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67344" y="3328416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50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clear, consistent insight on risk, delivery and assurance.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4114800" y="3172968"/>
            <a:ext cx="246888" cy="256032"/>
          </a:xfrm>
          <a:prstGeom prst="chevron">
            <a:avLst/>
          </a:prstGeom>
          <a:solidFill>
            <a:srgbClr val="1761A0"/>
          </a:solidFill>
          <a:ln w="12700">
            <a:solidFill>
              <a:srgbClr val="1761A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172968"/>
            <a:ext cx="246888" cy="256032"/>
          </a:xfrm>
          <a:prstGeom prst="chevron">
            <a:avLst/>
          </a:prstGeom>
          <a:solidFill>
            <a:srgbClr val="1761A0"/>
          </a:solidFill>
          <a:ln w="12700">
            <a:solidFill>
              <a:srgbClr val="1761A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4005072"/>
            <a:ext cx="10497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0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risk information     •     Clear ownership and handoffs     •     AI-enabled where proven     •     Professional judgement retained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557784" y="45811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68" kern="0" dirty="0">
                <a:solidFill>
                  <a:srgbClr val="176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THAT MAKE THE TRANSFORMATION DELIVER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5449824" cy="1069848"/>
          </a:xfrm>
          <a:prstGeom prst="roundRect">
            <a:avLst>
              <a:gd name="adj" fmla="val 8547"/>
            </a:avLst>
          </a:prstGeom>
          <a:solidFill>
            <a:srgbClr val="F8FBFD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4892040"/>
            <a:ext cx="5468112" cy="1069848"/>
          </a:xfrm>
          <a:prstGeom prst="roundRect">
            <a:avLst>
              <a:gd name="adj" fmla="val 8547"/>
            </a:avLst>
          </a:prstGeom>
          <a:solidFill>
            <a:srgbClr val="F8FBFD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892040"/>
            <a:ext cx="66751" cy="1069848"/>
          </a:xfrm>
          <a:prstGeom prst="rect">
            <a:avLst/>
          </a:prstGeom>
          <a:solidFill>
            <a:srgbClr val="D8AE57"/>
          </a:solidFill>
          <a:ln w="12700">
            <a:solidFill>
              <a:srgbClr val="D8AE5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4892040"/>
            <a:ext cx="66751" cy="1069848"/>
          </a:xfrm>
          <a:prstGeom prst="rect">
            <a:avLst/>
          </a:prstGeom>
          <a:solidFill>
            <a:srgbClr val="D8AE57"/>
          </a:solidFill>
          <a:ln w="12700">
            <a:solidFill>
              <a:srgbClr val="D8AE5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50017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spc="50" kern="0" dirty="0">
                <a:solidFill>
                  <a:srgbClr val="176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OPERATIONAL PERFORMANCE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68096" y="5221224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capacity, cost and performance as one system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768096" y="5504688"/>
            <a:ext cx="5001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5" dirty="0">
                <a:solidFill>
                  <a:srgbClr val="50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Department-wide resource framework, decision-grade KPIs and clear accountability across Audit and the COO group.</a:t>
            </a:r>
            <a:endParaRPr lang="en-US" sz="1145" dirty="0"/>
          </a:p>
        </p:txBody>
      </p:sp>
      <p:sp>
        <p:nvSpPr>
          <p:cNvPr id="34" name="Text 32"/>
          <p:cNvSpPr/>
          <p:nvPr/>
        </p:nvSpPr>
        <p:spPr>
          <a:xfrm>
            <a:off x="6391656" y="50017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spc="50" kern="0" dirty="0">
                <a:solidFill>
                  <a:srgbClr val="176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AUDIT ANALYTICS &amp; AI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391656" y="522122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1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analytics to the most material assurance risks</a:t>
            </a:r>
            <a:endParaRPr lang="en-US" sz="1440" dirty="0"/>
          </a:p>
        </p:txBody>
      </p:sp>
      <p:sp>
        <p:nvSpPr>
          <p:cNvPr id="36" name="Text 34"/>
          <p:cNvSpPr/>
          <p:nvPr/>
        </p:nvSpPr>
        <p:spPr>
          <a:xfrm>
            <a:off x="6391656" y="5504688"/>
            <a:ext cx="5001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5" dirty="0">
                <a:solidFill>
                  <a:srgbClr val="50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FY27 plan coverage, testing depth and evidence quality; demonstrate assurance impact beyond tool use.</a:t>
            </a:r>
            <a:endParaRPr lang="en-US" sz="1145" dirty="0"/>
          </a:p>
        </p:txBody>
      </p:sp>
      <p:sp>
        <p:nvSpPr>
          <p:cNvPr id="37" name="Shape 35"/>
          <p:cNvSpPr/>
          <p:nvPr/>
        </p:nvSpPr>
        <p:spPr>
          <a:xfrm>
            <a:off x="548640" y="6190488"/>
            <a:ext cx="11091672" cy="0"/>
          </a:xfrm>
          <a:prstGeom prst="line">
            <a:avLst/>
          </a:prstGeom>
          <a:noFill/>
          <a:ln w="12700">
            <a:solidFill>
              <a:srgbClr val="D3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63459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spc="40" kern="0" dirty="0">
                <a:solidFill>
                  <a:srgbClr val="176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 PROOF OF PROGRESS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2898648" y="6327648"/>
            <a:ext cx="8723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5" dirty="0">
                <a:solidFill>
                  <a:srgbClr val="183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total effort and rework   •   Traceable risk-to-plan choices   •   Faster management insight   •   Stronger risk-led coverage</a:t>
            </a:r>
            <a:endParaRPr lang="en-US" sz="110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Audit Operating Model Priorities</dc:title>
  <dc:subject>FY27 Internal Audit priorities - process transformation, operational performance, audit analytics</dc:subject>
  <dc:creator>OpenAI</dc:creator>
  <cp:lastModifiedBy>OpenAI</cp:lastModifiedBy>
  <cp:revision>1</cp:revision>
  <dcterms:created xsi:type="dcterms:W3CDTF">2026-10-21T18:49:21Z</dcterms:created>
  <dcterms:modified xsi:type="dcterms:W3CDTF">2026-10-21T18:49:21Z</dcterms:modified>
</cp:coreProperties>
</file>