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opening (30 seconds): The priorities are not four project deliveries and they are not an AI deployment plan. Our strategic intent is to change what Audit knows, how it works, and how it manages performance. The FY27 releases are the first proofs of that model.
Strategic choices:
1. Risk-led coverage: use CRM and planning as one risk-to-coverage decision chain, supported by progressive enterprise universe alignment and risk analytics. Do not make a full universe rebuild a prerequisite; define the minimum mapping needed for an end-to-end pilot. Auditors retain judgement over materiality, scope and reliance.
2. Connected delivery: remove non-value-added work, repeated evidence gathering and hand-offs before automating. Reuse records with source/provenance and suitability checks. Agent roles should be bounded; human reviewers must substantively challenge conclusions. QA is embedded through the process, not merely an end-of-pipeline review.
3. Performance and stewardship: do not equate fewer hours with improved assurance. Baseline and measure end-to-end effort (including review, rework and shifted work), cycle time, coverage, QA escape defects and risks, cost and redeployed capacity. A strong AI usage metric measures controlled, useful deployment, not number of prompts or agents.
Discussion / decisions to seek:
• Is the ambition compelling enough to reallocate scarce investment and stop lower-value work? Which outcomes deserve priority?
• Which approval, hand-off and evidence activities will executives sponsor removing or standardising? Which requirements are confirmed policy/regulatory obligations versus legacy preference?
• Will leaders appoint process owners across CRM → planning → delivery → reporting, rather than optimise their portions?
• Which connected FY27 pilot and baseline will demonstrate faster decisions, better risk coverage, maintained quality and lower net cost?
• Which governed agent tasks should be trialled; which decisions explicitly remain human?
Assurance caveat: This is a proposed FY27 strategic frame, not an approved RBC target operating model, policy position, pilot scope, realised benefit estimate or assurance benchmark. Preserve independence and authorised decision rights.
This slide draws on the existing proposed Audit North Star workshop deck and prior FY27 strategic priorities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975104"/>
          </a:xfrm>
          <a:prstGeom prst="rect">
            <a:avLst/>
          </a:prstGeom>
          <a:solidFill>
            <a:srgbClr val="061F42"/>
          </a:solidFill>
          <a:ln w="12700">
            <a:solidFill>
              <a:srgbClr val="061F42">
                <a:alpha val="0"/>
              </a:srgbClr>
            </a:solidFill>
            <a:prstDash val="solid"/>
          </a:ln>
        </p:spPr>
      </p:sp>
      <p:sp>
        <p:nvSpPr>
          <p:cNvPr id="3" name="Shape 1"/>
          <p:cNvSpPr/>
          <p:nvPr/>
        </p:nvSpPr>
        <p:spPr>
          <a:xfrm>
            <a:off x="0" y="0"/>
            <a:ext cx="109728" cy="1975104"/>
          </a:xfrm>
          <a:prstGeom prst="rect">
            <a:avLst/>
          </a:prstGeom>
          <a:solidFill>
            <a:srgbClr val="0A8987"/>
          </a:solidFill>
          <a:ln w="12700">
            <a:solidFill>
              <a:srgbClr val="0A8987">
                <a:alpha val="0"/>
              </a:srgbClr>
            </a:solidFill>
            <a:prstDash val="solid"/>
          </a:ln>
        </p:spPr>
      </p:sp>
      <p:sp>
        <p:nvSpPr>
          <p:cNvPr id="4" name="Text 2"/>
          <p:cNvSpPr/>
          <p:nvPr/>
        </p:nvSpPr>
        <p:spPr>
          <a:xfrm>
            <a:off x="530352" y="246888"/>
            <a:ext cx="9144000" cy="201168"/>
          </a:xfrm>
          <a:prstGeom prst="rect">
            <a:avLst/>
          </a:prstGeom>
          <a:noFill/>
          <a:ln/>
        </p:spPr>
        <p:txBody>
          <a:bodyPr wrap="square" lIns="0" tIns="0" rIns="0" bIns="0" rtlCol="0" anchor="ctr">
            <a:normAutofit/>
          </a:bodyPr>
          <a:lstStyle/>
          <a:p>
            <a:pPr indent="0" marL="0">
              <a:buNone/>
            </a:pPr>
            <a:r>
              <a:rPr lang="en-US" sz="1000" b="1" spc="190" kern="0" dirty="0">
                <a:solidFill>
                  <a:srgbClr val="77C5C2"/>
                </a:solidFill>
                <a:latin typeface="Aptos" pitchFamily="34" charset="0"/>
                <a:ea typeface="Aptos" pitchFamily="34" charset="-122"/>
                <a:cs typeface="Aptos" pitchFamily="34" charset="-120"/>
              </a:rPr>
              <a:t>FY27 STRATEGIC AGENDA  /  PROPOSED</a:t>
            </a:r>
            <a:endParaRPr lang="en-US" sz="1000" dirty="0"/>
          </a:p>
        </p:txBody>
      </p:sp>
      <p:sp>
        <p:nvSpPr>
          <p:cNvPr id="5" name="Text 3"/>
          <p:cNvSpPr/>
          <p:nvPr/>
        </p:nvSpPr>
        <p:spPr>
          <a:xfrm>
            <a:off x="530352" y="594360"/>
            <a:ext cx="11045952" cy="475488"/>
          </a:xfrm>
          <a:prstGeom prst="rect">
            <a:avLst/>
          </a:prstGeom>
          <a:noFill/>
          <a:ln/>
        </p:spPr>
        <p:txBody>
          <a:bodyPr wrap="square" lIns="0" tIns="0" rIns="0" bIns="0" rtlCol="0" anchor="ctr">
            <a:normAutofit/>
          </a:bodyPr>
          <a:lstStyle/>
          <a:p>
            <a:pPr indent="0" marL="0">
              <a:buNone/>
            </a:pPr>
            <a:r>
              <a:rPr lang="en-US" sz="2520" b="1" dirty="0">
                <a:solidFill>
                  <a:srgbClr val="FFFFFF"/>
                </a:solidFill>
                <a:latin typeface="Aptos" pitchFamily="34" charset="0"/>
                <a:ea typeface="Aptos" pitchFamily="34" charset="-122"/>
                <a:cs typeface="Aptos" pitchFamily="34" charset="-120"/>
              </a:rPr>
              <a:t>Transform the audit operating model — not just individual processes</a:t>
            </a:r>
            <a:endParaRPr lang="en-US" sz="2520" dirty="0"/>
          </a:p>
        </p:txBody>
      </p:sp>
      <p:sp>
        <p:nvSpPr>
          <p:cNvPr id="6" name="Text 4"/>
          <p:cNvSpPr/>
          <p:nvPr/>
        </p:nvSpPr>
        <p:spPr>
          <a:xfrm>
            <a:off x="530352" y="1234440"/>
            <a:ext cx="11109960" cy="420624"/>
          </a:xfrm>
          <a:prstGeom prst="rect">
            <a:avLst/>
          </a:prstGeom>
          <a:noFill/>
          <a:ln/>
        </p:spPr>
        <p:txBody>
          <a:bodyPr wrap="square" lIns="0" tIns="0" rIns="0" bIns="0" rtlCol="0" anchor="t">
            <a:normAutofit/>
          </a:bodyPr>
          <a:lstStyle/>
          <a:p>
            <a:pPr indent="0" marL="0">
              <a:buNone/>
            </a:pPr>
            <a:r>
              <a:rPr lang="en-US" sz="1400" dirty="0">
                <a:solidFill>
                  <a:srgbClr val="E8F2FC"/>
                </a:solidFill>
                <a:latin typeface="Aptos" pitchFamily="34" charset="0"/>
                <a:ea typeface="Aptos" pitchFamily="34" charset="-122"/>
                <a:cs typeface="Aptos" pitchFamily="34" charset="-120"/>
              </a:rPr>
              <a:t>NORTH STAR   Timelier, risk-responsive and defensible assurance through connected evidence, redesigned workflows and governed AI — with human judgement at the centre.</a:t>
            </a:r>
            <a:endParaRPr lang="en-US" sz="1400" dirty="0"/>
          </a:p>
        </p:txBody>
      </p:sp>
      <p:sp>
        <p:nvSpPr>
          <p:cNvPr id="7" name="Shape 5"/>
          <p:cNvSpPr/>
          <p:nvPr/>
        </p:nvSpPr>
        <p:spPr>
          <a:xfrm>
            <a:off x="521208" y="2167128"/>
            <a:ext cx="3575304" cy="3547872"/>
          </a:xfrm>
          <a:prstGeom prst="roundRect">
            <a:avLst>
              <a:gd name="adj" fmla="val 2577"/>
            </a:avLst>
          </a:prstGeom>
          <a:solidFill>
            <a:srgbClr val="FFFFFF"/>
          </a:solidFill>
          <a:ln w="9525">
            <a:solidFill>
              <a:srgbClr val="CFDBE8"/>
            </a:solidFill>
            <a:prstDash val="solid"/>
          </a:ln>
          <a:effectLst>
            <a:outerShdw sx="100000" sy="100000" kx="0" ky="0" algn="bl" rotWithShape="0" blurRad="12700" dist="50800" dir="2700000">
              <a:srgbClr val="123456">
                <a:alpha val="10000"/>
              </a:srgbClr>
            </a:outerShdw>
          </a:effectLst>
        </p:spPr>
      </p:sp>
      <p:sp>
        <p:nvSpPr>
          <p:cNvPr id="8" name="Shape 6"/>
          <p:cNvSpPr/>
          <p:nvPr/>
        </p:nvSpPr>
        <p:spPr>
          <a:xfrm>
            <a:off x="521208" y="2167128"/>
            <a:ext cx="59436" cy="3547872"/>
          </a:xfrm>
          <a:prstGeom prst="rect">
            <a:avLst/>
          </a:prstGeom>
          <a:solidFill>
            <a:srgbClr val="0A8987"/>
          </a:solidFill>
          <a:ln w="12700">
            <a:solidFill>
              <a:srgbClr val="0A8987">
                <a:alpha val="0"/>
              </a:srgbClr>
            </a:solidFill>
            <a:prstDash val="solid"/>
          </a:ln>
        </p:spPr>
      </p:sp>
      <p:sp>
        <p:nvSpPr>
          <p:cNvPr id="9" name="Text 7"/>
          <p:cNvSpPr/>
          <p:nvPr/>
        </p:nvSpPr>
        <p:spPr>
          <a:xfrm>
            <a:off x="722376" y="2368296"/>
            <a:ext cx="384048" cy="256032"/>
          </a:xfrm>
          <a:prstGeom prst="rect">
            <a:avLst/>
          </a:prstGeom>
          <a:noFill/>
          <a:ln/>
        </p:spPr>
        <p:txBody>
          <a:bodyPr wrap="square" lIns="0" tIns="0" rIns="0" bIns="0" rtlCol="0" anchor="ctr">
            <a:normAutofit/>
          </a:bodyPr>
          <a:lstStyle/>
          <a:p>
            <a:pPr indent="0" marL="0">
              <a:buNone/>
            </a:pPr>
            <a:r>
              <a:rPr lang="en-US" sz="1920" b="1" dirty="0">
                <a:solidFill>
                  <a:srgbClr val="0A8987"/>
                </a:solidFill>
                <a:latin typeface="Aptos" pitchFamily="34" charset="0"/>
                <a:ea typeface="Aptos" pitchFamily="34" charset="-122"/>
                <a:cs typeface="Aptos" pitchFamily="34" charset="-120"/>
              </a:rPr>
              <a:t>01</a:t>
            </a:r>
            <a:endParaRPr lang="en-US" sz="1920" dirty="0"/>
          </a:p>
        </p:txBody>
      </p:sp>
      <p:sp>
        <p:nvSpPr>
          <p:cNvPr id="10" name="Text 8"/>
          <p:cNvSpPr/>
          <p:nvPr/>
        </p:nvSpPr>
        <p:spPr>
          <a:xfrm>
            <a:off x="1161288" y="2386584"/>
            <a:ext cx="2761488" cy="201168"/>
          </a:xfrm>
          <a:prstGeom prst="rect">
            <a:avLst/>
          </a:prstGeom>
          <a:noFill/>
          <a:ln/>
        </p:spPr>
        <p:txBody>
          <a:bodyPr wrap="square" lIns="0" tIns="0" rIns="0" bIns="0" rtlCol="0" anchor="ctr">
            <a:normAutofit/>
          </a:bodyPr>
          <a:lstStyle/>
          <a:p>
            <a:pPr indent="0" marL="0">
              <a:buNone/>
            </a:pPr>
            <a:r>
              <a:rPr lang="en-US" sz="1000" b="1" spc="100" kern="0" dirty="0">
                <a:solidFill>
                  <a:srgbClr val="155CB1"/>
                </a:solidFill>
                <a:latin typeface="Aptos" pitchFamily="34" charset="0"/>
                <a:ea typeface="Aptos" pitchFamily="34" charset="-122"/>
                <a:cs typeface="Aptos" pitchFamily="34" charset="-120"/>
              </a:rPr>
              <a:t>RISK-LED COVERAGE</a:t>
            </a:r>
            <a:endParaRPr lang="en-US" sz="1000" dirty="0"/>
          </a:p>
        </p:txBody>
      </p:sp>
      <p:sp>
        <p:nvSpPr>
          <p:cNvPr id="11" name="Text 9"/>
          <p:cNvSpPr/>
          <p:nvPr/>
        </p:nvSpPr>
        <p:spPr>
          <a:xfrm>
            <a:off x="722376" y="2770632"/>
            <a:ext cx="3172968" cy="621792"/>
          </a:xfrm>
          <a:prstGeom prst="rect">
            <a:avLst/>
          </a:prstGeom>
          <a:noFill/>
          <a:ln/>
        </p:spPr>
        <p:txBody>
          <a:bodyPr wrap="square" lIns="0" tIns="0" rIns="0" bIns="0" rtlCol="0" anchor="t">
            <a:normAutofit/>
          </a:bodyPr>
          <a:lstStyle/>
          <a:p>
            <a:pPr indent="0" marL="0">
              <a:buNone/>
            </a:pPr>
            <a:r>
              <a:rPr lang="en-US" sz="1725" b="1" dirty="0">
                <a:solidFill>
                  <a:srgbClr val="142B46"/>
                </a:solidFill>
                <a:latin typeface="Aptos" pitchFamily="34" charset="0"/>
                <a:ea typeface="Aptos" pitchFamily="34" charset="-122"/>
                <a:cs typeface="Aptos" pitchFamily="34" charset="-120"/>
              </a:rPr>
              <a:t>Make coverage responsive to material risk</a:t>
            </a:r>
            <a:endParaRPr lang="en-US" sz="1725" dirty="0"/>
          </a:p>
        </p:txBody>
      </p:sp>
      <p:sp>
        <p:nvSpPr>
          <p:cNvPr id="12" name="Text 10"/>
          <p:cNvSpPr/>
          <p:nvPr/>
        </p:nvSpPr>
        <p:spPr>
          <a:xfrm>
            <a:off x="722376" y="3483864"/>
            <a:ext cx="484632" cy="173736"/>
          </a:xfrm>
          <a:prstGeom prst="rect">
            <a:avLst/>
          </a:prstGeom>
          <a:noFill/>
          <a:ln/>
        </p:spPr>
        <p:txBody>
          <a:bodyPr wrap="square" lIns="0" tIns="0" rIns="0" bIns="0" rtlCol="0" anchor="ctr">
            <a:normAutofit/>
          </a:bodyPr>
          <a:lstStyle/>
          <a:p>
            <a:pPr indent="0" marL="0">
              <a:buNone/>
            </a:pPr>
            <a:r>
              <a:rPr lang="en-US" sz="960" b="1" dirty="0">
                <a:solidFill>
                  <a:srgbClr val="8B97A6"/>
                </a:solidFill>
                <a:latin typeface="Aptos" pitchFamily="34" charset="0"/>
                <a:ea typeface="Aptos" pitchFamily="34" charset="-122"/>
                <a:cs typeface="Aptos" pitchFamily="34" charset="-120"/>
              </a:rPr>
              <a:t>FROM</a:t>
            </a:r>
            <a:endParaRPr lang="en-US" sz="960" dirty="0"/>
          </a:p>
        </p:txBody>
      </p:sp>
      <p:sp>
        <p:nvSpPr>
          <p:cNvPr id="13" name="Text 11"/>
          <p:cNvSpPr/>
          <p:nvPr/>
        </p:nvSpPr>
        <p:spPr>
          <a:xfrm>
            <a:off x="1261872" y="3465576"/>
            <a:ext cx="2642616" cy="347472"/>
          </a:xfrm>
          <a:prstGeom prst="rect">
            <a:avLst/>
          </a:prstGeom>
          <a:noFill/>
          <a:ln/>
        </p:spPr>
        <p:txBody>
          <a:bodyPr wrap="square" lIns="0" tIns="0" rIns="0" bIns="0" rtlCol="0" anchor="t">
            <a:normAutofit/>
          </a:bodyPr>
          <a:lstStyle/>
          <a:p>
            <a:pPr indent="0" marL="0">
              <a:buNone/>
            </a:pPr>
            <a:r>
              <a:rPr lang="en-US" sz="1110" dirty="0">
                <a:solidFill>
                  <a:srgbClr val="526379"/>
                </a:solidFill>
                <a:latin typeface="Aptos" pitchFamily="34" charset="0"/>
                <a:ea typeface="Aptos" pitchFamily="34" charset="-122"/>
                <a:cs typeface="Aptos" pitchFamily="34" charset="-120"/>
              </a:rPr>
              <a:t>Periodic risk updates and relatively static planning</a:t>
            </a:r>
            <a:endParaRPr lang="en-US" sz="1110" dirty="0"/>
          </a:p>
        </p:txBody>
      </p:sp>
      <p:sp>
        <p:nvSpPr>
          <p:cNvPr id="14" name="Text 12"/>
          <p:cNvSpPr/>
          <p:nvPr/>
        </p:nvSpPr>
        <p:spPr>
          <a:xfrm>
            <a:off x="722376" y="3913632"/>
            <a:ext cx="484632" cy="173736"/>
          </a:xfrm>
          <a:prstGeom prst="rect">
            <a:avLst/>
          </a:prstGeom>
          <a:noFill/>
          <a:ln/>
        </p:spPr>
        <p:txBody>
          <a:bodyPr wrap="square" lIns="0" tIns="0" rIns="0" bIns="0" rtlCol="0" anchor="ctr">
            <a:normAutofit/>
          </a:bodyPr>
          <a:lstStyle/>
          <a:p>
            <a:pPr indent="0" marL="0">
              <a:buNone/>
            </a:pPr>
            <a:r>
              <a:rPr lang="en-US" sz="960" b="1" dirty="0">
                <a:solidFill>
                  <a:srgbClr val="0A8987"/>
                </a:solidFill>
                <a:latin typeface="Aptos" pitchFamily="34" charset="0"/>
                <a:ea typeface="Aptos" pitchFamily="34" charset="-122"/>
                <a:cs typeface="Aptos" pitchFamily="34" charset="-120"/>
              </a:rPr>
              <a:t>TO</a:t>
            </a:r>
            <a:endParaRPr lang="en-US" sz="960" dirty="0"/>
          </a:p>
        </p:txBody>
      </p:sp>
      <p:sp>
        <p:nvSpPr>
          <p:cNvPr id="15" name="Text 13"/>
          <p:cNvSpPr/>
          <p:nvPr/>
        </p:nvSpPr>
        <p:spPr>
          <a:xfrm>
            <a:off x="1261872" y="3886200"/>
            <a:ext cx="2642616" cy="384048"/>
          </a:xfrm>
          <a:prstGeom prst="rect">
            <a:avLst/>
          </a:prstGeom>
          <a:noFill/>
          <a:ln/>
        </p:spPr>
        <p:txBody>
          <a:bodyPr wrap="square" lIns="0" tIns="0" rIns="0" bIns="0" rtlCol="0" anchor="t">
            <a:normAutofit/>
          </a:bodyPr>
          <a:lstStyle/>
          <a:p>
            <a:pPr indent="0" marL="0">
              <a:buNone/>
            </a:pPr>
            <a:r>
              <a:rPr lang="en-US" sz="1110" b="1" dirty="0">
                <a:solidFill>
                  <a:srgbClr val="142B46"/>
                </a:solidFill>
                <a:latin typeface="Aptos" pitchFamily="34" charset="0"/>
                <a:ea typeface="Aptos" pitchFamily="34" charset="-122"/>
                <a:cs typeface="Aptos" pitchFamily="34" charset="-120"/>
              </a:rPr>
              <a:t>Connected intelligence informing coverage as risks change</a:t>
            </a:r>
            <a:endParaRPr lang="en-US" sz="1110" dirty="0"/>
          </a:p>
        </p:txBody>
      </p:sp>
      <p:sp>
        <p:nvSpPr>
          <p:cNvPr id="16" name="Shape 14"/>
          <p:cNvSpPr/>
          <p:nvPr/>
        </p:nvSpPr>
        <p:spPr>
          <a:xfrm>
            <a:off x="722376" y="4352544"/>
            <a:ext cx="3172968" cy="0"/>
          </a:xfrm>
          <a:prstGeom prst="line">
            <a:avLst/>
          </a:prstGeom>
          <a:noFill/>
          <a:ln w="8890">
            <a:solidFill>
              <a:srgbClr val="CFDBE8"/>
            </a:solidFill>
            <a:prstDash val="solid"/>
          </a:ln>
        </p:spPr>
      </p:sp>
      <p:sp>
        <p:nvSpPr>
          <p:cNvPr id="17" name="Text 15"/>
          <p:cNvSpPr/>
          <p:nvPr/>
        </p:nvSpPr>
        <p:spPr>
          <a:xfrm>
            <a:off x="722376" y="4462272"/>
            <a:ext cx="3172968" cy="164592"/>
          </a:xfrm>
          <a:prstGeom prst="rect">
            <a:avLst/>
          </a:prstGeom>
          <a:noFill/>
          <a:ln/>
        </p:spPr>
        <p:txBody>
          <a:bodyPr wrap="square" lIns="0" tIns="0" rIns="0" bIns="0" rtlCol="0" anchor="ctr">
            <a:normAutofit/>
          </a:bodyPr>
          <a:lstStyle/>
          <a:p>
            <a:pPr indent="0" marL="0">
              <a:buNone/>
            </a:pPr>
            <a:r>
              <a:rPr lang="en-US" sz="980" b="1" spc="70" kern="0" dirty="0">
                <a:solidFill>
                  <a:srgbClr val="155CB1"/>
                </a:solidFill>
                <a:latin typeface="Aptos" pitchFamily="34" charset="0"/>
                <a:ea typeface="Aptos" pitchFamily="34" charset="-122"/>
                <a:cs typeface="Aptos" pitchFamily="34" charset="-120"/>
              </a:rPr>
              <a:t>FY27 MOVES</a:t>
            </a:r>
            <a:endParaRPr lang="en-US" sz="980" dirty="0"/>
          </a:p>
        </p:txBody>
      </p:sp>
      <p:sp>
        <p:nvSpPr>
          <p:cNvPr id="18" name="Text 16"/>
          <p:cNvSpPr/>
          <p:nvPr/>
        </p:nvSpPr>
        <p:spPr>
          <a:xfrm>
            <a:off x="722376" y="4690872"/>
            <a:ext cx="3172968" cy="594360"/>
          </a:xfrm>
          <a:prstGeom prst="rect">
            <a:avLst/>
          </a:prstGeom>
          <a:noFill/>
          <a:ln/>
        </p:spPr>
        <p:txBody>
          <a:bodyPr wrap="square" lIns="0" tIns="0" rIns="0" bIns="0" rtlCol="0" anchor="t">
            <a:normAutofit/>
          </a:bodyPr>
          <a:lstStyle/>
          <a:p>
            <a:pPr indent="0" marL="0">
              <a:lnSpc>
                <a:spcPct val="105000"/>
              </a:lnSpc>
              <a:buNone/>
            </a:pPr>
            <a:r>
              <a:rPr lang="en-US" sz="1050" dirty="0">
                <a:solidFill>
                  <a:srgbClr val="142B46"/>
                </a:solidFill>
                <a:latin typeface="Aptos" pitchFamily="34" charset="0"/>
                <a:ea typeface="Aptos" pitchFamily="34" charset="-122"/>
                <a:cs typeface="Aptos" pitchFamily="34" charset="-120"/>
              </a:rPr>
              <a:t>• Link CRM, universe mapping and annual / engagement planning to material risk signals.</a:t>
            </a:r>
            <a:endParaRPr lang="en-US" sz="1050" dirty="0"/>
          </a:p>
          <a:p>
            <a:pPr indent="0" marL="0">
              <a:lnSpc>
                <a:spcPct val="105000"/>
              </a:lnSpc>
              <a:buNone/>
            </a:pPr>
            <a:r>
              <a:rPr lang="en-US" sz="1050" dirty="0">
                <a:solidFill>
                  <a:srgbClr val="142B46"/>
                </a:solidFill>
                <a:latin typeface="Aptos" pitchFamily="34" charset="0"/>
                <a:ea typeface="Aptos" pitchFamily="34" charset="-122"/>
                <a:cs typeface="Aptos" pitchFamily="34" charset="-120"/>
              </a:rPr>
              <a:t>• Use assurance analytics to surface exposures and coverage gaps.</a:t>
            </a:r>
            <a:endParaRPr lang="en-US" sz="1050" dirty="0"/>
          </a:p>
        </p:txBody>
      </p:sp>
      <p:sp>
        <p:nvSpPr>
          <p:cNvPr id="19" name="Shape 17"/>
          <p:cNvSpPr/>
          <p:nvPr/>
        </p:nvSpPr>
        <p:spPr>
          <a:xfrm>
            <a:off x="676656" y="5330952"/>
            <a:ext cx="3264408" cy="283464"/>
          </a:xfrm>
          <a:prstGeom prst="rect">
            <a:avLst/>
          </a:prstGeom>
          <a:solidFill>
            <a:srgbClr val="F0F7F9"/>
          </a:solidFill>
          <a:ln w="12700">
            <a:solidFill>
              <a:srgbClr val="F0F7F9">
                <a:alpha val="0"/>
              </a:srgbClr>
            </a:solidFill>
            <a:prstDash val="solid"/>
          </a:ln>
        </p:spPr>
      </p:sp>
      <p:sp>
        <p:nvSpPr>
          <p:cNvPr id="20" name="Text 18"/>
          <p:cNvSpPr/>
          <p:nvPr/>
        </p:nvSpPr>
        <p:spPr>
          <a:xfrm>
            <a:off x="758952" y="5385816"/>
            <a:ext cx="3099816" cy="137160"/>
          </a:xfrm>
          <a:prstGeom prst="rect">
            <a:avLst/>
          </a:prstGeom>
          <a:noFill/>
          <a:ln/>
        </p:spPr>
        <p:txBody>
          <a:bodyPr wrap="square" lIns="0" tIns="0" rIns="0" bIns="0" rtlCol="0" anchor="ctr">
            <a:normAutofit/>
          </a:bodyPr>
          <a:lstStyle/>
          <a:p>
            <a:pPr indent="0" marL="0">
              <a:buNone/>
            </a:pPr>
            <a:r>
              <a:rPr lang="en-US" sz="920" b="1" dirty="0">
                <a:solidFill>
                  <a:srgbClr val="092850"/>
                </a:solidFill>
                <a:latin typeface="Aptos" pitchFamily="34" charset="0"/>
                <a:ea typeface="Aptos" pitchFamily="34" charset="-122"/>
                <a:cs typeface="Aptos" pitchFamily="34" charset="-120"/>
              </a:rPr>
              <a:t>PROOF  Risk signal → decision time  ·  High-risk coverage</a:t>
            </a:r>
            <a:endParaRPr lang="en-US" sz="920" dirty="0"/>
          </a:p>
        </p:txBody>
      </p:sp>
      <p:sp>
        <p:nvSpPr>
          <p:cNvPr id="21" name="Shape 19"/>
          <p:cNvSpPr/>
          <p:nvPr/>
        </p:nvSpPr>
        <p:spPr>
          <a:xfrm>
            <a:off x="4315968" y="2167128"/>
            <a:ext cx="3575304" cy="3547872"/>
          </a:xfrm>
          <a:prstGeom prst="roundRect">
            <a:avLst>
              <a:gd name="adj" fmla="val 2577"/>
            </a:avLst>
          </a:prstGeom>
          <a:solidFill>
            <a:srgbClr val="FFFFFF"/>
          </a:solidFill>
          <a:ln w="9525">
            <a:solidFill>
              <a:srgbClr val="CFDBE8"/>
            </a:solidFill>
            <a:prstDash val="solid"/>
          </a:ln>
          <a:effectLst>
            <a:outerShdw sx="100000" sy="100000" kx="0" ky="0" algn="bl" rotWithShape="0" blurRad="12700" dist="50800" dir="2700000">
              <a:srgbClr val="123456">
                <a:alpha val="10000"/>
              </a:srgbClr>
            </a:outerShdw>
          </a:effectLst>
        </p:spPr>
      </p:sp>
      <p:sp>
        <p:nvSpPr>
          <p:cNvPr id="22" name="Shape 20"/>
          <p:cNvSpPr/>
          <p:nvPr/>
        </p:nvSpPr>
        <p:spPr>
          <a:xfrm>
            <a:off x="4315968" y="2167128"/>
            <a:ext cx="59436" cy="3547872"/>
          </a:xfrm>
          <a:prstGeom prst="rect">
            <a:avLst/>
          </a:prstGeom>
          <a:solidFill>
            <a:srgbClr val="155CB1"/>
          </a:solidFill>
          <a:ln w="12700">
            <a:solidFill>
              <a:srgbClr val="155CB1">
                <a:alpha val="0"/>
              </a:srgbClr>
            </a:solidFill>
            <a:prstDash val="solid"/>
          </a:ln>
        </p:spPr>
      </p:sp>
      <p:sp>
        <p:nvSpPr>
          <p:cNvPr id="23" name="Text 21"/>
          <p:cNvSpPr/>
          <p:nvPr/>
        </p:nvSpPr>
        <p:spPr>
          <a:xfrm>
            <a:off x="4517136" y="2368296"/>
            <a:ext cx="384048" cy="256032"/>
          </a:xfrm>
          <a:prstGeom prst="rect">
            <a:avLst/>
          </a:prstGeom>
          <a:noFill/>
          <a:ln/>
        </p:spPr>
        <p:txBody>
          <a:bodyPr wrap="square" lIns="0" tIns="0" rIns="0" bIns="0" rtlCol="0" anchor="ctr">
            <a:normAutofit/>
          </a:bodyPr>
          <a:lstStyle/>
          <a:p>
            <a:pPr indent="0" marL="0">
              <a:buNone/>
            </a:pPr>
            <a:r>
              <a:rPr lang="en-US" sz="1920" b="1" dirty="0">
                <a:solidFill>
                  <a:srgbClr val="155CB1"/>
                </a:solidFill>
                <a:latin typeface="Aptos" pitchFamily="34" charset="0"/>
                <a:ea typeface="Aptos" pitchFamily="34" charset="-122"/>
                <a:cs typeface="Aptos" pitchFamily="34" charset="-120"/>
              </a:rPr>
              <a:t>02</a:t>
            </a:r>
            <a:endParaRPr lang="en-US" sz="1920" dirty="0"/>
          </a:p>
        </p:txBody>
      </p:sp>
      <p:sp>
        <p:nvSpPr>
          <p:cNvPr id="24" name="Text 22"/>
          <p:cNvSpPr/>
          <p:nvPr/>
        </p:nvSpPr>
        <p:spPr>
          <a:xfrm>
            <a:off x="4956048" y="2386584"/>
            <a:ext cx="2761488" cy="201168"/>
          </a:xfrm>
          <a:prstGeom prst="rect">
            <a:avLst/>
          </a:prstGeom>
          <a:noFill/>
          <a:ln/>
        </p:spPr>
        <p:txBody>
          <a:bodyPr wrap="square" lIns="0" tIns="0" rIns="0" bIns="0" rtlCol="0" anchor="ctr">
            <a:normAutofit/>
          </a:bodyPr>
          <a:lstStyle/>
          <a:p>
            <a:pPr indent="0" marL="0">
              <a:buNone/>
            </a:pPr>
            <a:r>
              <a:rPr lang="en-US" sz="1000" b="1" spc="100" kern="0" dirty="0">
                <a:solidFill>
                  <a:srgbClr val="155CB1"/>
                </a:solidFill>
                <a:latin typeface="Aptos" pitchFamily="34" charset="0"/>
                <a:ea typeface="Aptos" pitchFamily="34" charset="-122"/>
                <a:cs typeface="Aptos" pitchFamily="34" charset="-120"/>
              </a:rPr>
              <a:t>CONNECTED ASSURANCE DELIVERY</a:t>
            </a:r>
            <a:endParaRPr lang="en-US" sz="1000" dirty="0"/>
          </a:p>
        </p:txBody>
      </p:sp>
      <p:sp>
        <p:nvSpPr>
          <p:cNvPr id="25" name="Text 23"/>
          <p:cNvSpPr/>
          <p:nvPr/>
        </p:nvSpPr>
        <p:spPr>
          <a:xfrm>
            <a:off x="4517136" y="2770632"/>
            <a:ext cx="3172968" cy="621792"/>
          </a:xfrm>
          <a:prstGeom prst="rect">
            <a:avLst/>
          </a:prstGeom>
          <a:noFill/>
          <a:ln/>
        </p:spPr>
        <p:txBody>
          <a:bodyPr wrap="square" lIns="0" tIns="0" rIns="0" bIns="0" rtlCol="0" anchor="t">
            <a:normAutofit/>
          </a:bodyPr>
          <a:lstStyle/>
          <a:p>
            <a:pPr indent="0" marL="0">
              <a:buNone/>
            </a:pPr>
            <a:r>
              <a:rPr lang="en-US" sz="1725" b="1" dirty="0">
                <a:solidFill>
                  <a:srgbClr val="142B46"/>
                </a:solidFill>
                <a:latin typeface="Aptos" pitchFamily="34" charset="0"/>
                <a:ea typeface="Aptos" pitchFamily="34" charset="-122"/>
                <a:cs typeface="Aptos" pitchFamily="34" charset="-120"/>
              </a:rPr>
              <a:t>Rebuild delivery around evidence and judgement</a:t>
            </a:r>
            <a:endParaRPr lang="en-US" sz="1725" dirty="0"/>
          </a:p>
        </p:txBody>
      </p:sp>
      <p:sp>
        <p:nvSpPr>
          <p:cNvPr id="26" name="Text 24"/>
          <p:cNvSpPr/>
          <p:nvPr/>
        </p:nvSpPr>
        <p:spPr>
          <a:xfrm>
            <a:off x="4517136" y="3483864"/>
            <a:ext cx="484632" cy="173736"/>
          </a:xfrm>
          <a:prstGeom prst="rect">
            <a:avLst/>
          </a:prstGeom>
          <a:noFill/>
          <a:ln/>
        </p:spPr>
        <p:txBody>
          <a:bodyPr wrap="square" lIns="0" tIns="0" rIns="0" bIns="0" rtlCol="0" anchor="ctr">
            <a:normAutofit/>
          </a:bodyPr>
          <a:lstStyle/>
          <a:p>
            <a:pPr indent="0" marL="0">
              <a:buNone/>
            </a:pPr>
            <a:r>
              <a:rPr lang="en-US" sz="960" b="1" dirty="0">
                <a:solidFill>
                  <a:srgbClr val="8B97A6"/>
                </a:solidFill>
                <a:latin typeface="Aptos" pitchFamily="34" charset="0"/>
                <a:ea typeface="Aptos" pitchFamily="34" charset="-122"/>
                <a:cs typeface="Aptos" pitchFamily="34" charset="-120"/>
              </a:rPr>
              <a:t>FROM</a:t>
            </a:r>
            <a:endParaRPr lang="en-US" sz="960" dirty="0"/>
          </a:p>
        </p:txBody>
      </p:sp>
      <p:sp>
        <p:nvSpPr>
          <p:cNvPr id="27" name="Text 25"/>
          <p:cNvSpPr/>
          <p:nvPr/>
        </p:nvSpPr>
        <p:spPr>
          <a:xfrm>
            <a:off x="5056632" y="3465576"/>
            <a:ext cx="2642616" cy="347472"/>
          </a:xfrm>
          <a:prstGeom prst="rect">
            <a:avLst/>
          </a:prstGeom>
          <a:noFill/>
          <a:ln/>
        </p:spPr>
        <p:txBody>
          <a:bodyPr wrap="square" lIns="0" tIns="0" rIns="0" bIns="0" rtlCol="0" anchor="t">
            <a:normAutofit/>
          </a:bodyPr>
          <a:lstStyle/>
          <a:p>
            <a:pPr indent="0" marL="0">
              <a:buNone/>
            </a:pPr>
            <a:r>
              <a:rPr lang="en-US" sz="1110" dirty="0">
                <a:solidFill>
                  <a:srgbClr val="526379"/>
                </a:solidFill>
                <a:latin typeface="Aptos" pitchFamily="34" charset="0"/>
                <a:ea typeface="Aptos" pitchFamily="34" charset="-122"/>
                <a:cs typeface="Aptos" pitchFamily="34" charset="-120"/>
              </a:rPr>
              <a:t>Disconnected artefacts, repeated hand-offs and late QA</a:t>
            </a:r>
            <a:endParaRPr lang="en-US" sz="1110" dirty="0"/>
          </a:p>
        </p:txBody>
      </p:sp>
      <p:sp>
        <p:nvSpPr>
          <p:cNvPr id="28" name="Text 26"/>
          <p:cNvSpPr/>
          <p:nvPr/>
        </p:nvSpPr>
        <p:spPr>
          <a:xfrm>
            <a:off x="4517136" y="3913632"/>
            <a:ext cx="484632" cy="173736"/>
          </a:xfrm>
          <a:prstGeom prst="rect">
            <a:avLst/>
          </a:prstGeom>
          <a:noFill/>
          <a:ln/>
        </p:spPr>
        <p:txBody>
          <a:bodyPr wrap="square" lIns="0" tIns="0" rIns="0" bIns="0" rtlCol="0" anchor="ctr">
            <a:normAutofit/>
          </a:bodyPr>
          <a:lstStyle/>
          <a:p>
            <a:pPr indent="0" marL="0">
              <a:buNone/>
            </a:pPr>
            <a:r>
              <a:rPr lang="en-US" sz="960" b="1" dirty="0">
                <a:solidFill>
                  <a:srgbClr val="0A8987"/>
                </a:solidFill>
                <a:latin typeface="Aptos" pitchFamily="34" charset="0"/>
                <a:ea typeface="Aptos" pitchFamily="34" charset="-122"/>
                <a:cs typeface="Aptos" pitchFamily="34" charset="-120"/>
              </a:rPr>
              <a:t>TO</a:t>
            </a:r>
            <a:endParaRPr lang="en-US" sz="960" dirty="0"/>
          </a:p>
        </p:txBody>
      </p:sp>
      <p:sp>
        <p:nvSpPr>
          <p:cNvPr id="29" name="Text 27"/>
          <p:cNvSpPr/>
          <p:nvPr/>
        </p:nvSpPr>
        <p:spPr>
          <a:xfrm>
            <a:off x="5056632" y="3886200"/>
            <a:ext cx="2642616" cy="384048"/>
          </a:xfrm>
          <a:prstGeom prst="rect">
            <a:avLst/>
          </a:prstGeom>
          <a:noFill/>
          <a:ln/>
        </p:spPr>
        <p:txBody>
          <a:bodyPr wrap="square" lIns="0" tIns="0" rIns="0" bIns="0" rtlCol="0" anchor="t">
            <a:normAutofit/>
          </a:bodyPr>
          <a:lstStyle/>
          <a:p>
            <a:pPr indent="0" marL="0">
              <a:buNone/>
            </a:pPr>
            <a:r>
              <a:rPr lang="en-US" sz="1110" b="1" dirty="0">
                <a:solidFill>
                  <a:srgbClr val="142B46"/>
                </a:solidFill>
                <a:latin typeface="Aptos" pitchFamily="34" charset="0"/>
                <a:ea typeface="Aptos" pitchFamily="34" charset="-122"/>
                <a:cs typeface="Aptos" pitchFamily="34" charset="-120"/>
              </a:rPr>
              <a:t>Evidence-traceable workflows with quality built in</a:t>
            </a:r>
            <a:endParaRPr lang="en-US" sz="1110" dirty="0"/>
          </a:p>
        </p:txBody>
      </p:sp>
      <p:sp>
        <p:nvSpPr>
          <p:cNvPr id="30" name="Shape 28"/>
          <p:cNvSpPr/>
          <p:nvPr/>
        </p:nvSpPr>
        <p:spPr>
          <a:xfrm>
            <a:off x="4517136" y="4352544"/>
            <a:ext cx="3172968" cy="0"/>
          </a:xfrm>
          <a:prstGeom prst="line">
            <a:avLst/>
          </a:prstGeom>
          <a:noFill/>
          <a:ln w="8890">
            <a:solidFill>
              <a:srgbClr val="CFDBE8"/>
            </a:solidFill>
            <a:prstDash val="solid"/>
          </a:ln>
        </p:spPr>
      </p:sp>
      <p:sp>
        <p:nvSpPr>
          <p:cNvPr id="31" name="Text 29"/>
          <p:cNvSpPr/>
          <p:nvPr/>
        </p:nvSpPr>
        <p:spPr>
          <a:xfrm>
            <a:off x="4517136" y="4462272"/>
            <a:ext cx="3172968" cy="164592"/>
          </a:xfrm>
          <a:prstGeom prst="rect">
            <a:avLst/>
          </a:prstGeom>
          <a:noFill/>
          <a:ln/>
        </p:spPr>
        <p:txBody>
          <a:bodyPr wrap="square" lIns="0" tIns="0" rIns="0" bIns="0" rtlCol="0" anchor="ctr">
            <a:normAutofit/>
          </a:bodyPr>
          <a:lstStyle/>
          <a:p>
            <a:pPr indent="0" marL="0">
              <a:buNone/>
            </a:pPr>
            <a:r>
              <a:rPr lang="en-US" sz="980" b="1" spc="70" kern="0" dirty="0">
                <a:solidFill>
                  <a:srgbClr val="155CB1"/>
                </a:solidFill>
                <a:latin typeface="Aptos" pitchFamily="34" charset="0"/>
                <a:ea typeface="Aptos" pitchFamily="34" charset="-122"/>
                <a:cs typeface="Aptos" pitchFamily="34" charset="-120"/>
              </a:rPr>
              <a:t>FY27 MOVES</a:t>
            </a:r>
            <a:endParaRPr lang="en-US" sz="980" dirty="0"/>
          </a:p>
        </p:txBody>
      </p:sp>
      <p:sp>
        <p:nvSpPr>
          <p:cNvPr id="32" name="Text 30"/>
          <p:cNvSpPr/>
          <p:nvPr/>
        </p:nvSpPr>
        <p:spPr>
          <a:xfrm>
            <a:off x="4517136" y="4690872"/>
            <a:ext cx="3172968" cy="594360"/>
          </a:xfrm>
          <a:prstGeom prst="rect">
            <a:avLst/>
          </a:prstGeom>
          <a:noFill/>
          <a:ln/>
        </p:spPr>
        <p:txBody>
          <a:bodyPr wrap="square" lIns="0" tIns="0" rIns="0" bIns="0" rtlCol="0" anchor="t">
            <a:normAutofit/>
          </a:bodyPr>
          <a:lstStyle/>
          <a:p>
            <a:pPr indent="0" marL="0">
              <a:lnSpc>
                <a:spcPct val="105000"/>
              </a:lnSpc>
              <a:buNone/>
            </a:pPr>
            <a:r>
              <a:rPr lang="en-US" sz="1050" dirty="0">
                <a:solidFill>
                  <a:srgbClr val="142B46"/>
                </a:solidFill>
                <a:latin typeface="Aptos" pitchFamily="34" charset="0"/>
                <a:ea typeface="Aptos" pitchFamily="34" charset="-122"/>
                <a:cs typeface="Aptos" pitchFamily="34" charset="-120"/>
              </a:rPr>
              <a:t>• Simplify the flow from planning through execution to senior-management reporting.</a:t>
            </a:r>
            <a:endParaRPr lang="en-US" sz="1050" dirty="0"/>
          </a:p>
          <a:p>
            <a:pPr indent="0" marL="0">
              <a:lnSpc>
                <a:spcPct val="105000"/>
              </a:lnSpc>
              <a:buNone/>
            </a:pPr>
            <a:r>
              <a:rPr lang="en-US" sz="1050" dirty="0">
                <a:solidFill>
                  <a:srgbClr val="142B46"/>
                </a:solidFill>
                <a:latin typeface="Aptos" pitchFamily="34" charset="0"/>
                <a:ea typeface="Aptos" pitchFamily="34" charset="-122"/>
                <a:cs typeface="Aptos" pitchFamily="34" charset="-120"/>
              </a:rPr>
              <a:t>• Use reusable evidence, bounded agents and AI-enabled QA; retain human approvals.</a:t>
            </a:r>
            <a:endParaRPr lang="en-US" sz="1050" dirty="0"/>
          </a:p>
        </p:txBody>
      </p:sp>
      <p:sp>
        <p:nvSpPr>
          <p:cNvPr id="33" name="Shape 31"/>
          <p:cNvSpPr/>
          <p:nvPr/>
        </p:nvSpPr>
        <p:spPr>
          <a:xfrm>
            <a:off x="4471416" y="5330952"/>
            <a:ext cx="3264408" cy="283464"/>
          </a:xfrm>
          <a:prstGeom prst="rect">
            <a:avLst/>
          </a:prstGeom>
          <a:solidFill>
            <a:srgbClr val="F0F7F9"/>
          </a:solidFill>
          <a:ln w="12700">
            <a:solidFill>
              <a:srgbClr val="F0F7F9">
                <a:alpha val="0"/>
              </a:srgbClr>
            </a:solidFill>
            <a:prstDash val="solid"/>
          </a:ln>
        </p:spPr>
      </p:sp>
      <p:sp>
        <p:nvSpPr>
          <p:cNvPr id="34" name="Text 32"/>
          <p:cNvSpPr/>
          <p:nvPr/>
        </p:nvSpPr>
        <p:spPr>
          <a:xfrm>
            <a:off x="4553712" y="5385816"/>
            <a:ext cx="3099816" cy="137160"/>
          </a:xfrm>
          <a:prstGeom prst="rect">
            <a:avLst/>
          </a:prstGeom>
          <a:noFill/>
          <a:ln/>
        </p:spPr>
        <p:txBody>
          <a:bodyPr wrap="square" lIns="0" tIns="0" rIns="0" bIns="0" rtlCol="0" anchor="ctr">
            <a:normAutofit/>
          </a:bodyPr>
          <a:lstStyle/>
          <a:p>
            <a:pPr indent="0" marL="0">
              <a:buNone/>
            </a:pPr>
            <a:r>
              <a:rPr lang="en-US" sz="920" b="1" dirty="0">
                <a:solidFill>
                  <a:srgbClr val="092850"/>
                </a:solidFill>
                <a:latin typeface="Aptos" pitchFamily="34" charset="0"/>
                <a:ea typeface="Aptos" pitchFamily="34" charset="-122"/>
                <a:cs typeface="Aptos" pitchFamily="34" charset="-120"/>
              </a:rPr>
              <a:t>PROOF  Cycle time  ·  Rework  ·  Evidence quality</a:t>
            </a:r>
            <a:endParaRPr lang="en-US" sz="920" dirty="0"/>
          </a:p>
        </p:txBody>
      </p:sp>
      <p:sp>
        <p:nvSpPr>
          <p:cNvPr id="35" name="Shape 33"/>
          <p:cNvSpPr/>
          <p:nvPr/>
        </p:nvSpPr>
        <p:spPr>
          <a:xfrm>
            <a:off x="8110728" y="2167128"/>
            <a:ext cx="3575304" cy="3547872"/>
          </a:xfrm>
          <a:prstGeom prst="roundRect">
            <a:avLst>
              <a:gd name="adj" fmla="val 2577"/>
            </a:avLst>
          </a:prstGeom>
          <a:solidFill>
            <a:srgbClr val="FFFFFF"/>
          </a:solidFill>
          <a:ln w="9525">
            <a:solidFill>
              <a:srgbClr val="CFDBE8"/>
            </a:solidFill>
            <a:prstDash val="solid"/>
          </a:ln>
          <a:effectLst>
            <a:outerShdw sx="100000" sy="100000" kx="0" ky="0" algn="bl" rotWithShape="0" blurRad="12700" dist="50800" dir="2700000">
              <a:srgbClr val="123456">
                <a:alpha val="10000"/>
              </a:srgbClr>
            </a:outerShdw>
          </a:effectLst>
        </p:spPr>
      </p:sp>
      <p:sp>
        <p:nvSpPr>
          <p:cNvPr id="36" name="Shape 34"/>
          <p:cNvSpPr/>
          <p:nvPr/>
        </p:nvSpPr>
        <p:spPr>
          <a:xfrm>
            <a:off x="8110728" y="2167128"/>
            <a:ext cx="59436" cy="3547872"/>
          </a:xfrm>
          <a:prstGeom prst="rect">
            <a:avLst/>
          </a:prstGeom>
          <a:solidFill>
            <a:srgbClr val="7096C3"/>
          </a:solidFill>
          <a:ln w="12700">
            <a:solidFill>
              <a:srgbClr val="7096C3">
                <a:alpha val="0"/>
              </a:srgbClr>
            </a:solidFill>
            <a:prstDash val="solid"/>
          </a:ln>
        </p:spPr>
      </p:sp>
      <p:sp>
        <p:nvSpPr>
          <p:cNvPr id="37" name="Text 35"/>
          <p:cNvSpPr/>
          <p:nvPr/>
        </p:nvSpPr>
        <p:spPr>
          <a:xfrm>
            <a:off x="8311896" y="2368296"/>
            <a:ext cx="384048" cy="256032"/>
          </a:xfrm>
          <a:prstGeom prst="rect">
            <a:avLst/>
          </a:prstGeom>
          <a:noFill/>
          <a:ln/>
        </p:spPr>
        <p:txBody>
          <a:bodyPr wrap="square" lIns="0" tIns="0" rIns="0" bIns="0" rtlCol="0" anchor="ctr">
            <a:normAutofit/>
          </a:bodyPr>
          <a:lstStyle/>
          <a:p>
            <a:pPr indent="0" marL="0">
              <a:buNone/>
            </a:pPr>
            <a:r>
              <a:rPr lang="en-US" sz="1920" b="1" dirty="0">
                <a:solidFill>
                  <a:srgbClr val="155CB1"/>
                </a:solidFill>
                <a:latin typeface="Aptos" pitchFamily="34" charset="0"/>
                <a:ea typeface="Aptos" pitchFamily="34" charset="-122"/>
                <a:cs typeface="Aptos" pitchFamily="34" charset="-120"/>
              </a:rPr>
              <a:t>03</a:t>
            </a:r>
            <a:endParaRPr lang="en-US" sz="1920" dirty="0"/>
          </a:p>
        </p:txBody>
      </p:sp>
      <p:sp>
        <p:nvSpPr>
          <p:cNvPr id="38" name="Text 36"/>
          <p:cNvSpPr/>
          <p:nvPr/>
        </p:nvSpPr>
        <p:spPr>
          <a:xfrm>
            <a:off x="8750808" y="2386584"/>
            <a:ext cx="2761488" cy="201168"/>
          </a:xfrm>
          <a:prstGeom prst="rect">
            <a:avLst/>
          </a:prstGeom>
          <a:noFill/>
          <a:ln/>
        </p:spPr>
        <p:txBody>
          <a:bodyPr wrap="square" lIns="0" tIns="0" rIns="0" bIns="0" rtlCol="0" anchor="ctr">
            <a:normAutofit/>
          </a:bodyPr>
          <a:lstStyle/>
          <a:p>
            <a:pPr indent="0" marL="0">
              <a:buNone/>
            </a:pPr>
            <a:r>
              <a:rPr lang="en-US" sz="1000" b="1" spc="100" kern="0" dirty="0">
                <a:solidFill>
                  <a:srgbClr val="155CB1"/>
                </a:solidFill>
                <a:latin typeface="Aptos" pitchFamily="34" charset="0"/>
                <a:ea typeface="Aptos" pitchFamily="34" charset="-122"/>
                <a:cs typeface="Aptos" pitchFamily="34" charset="-120"/>
              </a:rPr>
              <a:t>PERFORMANCE &amp; STEWARDSHIP</a:t>
            </a:r>
            <a:endParaRPr lang="en-US" sz="1000" dirty="0"/>
          </a:p>
        </p:txBody>
      </p:sp>
      <p:sp>
        <p:nvSpPr>
          <p:cNvPr id="39" name="Text 37"/>
          <p:cNvSpPr/>
          <p:nvPr/>
        </p:nvSpPr>
        <p:spPr>
          <a:xfrm>
            <a:off x="8311896" y="2770632"/>
            <a:ext cx="3172968" cy="621792"/>
          </a:xfrm>
          <a:prstGeom prst="rect">
            <a:avLst/>
          </a:prstGeom>
          <a:noFill/>
          <a:ln/>
        </p:spPr>
        <p:txBody>
          <a:bodyPr wrap="square" lIns="0" tIns="0" rIns="0" bIns="0" rtlCol="0" anchor="t">
            <a:normAutofit/>
          </a:bodyPr>
          <a:lstStyle/>
          <a:p>
            <a:pPr indent="0" marL="0">
              <a:buNone/>
            </a:pPr>
            <a:r>
              <a:rPr lang="en-US" sz="1725" b="1" dirty="0">
                <a:solidFill>
                  <a:srgbClr val="142B46"/>
                </a:solidFill>
                <a:latin typeface="Aptos" pitchFamily="34" charset="0"/>
                <a:ea typeface="Aptos" pitchFamily="34" charset="-122"/>
                <a:cs typeface="Aptos" pitchFamily="34" charset="-120"/>
              </a:rPr>
              <a:t>Manage assurance value, not activity volume</a:t>
            </a:r>
            <a:endParaRPr lang="en-US" sz="1725" dirty="0"/>
          </a:p>
        </p:txBody>
      </p:sp>
      <p:sp>
        <p:nvSpPr>
          <p:cNvPr id="40" name="Text 38"/>
          <p:cNvSpPr/>
          <p:nvPr/>
        </p:nvSpPr>
        <p:spPr>
          <a:xfrm>
            <a:off x="8311896" y="3483864"/>
            <a:ext cx="484632" cy="173736"/>
          </a:xfrm>
          <a:prstGeom prst="rect">
            <a:avLst/>
          </a:prstGeom>
          <a:noFill/>
          <a:ln/>
        </p:spPr>
        <p:txBody>
          <a:bodyPr wrap="square" lIns="0" tIns="0" rIns="0" bIns="0" rtlCol="0" anchor="ctr">
            <a:normAutofit/>
          </a:bodyPr>
          <a:lstStyle/>
          <a:p>
            <a:pPr indent="0" marL="0">
              <a:buNone/>
            </a:pPr>
            <a:r>
              <a:rPr lang="en-US" sz="960" b="1" dirty="0">
                <a:solidFill>
                  <a:srgbClr val="8B97A6"/>
                </a:solidFill>
                <a:latin typeface="Aptos" pitchFamily="34" charset="0"/>
                <a:ea typeface="Aptos" pitchFamily="34" charset="-122"/>
                <a:cs typeface="Aptos" pitchFamily="34" charset="-120"/>
              </a:rPr>
              <a:t>FROM</a:t>
            </a:r>
            <a:endParaRPr lang="en-US" sz="960" dirty="0"/>
          </a:p>
        </p:txBody>
      </p:sp>
      <p:sp>
        <p:nvSpPr>
          <p:cNvPr id="41" name="Text 39"/>
          <p:cNvSpPr/>
          <p:nvPr/>
        </p:nvSpPr>
        <p:spPr>
          <a:xfrm>
            <a:off x="8851392" y="3465576"/>
            <a:ext cx="2642616" cy="347472"/>
          </a:xfrm>
          <a:prstGeom prst="rect">
            <a:avLst/>
          </a:prstGeom>
          <a:noFill/>
          <a:ln/>
        </p:spPr>
        <p:txBody>
          <a:bodyPr wrap="square" lIns="0" tIns="0" rIns="0" bIns="0" rtlCol="0" anchor="t">
            <a:normAutofit/>
          </a:bodyPr>
          <a:lstStyle/>
          <a:p>
            <a:pPr indent="0" marL="0">
              <a:buNone/>
            </a:pPr>
            <a:r>
              <a:rPr lang="en-US" sz="1110" dirty="0">
                <a:solidFill>
                  <a:srgbClr val="526379"/>
                </a:solidFill>
                <a:latin typeface="Aptos" pitchFamily="34" charset="0"/>
                <a:ea typeface="Aptos" pitchFamily="34" charset="-122"/>
                <a:cs typeface="Aptos" pitchFamily="34" charset="-120"/>
              </a:rPr>
              <a:t>Hours and output counts as proxies for effectiveness</a:t>
            </a:r>
            <a:endParaRPr lang="en-US" sz="1110" dirty="0"/>
          </a:p>
        </p:txBody>
      </p:sp>
      <p:sp>
        <p:nvSpPr>
          <p:cNvPr id="42" name="Text 40"/>
          <p:cNvSpPr/>
          <p:nvPr/>
        </p:nvSpPr>
        <p:spPr>
          <a:xfrm>
            <a:off x="8311896" y="3913632"/>
            <a:ext cx="484632" cy="173736"/>
          </a:xfrm>
          <a:prstGeom prst="rect">
            <a:avLst/>
          </a:prstGeom>
          <a:noFill/>
          <a:ln/>
        </p:spPr>
        <p:txBody>
          <a:bodyPr wrap="square" lIns="0" tIns="0" rIns="0" bIns="0" rtlCol="0" anchor="ctr">
            <a:normAutofit/>
          </a:bodyPr>
          <a:lstStyle/>
          <a:p>
            <a:pPr indent="0" marL="0">
              <a:buNone/>
            </a:pPr>
            <a:r>
              <a:rPr lang="en-US" sz="960" b="1" dirty="0">
                <a:solidFill>
                  <a:srgbClr val="0A8987"/>
                </a:solidFill>
                <a:latin typeface="Aptos" pitchFamily="34" charset="0"/>
                <a:ea typeface="Aptos" pitchFamily="34" charset="-122"/>
                <a:cs typeface="Aptos" pitchFamily="34" charset="-120"/>
              </a:rPr>
              <a:t>TO</a:t>
            </a:r>
            <a:endParaRPr lang="en-US" sz="960" dirty="0"/>
          </a:p>
        </p:txBody>
      </p:sp>
      <p:sp>
        <p:nvSpPr>
          <p:cNvPr id="43" name="Text 41"/>
          <p:cNvSpPr/>
          <p:nvPr/>
        </p:nvSpPr>
        <p:spPr>
          <a:xfrm>
            <a:off x="8851392" y="3886200"/>
            <a:ext cx="2642616" cy="384048"/>
          </a:xfrm>
          <a:prstGeom prst="rect">
            <a:avLst/>
          </a:prstGeom>
          <a:noFill/>
          <a:ln/>
        </p:spPr>
        <p:txBody>
          <a:bodyPr wrap="square" lIns="0" tIns="0" rIns="0" bIns="0" rtlCol="0" anchor="t">
            <a:normAutofit/>
          </a:bodyPr>
          <a:lstStyle/>
          <a:p>
            <a:pPr indent="0" marL="0">
              <a:buNone/>
            </a:pPr>
            <a:r>
              <a:rPr lang="en-US" sz="1110" b="1" dirty="0">
                <a:solidFill>
                  <a:srgbClr val="142B46"/>
                </a:solidFill>
                <a:latin typeface="Aptos" pitchFamily="34" charset="0"/>
                <a:ea typeface="Aptos" pitchFamily="34" charset="-122"/>
                <a:cs typeface="Aptos" pitchFamily="34" charset="-120"/>
              </a:rPr>
              <a:t>Quality- and risk-adjusted capacity and cost decisions</a:t>
            </a:r>
            <a:endParaRPr lang="en-US" sz="1110" dirty="0"/>
          </a:p>
        </p:txBody>
      </p:sp>
      <p:sp>
        <p:nvSpPr>
          <p:cNvPr id="44" name="Shape 42"/>
          <p:cNvSpPr/>
          <p:nvPr/>
        </p:nvSpPr>
        <p:spPr>
          <a:xfrm>
            <a:off x="8311896" y="4352544"/>
            <a:ext cx="3172968" cy="0"/>
          </a:xfrm>
          <a:prstGeom prst="line">
            <a:avLst/>
          </a:prstGeom>
          <a:noFill/>
          <a:ln w="8890">
            <a:solidFill>
              <a:srgbClr val="CFDBE8"/>
            </a:solidFill>
            <a:prstDash val="solid"/>
          </a:ln>
        </p:spPr>
      </p:sp>
      <p:sp>
        <p:nvSpPr>
          <p:cNvPr id="45" name="Text 43"/>
          <p:cNvSpPr/>
          <p:nvPr/>
        </p:nvSpPr>
        <p:spPr>
          <a:xfrm>
            <a:off x="8311896" y="4462272"/>
            <a:ext cx="3172968" cy="164592"/>
          </a:xfrm>
          <a:prstGeom prst="rect">
            <a:avLst/>
          </a:prstGeom>
          <a:noFill/>
          <a:ln/>
        </p:spPr>
        <p:txBody>
          <a:bodyPr wrap="square" lIns="0" tIns="0" rIns="0" bIns="0" rtlCol="0" anchor="ctr">
            <a:normAutofit/>
          </a:bodyPr>
          <a:lstStyle/>
          <a:p>
            <a:pPr indent="0" marL="0">
              <a:buNone/>
            </a:pPr>
            <a:r>
              <a:rPr lang="en-US" sz="980" b="1" spc="70" kern="0" dirty="0">
                <a:solidFill>
                  <a:srgbClr val="155CB1"/>
                </a:solidFill>
                <a:latin typeface="Aptos" pitchFamily="34" charset="0"/>
                <a:ea typeface="Aptos" pitchFamily="34" charset="-122"/>
                <a:cs typeface="Aptos" pitchFamily="34" charset="-120"/>
              </a:rPr>
              <a:t>FY27 MOVES</a:t>
            </a:r>
            <a:endParaRPr lang="en-US" sz="980" dirty="0"/>
          </a:p>
        </p:txBody>
      </p:sp>
      <p:sp>
        <p:nvSpPr>
          <p:cNvPr id="46" name="Text 44"/>
          <p:cNvSpPr/>
          <p:nvPr/>
        </p:nvSpPr>
        <p:spPr>
          <a:xfrm>
            <a:off x="8311896" y="4690872"/>
            <a:ext cx="3172968" cy="594360"/>
          </a:xfrm>
          <a:prstGeom prst="rect">
            <a:avLst/>
          </a:prstGeom>
          <a:noFill/>
          <a:ln/>
        </p:spPr>
        <p:txBody>
          <a:bodyPr wrap="square" lIns="0" tIns="0" rIns="0" bIns="0" rtlCol="0" anchor="t">
            <a:normAutofit/>
          </a:bodyPr>
          <a:lstStyle/>
          <a:p>
            <a:pPr indent="0" marL="0">
              <a:lnSpc>
                <a:spcPct val="105000"/>
              </a:lnSpc>
              <a:buNone/>
            </a:pPr>
            <a:r>
              <a:rPr lang="en-US" sz="1050" dirty="0">
                <a:solidFill>
                  <a:srgbClr val="142B46"/>
                </a:solidFill>
                <a:latin typeface="Aptos" pitchFamily="34" charset="0"/>
                <a:ea typeface="Aptos" pitchFamily="34" charset="-122"/>
                <a:cs typeface="Aptos" pitchFamily="34" charset="-120"/>
              </a:rPr>
              <a:t>• Manage performance, workforce capacity and spending across the whole audit model.</a:t>
            </a:r>
            <a:endParaRPr lang="en-US" sz="1050" dirty="0"/>
          </a:p>
          <a:p>
            <a:pPr indent="0" marL="0">
              <a:lnSpc>
                <a:spcPct val="105000"/>
              </a:lnSpc>
              <a:buNone/>
            </a:pPr>
            <a:r>
              <a:rPr lang="en-US" sz="1050" dirty="0">
                <a:solidFill>
                  <a:srgbClr val="142B46"/>
                </a:solidFill>
                <a:latin typeface="Aptos" pitchFamily="34" charset="0"/>
                <a:ea typeface="Aptos" pitchFamily="34" charset="-122"/>
                <a:cs typeface="Aptos" pitchFamily="34" charset="-120"/>
              </a:rPr>
              <a:t>• Validate net benefits and redeploy released capacity to priority risk coverage.</a:t>
            </a:r>
            <a:endParaRPr lang="en-US" sz="1050" dirty="0"/>
          </a:p>
        </p:txBody>
      </p:sp>
      <p:sp>
        <p:nvSpPr>
          <p:cNvPr id="47" name="Shape 45"/>
          <p:cNvSpPr/>
          <p:nvPr/>
        </p:nvSpPr>
        <p:spPr>
          <a:xfrm>
            <a:off x="8266176" y="5330952"/>
            <a:ext cx="3264408" cy="283464"/>
          </a:xfrm>
          <a:prstGeom prst="rect">
            <a:avLst/>
          </a:prstGeom>
          <a:solidFill>
            <a:srgbClr val="F0F7F9"/>
          </a:solidFill>
          <a:ln w="12700">
            <a:solidFill>
              <a:srgbClr val="F0F7F9">
                <a:alpha val="0"/>
              </a:srgbClr>
            </a:solidFill>
            <a:prstDash val="solid"/>
          </a:ln>
        </p:spPr>
      </p:sp>
      <p:sp>
        <p:nvSpPr>
          <p:cNvPr id="48" name="Text 46"/>
          <p:cNvSpPr/>
          <p:nvPr/>
        </p:nvSpPr>
        <p:spPr>
          <a:xfrm>
            <a:off x="8348472" y="5385816"/>
            <a:ext cx="3099816" cy="137160"/>
          </a:xfrm>
          <a:prstGeom prst="rect">
            <a:avLst/>
          </a:prstGeom>
          <a:noFill/>
          <a:ln/>
        </p:spPr>
        <p:txBody>
          <a:bodyPr wrap="square" lIns="0" tIns="0" rIns="0" bIns="0" rtlCol="0" anchor="ctr">
            <a:normAutofit/>
          </a:bodyPr>
          <a:lstStyle/>
          <a:p>
            <a:pPr indent="0" marL="0">
              <a:buNone/>
            </a:pPr>
            <a:r>
              <a:rPr lang="en-US" sz="920" b="1" dirty="0">
                <a:solidFill>
                  <a:srgbClr val="092850"/>
                </a:solidFill>
                <a:latin typeface="Aptos" pitchFamily="34" charset="0"/>
                <a:ea typeface="Aptos" pitchFamily="34" charset="-122"/>
                <a:cs typeface="Aptos" pitchFamily="34" charset="-120"/>
              </a:rPr>
              <a:t>PROOF  Net effort / cost  ·  Redeployment  ·  Quality</a:t>
            </a:r>
            <a:endParaRPr lang="en-US" sz="920" dirty="0"/>
          </a:p>
        </p:txBody>
      </p:sp>
      <p:sp>
        <p:nvSpPr>
          <p:cNvPr id="49" name="Shape 47"/>
          <p:cNvSpPr/>
          <p:nvPr/>
        </p:nvSpPr>
        <p:spPr>
          <a:xfrm>
            <a:off x="521208" y="5897880"/>
            <a:ext cx="11155680" cy="393192"/>
          </a:xfrm>
          <a:prstGeom prst="rect">
            <a:avLst/>
          </a:prstGeom>
          <a:solidFill>
            <a:srgbClr val="092850"/>
          </a:solidFill>
          <a:ln w="12700">
            <a:solidFill>
              <a:srgbClr val="092850">
                <a:alpha val="0"/>
              </a:srgbClr>
            </a:solidFill>
            <a:prstDash val="solid"/>
          </a:ln>
        </p:spPr>
      </p:sp>
      <p:sp>
        <p:nvSpPr>
          <p:cNvPr id="50" name="Text 48"/>
          <p:cNvSpPr/>
          <p:nvPr/>
        </p:nvSpPr>
        <p:spPr>
          <a:xfrm>
            <a:off x="713232" y="6003036"/>
            <a:ext cx="1581912" cy="137160"/>
          </a:xfrm>
          <a:prstGeom prst="rect">
            <a:avLst/>
          </a:prstGeom>
          <a:noFill/>
          <a:ln/>
        </p:spPr>
        <p:txBody>
          <a:bodyPr wrap="square" lIns="0" tIns="0" rIns="0" bIns="0" rtlCol="0" anchor="ctr">
            <a:normAutofit/>
          </a:bodyPr>
          <a:lstStyle/>
          <a:p>
            <a:pPr indent="0" marL="0">
              <a:buNone/>
            </a:pPr>
            <a:r>
              <a:rPr lang="en-US" sz="1010" b="1" spc="50" kern="0" dirty="0">
                <a:solidFill>
                  <a:srgbClr val="A6D3E1"/>
                </a:solidFill>
                <a:latin typeface="Aptos" pitchFamily="34" charset="0"/>
                <a:ea typeface="Aptos" pitchFamily="34" charset="-122"/>
                <a:cs typeface="Aptos" pitchFamily="34" charset="-120"/>
              </a:rPr>
              <a:t>FY27 FIRST RELEASES</a:t>
            </a:r>
            <a:endParaRPr lang="en-US" sz="1010" dirty="0"/>
          </a:p>
        </p:txBody>
      </p:sp>
      <p:sp>
        <p:nvSpPr>
          <p:cNvPr id="51" name="Text 49"/>
          <p:cNvSpPr/>
          <p:nvPr/>
        </p:nvSpPr>
        <p:spPr>
          <a:xfrm>
            <a:off x="2212848" y="5961888"/>
            <a:ext cx="9235440" cy="228600"/>
          </a:xfrm>
          <a:prstGeom prst="rect">
            <a:avLst/>
          </a:prstGeom>
          <a:noFill/>
          <a:ln/>
        </p:spPr>
        <p:txBody>
          <a:bodyPr wrap="square" lIns="0" tIns="0" rIns="0" bIns="0" rtlCol="0" anchor="ctr">
            <a:normAutofit/>
          </a:bodyPr>
          <a:lstStyle/>
          <a:p>
            <a:pPr indent="0" marL="0">
              <a:buNone/>
            </a:pPr>
            <a:r>
              <a:rPr lang="en-US" sz="1130" b="1" dirty="0">
                <a:solidFill>
                  <a:srgbClr val="FFFFFF"/>
                </a:solidFill>
                <a:latin typeface="Aptos" pitchFamily="34" charset="0"/>
                <a:ea typeface="Aptos" pitchFamily="34" charset="-122"/>
                <a:cs typeface="Aptos" pitchFamily="34" charset="-120"/>
              </a:rPr>
              <a:t>CRM    /    Annual + engagement planning    /    Quarterly senior management reporting    /    Embedded AI-enabled QA</a:t>
            </a:r>
            <a:endParaRPr lang="en-US" sz="1130" dirty="0"/>
          </a:p>
        </p:txBody>
      </p:sp>
      <p:sp>
        <p:nvSpPr>
          <p:cNvPr id="52" name="Text 50"/>
          <p:cNvSpPr/>
          <p:nvPr/>
        </p:nvSpPr>
        <p:spPr>
          <a:xfrm>
            <a:off x="539496" y="6419088"/>
            <a:ext cx="11073384" cy="210312"/>
          </a:xfrm>
          <a:prstGeom prst="rect">
            <a:avLst/>
          </a:prstGeom>
          <a:noFill/>
          <a:ln/>
        </p:spPr>
        <p:txBody>
          <a:bodyPr wrap="square" lIns="0" tIns="0" rIns="0" bIns="0" rtlCol="0" anchor="ctr">
            <a:normAutofit/>
          </a:bodyPr>
          <a:lstStyle/>
          <a:p>
            <a:pPr indent="0" marL="0">
              <a:buNone/>
            </a:pPr>
            <a:r>
              <a:rPr lang="en-US" sz="1060" dirty="0">
                <a:solidFill>
                  <a:srgbClr val="526379"/>
                </a:solidFill>
                <a:latin typeface="Aptos" pitchFamily="34" charset="0"/>
                <a:ea typeface="Aptos" pitchFamily="34" charset="-122"/>
                <a:cs typeface="Aptos" pitchFamily="34" charset="-120"/>
              </a:rPr>
              <a:t>FOUNDATIONS   Progressive enterprise alignment   •   Trusted, reusable evidence   •   Named process owners   •   Human decision rights and agent controls</a:t>
            </a:r>
            <a:endParaRPr lang="en-US" sz="10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FY27 Strategic Agenda — Audit Operating Model</dc:title>
  <dc:subject>FY27 Internal Audit strategic priorities</dc:subject>
  <dc:creator>OpenAI</dc:creator>
  <cp:lastModifiedBy>OpenAI</cp:lastModifiedBy>
  <cp:revision>1</cp:revision>
  <dcterms:created xsi:type="dcterms:W3CDTF">2026-10-21T18:32:12Z</dcterms:created>
  <dcterms:modified xsi:type="dcterms:W3CDTF">2026-10-21T18:32:12Z</dcterms:modified>
</cp:coreProperties>
</file>