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92A3E"/>
                </a:solidFill>
                <a:latin typeface="Aptos"/>
              </a:rPr>
              <a:t>01  |  Audit team engagement &amp;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132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570"/>
                </a:solidFill>
                <a:latin typeface="Aptos"/>
              </a:rPr>
              <a:t>Broad engagement completed; remaining validation targeted for week commencing 14 September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1000232" cy="1097280"/>
          </a:xfrm>
          <a:prstGeom prst="rect">
            <a:avLst/>
          </a:prstGeom>
          <a:solidFill>
            <a:srgbClr val="F1F4F7"/>
          </a:solidFill>
          <a:ln>
            <a:solidFill>
              <a:srgbClr val="F1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3350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95884"/>
                </a:solidFill>
                <a:latin typeface="Aptos"/>
              </a:rPr>
              <a:t>ENGAGED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18488"/>
            <a:ext cx="10469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429"/>
                </a:solidFill>
                <a:latin typeface="Aptos"/>
              </a:rPr>
              <a:t>CAE OC  •  CAE ELOC  •  US SMT  •  WM &amp; INS / US WM  •  US CM / CM  •  EU &amp; APAC  •  AML  •  US Risk / Op Risk  •  GRM  •  CFO / HRBMCC / CLAO / GC  •  US TO / TO  •  PB &amp; CB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2316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95884"/>
                </a:solidFill>
                <a:latin typeface="Aptos"/>
              </a:rPr>
              <a:t>NEXT WAVE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95728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429"/>
                </a:solidFill>
                <a:latin typeface="Aptos"/>
              </a:rPr>
              <a:t>BO &amp; Credit  •  Model Risk  •  CNB  •  RBCB*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06624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0"/>
                </a:solidFill>
                <a:latin typeface="Aptos"/>
              </a:rPr>
              <a:t>* RBCB to be tabled for Tech &amp; AI SteerCo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0632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95884"/>
                </a:solidFill>
                <a:latin typeface="Aptos"/>
              </a:rPr>
              <a:t>WHAT WE ARE HEARING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56432"/>
            <a:ext cx="347472" cy="329184"/>
          </a:xfrm>
          <a:prstGeom prst="rect">
            <a:avLst/>
          </a:prstGeom>
          <a:solidFill>
            <a:srgbClr val="295884"/>
          </a:solidFill>
          <a:ln>
            <a:solidFill>
              <a:srgbClr val="295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520439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44728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F2429"/>
                </a:solidFill>
                <a:latin typeface="Aptos"/>
              </a:rPr>
              <a:t>Positive overall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3429000"/>
            <a:ext cx="3090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570"/>
                </a:solidFill>
                <a:latin typeface="Aptos"/>
              </a:rPr>
              <a:t>Broad support for the proposed CRM process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014215"/>
            <a:ext cx="347472" cy="329184"/>
          </a:xfrm>
          <a:prstGeom prst="rect">
            <a:avLst/>
          </a:prstGeom>
          <a:solidFill>
            <a:srgbClr val="295884"/>
          </a:solidFill>
          <a:ln>
            <a:solidFill>
              <a:srgbClr val="295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07822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00507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F2429"/>
                </a:solidFill>
                <a:latin typeface="Aptos"/>
              </a:rPr>
              <a:t>Global consolidation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3986783"/>
            <a:ext cx="3090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570"/>
                </a:solidFill>
                <a:latin typeface="Aptos"/>
              </a:rPr>
              <a:t>Questions remain on how a regional model consolidates into global CRM.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572000"/>
            <a:ext cx="347472" cy="329184"/>
          </a:xfrm>
          <a:prstGeom prst="rect">
            <a:avLst/>
          </a:prstGeom>
          <a:solidFill>
            <a:srgbClr val="295884"/>
          </a:solidFill>
          <a:ln>
            <a:solidFill>
              <a:srgbClr val="295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636008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6285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F2429"/>
                </a:solidFill>
                <a:latin typeface="Aptos"/>
              </a:rPr>
              <a:t>Shared editing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4544568"/>
            <a:ext cx="3090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570"/>
                </a:solidFill>
                <a:latin typeface="Aptos"/>
              </a:rPr>
              <a:t>Some hesitation around multiple users / teams editing the same document.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129784"/>
            <a:ext cx="347472" cy="329184"/>
          </a:xfrm>
          <a:prstGeom prst="rect">
            <a:avLst/>
          </a:prstGeom>
          <a:solidFill>
            <a:srgbClr val="295884"/>
          </a:solidFill>
          <a:ln>
            <a:solidFill>
              <a:srgbClr val="295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193792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12064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F2429"/>
                </a:solidFill>
                <a:latin typeface="Aptos"/>
              </a:rPr>
              <a:t>Non-platform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3472" y="5102352"/>
            <a:ext cx="3090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B6570"/>
                </a:solidFill>
                <a:latin typeface="Aptos"/>
              </a:rPr>
              <a:t>Some teams prefer Credit / Model Risk commentary to be added at platform level.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3063240"/>
            <a:ext cx="5257800" cy="2542032"/>
          </a:xfrm>
          <a:prstGeom prst="roundRect">
            <a:avLst/>
          </a:prstGeom>
          <a:solidFill>
            <a:srgbClr val="FFFFFF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3319272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C6872A"/>
                </a:solidFill>
                <a:latin typeface="Aptos"/>
              </a:rPr>
              <a:t>AREA REQUIRING MOST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3675887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3E"/>
                </a:solidFill>
                <a:latin typeface="Aptos"/>
              </a:rPr>
              <a:t>Capital Markets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105656"/>
            <a:ext cx="4526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F2429"/>
                </a:solidFill>
                <a:latin typeface="Aptos"/>
              </a:rPr>
              <a:t>CM — particularly outside the US — has shown the most hesitation. Its global complexity and ~13-AU structure creates additional questions around regional ownership and global consolidation.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570"/>
                </a:solidFill>
                <a:latin typeface="Aptos"/>
              </a:rPr>
              <a:t>SteerCo focus: confirm whether any feedback requires a design change or targeted follow-up before process design is locked.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57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92A3E"/>
                </a:solidFill>
                <a:latin typeface="Aptos"/>
              </a:rPr>
              <a:t>02  |  CRM data assessment: observations &amp; potential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132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570"/>
                </a:solidFill>
                <a:latin typeface="Aptos"/>
              </a:rPr>
              <a:t>Early findings from datasets being incorporated into CRM pre-population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2331720" cy="420624"/>
          </a:xfrm>
          <a:prstGeom prst="rect">
            <a:avLst/>
          </a:prstGeom>
          <a:solidFill>
            <a:srgbClr val="192A3E"/>
          </a:solidFill>
          <a:ln>
            <a:solidFill>
              <a:srgbClr val="19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61872"/>
            <a:ext cx="213055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ptos"/>
              </a:rPr>
              <a:t>DATASET / 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79" y="1170432"/>
            <a:ext cx="5623560" cy="420624"/>
          </a:xfrm>
          <a:prstGeom prst="rect">
            <a:avLst/>
          </a:prstGeom>
          <a:solidFill>
            <a:srgbClr val="192A3E"/>
          </a:solidFill>
          <a:ln>
            <a:solidFill>
              <a:srgbClr val="19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35808" y="1261872"/>
            <a:ext cx="54223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ptos"/>
              </a:rPr>
              <a:t>OBSERVATION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1170432"/>
            <a:ext cx="3044952" cy="420624"/>
          </a:xfrm>
          <a:prstGeom prst="rect">
            <a:avLst/>
          </a:prstGeom>
          <a:solidFill>
            <a:srgbClr val="192A3E"/>
          </a:solidFill>
          <a:ln>
            <a:solidFill>
              <a:srgbClr val="19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59367" y="1261872"/>
            <a:ext cx="2843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ptos"/>
              </a:rPr>
              <a:t>IMPLICATION / NEXT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91056"/>
            <a:ext cx="2331720" cy="667512"/>
          </a:xfrm>
          <a:prstGeom prst="rect">
            <a:avLst/>
          </a:prstGeom>
          <a:solidFill>
            <a:srgbClr val="FFFFFF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673352"/>
            <a:ext cx="2130551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F2429"/>
                </a:solidFill>
                <a:latin typeface="Aptos"/>
              </a:rPr>
              <a:t>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79" y="1591056"/>
            <a:ext cx="5623560" cy="667512"/>
          </a:xfrm>
          <a:prstGeom prst="rect">
            <a:avLst/>
          </a:prstGeom>
          <a:solidFill>
            <a:srgbClr val="FFFFFF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1673352"/>
            <a:ext cx="5422392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2429"/>
                </a:solidFill>
                <a:latin typeface="Aptos"/>
              </a:rPr>
              <a:t>ORE analysis should include items closed during the quarter as well as net new OREs.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591056"/>
            <a:ext cx="3044952" cy="667512"/>
          </a:xfrm>
          <a:prstGeom prst="rect">
            <a:avLst/>
          </a:prstGeom>
          <a:solidFill>
            <a:srgbClr val="FFFFFF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7" y="1673352"/>
            <a:ext cx="28437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2429"/>
                </a:solidFill>
                <a:latin typeface="Aptos"/>
              </a:rPr>
              <a:t>Confirm scope and calculation logic.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258568"/>
            <a:ext cx="2331720" cy="667512"/>
          </a:xfrm>
          <a:prstGeom prst="rect">
            <a:avLst/>
          </a:prstGeom>
          <a:solidFill>
            <a:srgbClr val="F1F4F7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340863"/>
            <a:ext cx="2130551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F2429"/>
                </a:solidFill>
                <a:latin typeface="Aptos"/>
              </a:rPr>
              <a:t>EDS / PRAM — initiatives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79" y="2258568"/>
            <a:ext cx="5623560" cy="667512"/>
          </a:xfrm>
          <a:prstGeom prst="rect">
            <a:avLst/>
          </a:prstGeom>
          <a:solidFill>
            <a:srgbClr val="F1F4F7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2340863"/>
            <a:ext cx="5422392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2429"/>
                </a:solidFill>
                <a:latin typeface="Aptos"/>
              </a:rPr>
              <a:t>Consensus is that objective criteria are insufficient to identify key business initiatives; these are primarily identified through management discussion.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2258568"/>
            <a:ext cx="3044952" cy="667512"/>
          </a:xfrm>
          <a:prstGeom prst="rect">
            <a:avLst/>
          </a:prstGeom>
          <a:solidFill>
            <a:srgbClr val="F1F4F7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9367" y="2340863"/>
            <a:ext cx="28437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2429"/>
                </a:solidFill>
                <a:latin typeface="Aptos"/>
              </a:rPr>
              <a:t>Use data to inform discussion, not replace judgement.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926080"/>
            <a:ext cx="2331720" cy="667512"/>
          </a:xfrm>
          <a:prstGeom prst="rect">
            <a:avLst/>
          </a:prstGeom>
          <a:solidFill>
            <a:srgbClr val="FFFFFF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008376"/>
            <a:ext cx="2130551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F2429"/>
                </a:solidFill>
                <a:latin typeface="Aptos"/>
              </a:rPr>
              <a:t>PRAM — contracts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79" y="2926080"/>
            <a:ext cx="5623560" cy="667512"/>
          </a:xfrm>
          <a:prstGeom prst="rect">
            <a:avLst/>
          </a:prstGeom>
          <a:solidFill>
            <a:srgbClr val="FFFFFF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5808" y="3008376"/>
            <a:ext cx="5422392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2429"/>
                </a:solidFill>
                <a:latin typeface="Aptos"/>
              </a:rPr>
              <a:t>In addition to projects, contracts may provide useful CRM context.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2926080"/>
            <a:ext cx="3044952" cy="667512"/>
          </a:xfrm>
          <a:prstGeom prst="rect">
            <a:avLst/>
          </a:prstGeom>
          <a:solidFill>
            <a:srgbClr val="FFFFFF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7" y="3008376"/>
            <a:ext cx="28437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2429"/>
                </a:solidFill>
                <a:latin typeface="Aptos"/>
              </a:rPr>
              <a:t>Assess value and extraction feasibility.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593591"/>
            <a:ext cx="2331720" cy="667512"/>
          </a:xfrm>
          <a:prstGeom prst="rect">
            <a:avLst/>
          </a:prstGeom>
          <a:solidFill>
            <a:srgbClr val="F1F4F7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3675887"/>
            <a:ext cx="2130551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F2429"/>
                </a:solidFill>
                <a:latin typeface="Aptos"/>
              </a:rPr>
              <a:t>RBCB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79" y="3593591"/>
            <a:ext cx="5623560" cy="667512"/>
          </a:xfrm>
          <a:prstGeom prst="rect">
            <a:avLst/>
          </a:prstGeom>
          <a:solidFill>
            <a:srgbClr val="F1F4F7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35808" y="3675887"/>
            <a:ext cx="5422392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2429"/>
                </a:solidFill>
                <a:latin typeface="Aptos"/>
              </a:rPr>
              <a:t>RBCB is not easily identifiable in the data sources currently used for pre-population.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3593591"/>
            <a:ext cx="3044952" cy="667512"/>
          </a:xfrm>
          <a:prstGeom prst="rect">
            <a:avLst/>
          </a:prstGeom>
          <a:solidFill>
            <a:srgbClr val="F1F4F7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7" y="3675887"/>
            <a:ext cx="28437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2429"/>
                </a:solidFill>
                <a:latin typeface="Aptos"/>
              </a:rPr>
              <a:t>Resolve platform mapping / source coverage.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261104"/>
            <a:ext cx="2331720" cy="667512"/>
          </a:xfrm>
          <a:prstGeom prst="rect">
            <a:avLst/>
          </a:prstGeom>
          <a:solidFill>
            <a:srgbClr val="FFFFFF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4343400"/>
            <a:ext cx="2130551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F2429"/>
                </a:solidFill>
                <a:latin typeface="Aptos"/>
              </a:rPr>
              <a:t>RegComp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79" y="4261104"/>
            <a:ext cx="5623560" cy="667512"/>
          </a:xfrm>
          <a:prstGeom prst="rect">
            <a:avLst/>
          </a:prstGeom>
          <a:solidFill>
            <a:srgbClr val="FFFFFF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35808" y="4343400"/>
            <a:ext cx="5422392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2429"/>
                </a:solidFill>
                <a:latin typeface="Aptos"/>
              </a:rPr>
              <a:t>Potential source for regulatory issue information at platform level.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4261104"/>
            <a:ext cx="3044952" cy="667512"/>
          </a:xfrm>
          <a:prstGeom prst="rect">
            <a:avLst/>
          </a:prstGeom>
          <a:solidFill>
            <a:srgbClr val="FFFFFF"/>
          </a:solidFill>
          <a:ln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59367" y="4343400"/>
            <a:ext cx="28437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2429"/>
                </a:solidFill>
                <a:latin typeface="Aptos"/>
              </a:rPr>
              <a:t>Assess accessibility, granularity and integration feasibility.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074920"/>
            <a:ext cx="11000232" cy="96012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266944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95884"/>
                </a:solidFill>
                <a:latin typeface="Aptos"/>
              </a:rPr>
              <a:t>EMERGING THEMES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212080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10" b="1">
                <a:solidFill>
                  <a:srgbClr val="192A3E"/>
                </a:solidFill>
                <a:latin typeface="Aptos"/>
              </a:rPr>
              <a:t>Coverage &amp; mapping  •  Completeness  •  Granularity  •  Source integration  •  Management judgement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623560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1F2429"/>
                </a:solidFill>
                <a:latin typeface="Aptos"/>
              </a:rPr>
              <a:t>Key question: where should CRM retain judgement / manual input versus invest in additional data sourcing or integration?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5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