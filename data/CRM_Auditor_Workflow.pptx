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RISK MONITORING  ·  PROCESS TRANSFORMATION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persona workflow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Regional IA, the Platform CRM owner, Analytics, and Approvers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one CRM object — without four Word files.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Wealth Management  ·  APAC · UK · US · CAN  ·  FQ4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09728" cy="587959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WORKFLOW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personas, one CRM object — swimlane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auditor workflow  ·  Wealth Management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841248"/>
            <a:ext cx="11686032" cy="1298448"/>
          </a:xfrm>
          <a:prstGeom prst="rect">
            <a:avLst/>
          </a:prstGeom>
          <a:solidFill>
            <a:srgbClr val="EAF2F8"/>
          </a:solidFill>
          <a:ln w="9525">
            <a:solidFill>
              <a:srgbClr val="C5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841248"/>
            <a:ext cx="1554480" cy="12984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" y="10058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UK · CAN · APAC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" y="18105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local facts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176272"/>
            <a:ext cx="11686032" cy="1298448"/>
          </a:xfrm>
          <a:prstGeom prst="rect">
            <a:avLst/>
          </a:prstGeom>
          <a:solidFill>
            <a:srgbClr val="F4EBD0"/>
          </a:solidFill>
          <a:ln w="9525">
            <a:solidFill>
              <a:srgbClr val="C5D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176272"/>
            <a:ext cx="1554480" cy="12984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" y="2340864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" y="314553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synthesis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511296"/>
            <a:ext cx="11686032" cy="1170432"/>
          </a:xfrm>
          <a:prstGeom prst="rect">
            <a:avLst/>
          </a:prstGeom>
          <a:solidFill>
            <a:srgbClr val="E2EFDA"/>
          </a:solidFill>
          <a:ln w="9525">
            <a:solidFill>
              <a:srgbClr val="C5D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511296"/>
            <a:ext cx="1554480" cy="117043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" y="367588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" y="435254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object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4718304"/>
            <a:ext cx="11686032" cy="1115568"/>
          </a:xfrm>
          <a:prstGeom prst="rect">
            <a:avLst/>
          </a:prstGeom>
          <a:solidFill>
            <a:srgbClr val="FCE4D6"/>
          </a:solidFill>
          <a:ln w="9525">
            <a:solidFill>
              <a:srgbClr val="C5D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4718304"/>
            <a:ext cx="1554480" cy="11155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" y="4882896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" y="550468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/ RA / plan only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65960" y="987552"/>
            <a:ext cx="2057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9112" y="1024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Confirm freeze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39112" y="129844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KRIs, issues, exams, PAR rows pre-loaded. No typing.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60520" y="987552"/>
            <a:ext cx="2057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33672" y="1024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Structured checklist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33672" y="129844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45–90 min. Scope + status taxonomy + so-what.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987552"/>
            <a:ext cx="2057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1024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Propose deltas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28232" y="129844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/ RA / plan only if residual moved.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49640" y="987552"/>
            <a:ext cx="2057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22792" y="1024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½-page narrative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22792" y="129844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only. Inherit Global rows.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65960" y="2322576"/>
            <a:ext cx="2057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39112" y="2359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Completeness pass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39112" y="26334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region checked in. Challenge missing tags.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60520" y="2322576"/>
            <a:ext cx="2057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33672" y="2359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Apply view rules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33672" y="26334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Platform-brief Y/N. Collapse same-theme items.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55080" y="2322576"/>
            <a:ext cx="2057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2359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Write SOTU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28232" y="26334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Y items. Accept / reject plan deltas.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49640" y="2322576"/>
            <a:ext cx="2057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22792" y="2359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Publish views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22792" y="26334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brief + 4 regional cuts + heatmap.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965960" y="3657600"/>
            <a:ext cx="315468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57400" y="36941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Pre-populate CRM object from source systems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057400" y="396849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· plan · PAR · KRI dashboard · exam log · last-quarter brief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257800" y="3657600"/>
            <a:ext cx="315468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49240" y="36941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drafts + enforce taxonomy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49240" y="396849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lists. No-change cells cannot receive paragraphs.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549640" y="3657600"/>
            <a:ext cx="315468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1080" y="36941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accepted deltas to Auditsphere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641080" y="396849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residual, plan timing, advisory adds — once, not four times.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965960" y="4864608"/>
            <a:ext cx="4297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4591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57400" y="49194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only AU / RA / plan changes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057400" y="517550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Advice pull-forward this quarter. Quiet regions do not enter this lane.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46520" y="4864608"/>
            <a:ext cx="5257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4591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37960" y="49194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reuse the platform chain on regional views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537960" y="5175504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prepared + regional reviewed is enough unless the item changes AU, RA, or the plan.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09728" cy="587959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 ·  REGIONAL 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quarter in the life of the US Wealth Management auditor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auditor workflow  ·  Wealth Management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2240280" cy="530352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923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 Freeze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1161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868680"/>
            <a:ext cx="2240280" cy="530352"/>
          </a:xfrm>
          <a:prstGeom prst="chevron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923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 Checklist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33472" y="1161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45–90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2240280" cy="530352"/>
          </a:xfrm>
          <a:prstGeom prst="chevron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923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 Propose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1161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residual moved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868680"/>
            <a:ext cx="2240280" cy="530352"/>
          </a:xfrm>
          <a:prstGeom prst="chevron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923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 React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1161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only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15400" y="868680"/>
            <a:ext cx="2880360" cy="530352"/>
          </a:xfrm>
          <a:prstGeom prst="chevron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9992" y="923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W3–W4  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79992" y="1161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1572768"/>
            <a:ext cx="21945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1572768"/>
            <a:ext cx="2194560" cy="7315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1700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US filter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2084832"/>
            <a:ext cx="20116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CRM-WM-2026-Q4 already holds pre-loaded KRIs, issues, PAR, exams. Confirm the freeze. Do not export to Word.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68880" y="1572768"/>
            <a:ext cx="21945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1572768"/>
            <a:ext cx="2194560" cy="7315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1700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what you own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560320" y="2084832"/>
            <a:ext cx="20116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 COO. Retirement onboarding $2.4M. Reg BI exam. Advice-fail 5.2%. Status taxonomy is a dropdown.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1572768"/>
            <a:ext cx="21945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1572768"/>
            <a:ext cx="2194560" cy="7315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1700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plan proposal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09160" y="2084832"/>
            <a:ext cx="20116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↑ on WM–Advice–US. Propose pull-forward of 2027 suitability engagement. Stop. Platform owner decides.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66560" y="1572768"/>
            <a:ext cx="21945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1572768"/>
            <a:ext cx="2194560" cy="7315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1700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rewrite Global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0" y="2084832"/>
            <a:ext cx="20116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appointment, advisor desktop, enterprise cyber already exist as Global rows. Confirm US impact flag only.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15400" y="1572768"/>
            <a:ext cx="21945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15400" y="1572768"/>
            <a:ext cx="2194560" cy="7315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3" name="Text 41"/>
          <p:cNvSpPr/>
          <p:nvPr/>
        </p:nvSpPr>
        <p:spPr>
          <a:xfrm>
            <a:off x="9006840" y="1700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page, then Prepared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006840" y="2084832"/>
            <a:ext cx="20116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drafts the US view. Edit judgment sentences. Sign Prepared — US tagged facts only.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3703320"/>
            <a:ext cx="114757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3703320"/>
            <a:ext cx="91440" cy="26517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38221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 auditor stops doing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94360" y="41605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SOTU rewrite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94360" y="43982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owner writes the left-hand page from tagged bullets.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297680" y="41605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“no change” essays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297680" y="43982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UK/CAN quiet steps are a status code. They never become paragraphs.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001000" y="41605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second cyber issue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001000" y="43982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finding is one record with US = Impacted.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4360" y="51663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KRI re-key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94360" y="540410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dashboard value. Attach WM-QA-Q4. Move on.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297680" y="51663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four-person approve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297680" y="540410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Prepared is enough until AU/RA/plan moves — which it did, once.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001000" y="51663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parallel Word file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001000" y="540410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 view is a filter on CRM-WM-2026-Q4.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09728" cy="587959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 ·  PLATFORM CRM OWNER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WM platform lead synthesizes — they do not re-type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auditor workflow  ·  Wealth Management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91440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1097280"/>
            <a:ext cx="438912" cy="43891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117043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" y="11521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the intake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" y="16916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cannot close until all four regions have a Prepared stamp or an explicit “nothing material” status on every step.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91440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0832" y="1097280"/>
            <a:ext cx="438912" cy="43891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7" name="Text 15"/>
          <p:cNvSpPr/>
          <p:nvPr/>
        </p:nvSpPr>
        <p:spPr>
          <a:xfrm>
            <a:off x="4370832" y="117043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11521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view rules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70832" y="16916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applies VR-01 to VR-12. You only override platform_brief_flag when judgment disagrees with the rule.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2440" y="91440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57032" y="1097280"/>
            <a:ext cx="438912" cy="43891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2" name="Text 20"/>
          <p:cNvSpPr/>
          <p:nvPr/>
        </p:nvSpPr>
        <p:spPr>
          <a:xfrm>
            <a:off x="8257032" y="117043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05672" y="11521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 or split themes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57032" y="16916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Duty + US Reg BI = one control theme (advice evidence). Do not invent a third “platform culture” theme.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52044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" y="3703320"/>
            <a:ext cx="438912" cy="43891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377647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" y="3758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the three writes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4632" y="4297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US residual ↑ and plan pull-forward. Accept UK advisory. Reject anything that would create a fourth WM platform.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06240" y="352044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3703320"/>
            <a:ext cx="438912" cy="43891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2" name="Text 30"/>
          <p:cNvSpPr/>
          <p:nvPr/>
        </p:nvSpPr>
        <p:spPr>
          <a:xfrm>
            <a:off x="4370832" y="377647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3758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eight bullets max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370832" y="4297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SOTU is the only free-text you author. Everything else is a table filtered from facts.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92440" y="352044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57032" y="3703320"/>
            <a:ext cx="438912" cy="438912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7" name="Text 35"/>
          <p:cNvSpPr/>
          <p:nvPr/>
        </p:nvSpPr>
        <p:spPr>
          <a:xfrm>
            <a:off x="8257032" y="377647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05672" y="3758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three artifacts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57032" y="4297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brief (current look). Four regional cuts. One heatmap. Same object ID on every footer.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09728" cy="587959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RIGHTS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allowed to touch which field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auditor workflow  ·  Wealth Management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3291840" cy="566928"/>
          </a:xfrm>
          <a:prstGeom prst="rect">
            <a:avLst/>
          </a:prstGeom>
          <a:solidFill>
            <a:srgbClr val="003366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94183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/ decision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868680"/>
            <a:ext cx="1965960" cy="566928"/>
          </a:xfrm>
          <a:prstGeom prst="rect">
            <a:avLst/>
          </a:prstGeom>
          <a:solidFill>
            <a:srgbClr val="003366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941832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868680"/>
            <a:ext cx="2148840" cy="566928"/>
          </a:xfrm>
          <a:prstGeom prst="rect">
            <a:avLst/>
          </a:prstGeom>
          <a:solidFill>
            <a:srgbClr val="003366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96712" y="941832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owner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868680"/>
            <a:ext cx="1965960" cy="566928"/>
          </a:xfrm>
          <a:prstGeom prst="rect">
            <a:avLst/>
          </a:prstGeom>
          <a:solidFill>
            <a:srgbClr val="003366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45552" y="941832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38360" y="868680"/>
            <a:ext cx="1965960" cy="566928"/>
          </a:xfrm>
          <a:prstGeom prst="rect">
            <a:avLst/>
          </a:prstGeom>
          <a:solidFill>
            <a:srgbClr val="003366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11512" y="941832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1435608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508760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regional FACT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1435608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1508760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23560" y="1435608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6712" y="150876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only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1435608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1508760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38360" y="1435608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11512" y="1508760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2002536"/>
            <a:ext cx="329184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075688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Global FACT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0" y="2002536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2075688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request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23560" y="2002536"/>
            <a:ext cx="214884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96712" y="2075688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772400" y="2002536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2075688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738360" y="2002536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11512" y="2075688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2569464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2642616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status_taxonomy up to CHG_NO_IMPACT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0" y="2569464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0752" y="2642616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23560" y="2569464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96712" y="2642616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check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772400" y="2569464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45552" y="2642616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list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738360" y="2569464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11512" y="2642616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3136392"/>
            <a:ext cx="329184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3209544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status_taxonomy CHG_RA / CHG_PLAN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0" y="3136392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30752" y="320954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623560" y="3136392"/>
            <a:ext cx="214884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96712" y="3209544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reject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772400" y="3136392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45552" y="320954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if accepted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738360" y="3136392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11512" y="320954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65760" y="3703320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377647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platform_brief_flag override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657600" y="3703320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30752" y="3776472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623560" y="3703320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96712" y="3776472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772400" y="3703320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45552" y="3776472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from rules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738360" y="3703320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11512" y="3776472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65760" y="4270248"/>
            <a:ext cx="329184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" y="4343400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SOTU narrative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3657600" y="4270248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30752" y="4343400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bullets max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623560" y="4270248"/>
            <a:ext cx="214884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96712" y="434340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772400" y="4270248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45552" y="4343400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from facts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738360" y="4270248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811512" y="4343400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65760" y="4837176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" y="4910328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½-page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657600" y="4837176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30752" y="4910328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623560" y="4837176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96712" y="4910328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772400" y="4837176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845552" y="4910328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9738360" y="4837176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811512" y="4910328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lead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365760" y="5404104"/>
            <a:ext cx="329184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" y="5477256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Auditsphere AU / RA / plan write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3657600" y="5404104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30752" y="5477256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5623560" y="5404104"/>
            <a:ext cx="214884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696712" y="5477256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7772400" y="5404104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45552" y="5477256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write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9738360" y="5404104"/>
            <a:ext cx="1965960" cy="566928"/>
          </a:xfrm>
          <a:prstGeom prst="rect">
            <a:avLst/>
          </a:prstGeom>
          <a:solidFill>
            <a:srgbClr val="EAF2F8"/>
          </a:solidFill>
          <a:ln w="6350">
            <a:solidFill>
              <a:srgbClr val="C5D4E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811512" y="5477256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Countersign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Auditor Persona Workflow</dc:title>
  <dc:subject>PptxGenJS Presentation</dc:subject>
  <dc:creator>Internal Audit — Process Transformation</dc:creator>
  <cp:lastModifiedBy>Internal Audit — Process Transformation</cp:lastModifiedBy>
  <cp:revision>1</cp:revision>
  <dcterms:created xsi:type="dcterms:W3CDTF">2026-08-28T16:01:32Z</dcterms:created>
  <dcterms:modified xsi:type="dcterms:W3CDTF">2026-08-28T16:01:32Z</dcterms:modified>
</cp:coreProperties>
</file>