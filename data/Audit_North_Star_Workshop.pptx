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f2bbafd78b4aa5" /><Relationship Type="http://schemas.openxmlformats.org/officeDocument/2006/relationships/extended-properties" Target="/docProps/app.xml" Id="Rbf95d1104c7e447a" /><Relationship Type="http://schemas.openxmlformats.org/officeDocument/2006/relationships/officeDocument" Target="/ppt/presentation.xml" Id="R23e9514adfc24d9f" /></Relationships>
</file>

<file path=ppt/presentation.xml><?xml version="1.0" encoding="utf-8"?>
<p:presentation xmlns:p="http://schemas.openxmlformats.org/presentationml/2006/main">
  <p:sldMasterIdLst>
    <p:sldMasterId xmlns:r="http://schemas.openxmlformats.org/officeDocument/2006/relationships" id="2147483648" r:id="R2d8ef43960764afd"/>
  </p:sldMasterIdLst>
  <p:notesMasterIdLst>
    <p:notesMasterId xmlns:r="http://schemas.openxmlformats.org/officeDocument/2006/relationships" r:id="R380eea50b2a947e0"/>
  </p:notesMasterIdLst>
  <p:sldIdLst>
    <p:sldId xmlns:r="http://schemas.openxmlformats.org/officeDocument/2006/relationships" id="256" r:id="Rd590589f880f428e"/>
    <p:sldId xmlns:r="http://schemas.openxmlformats.org/officeDocument/2006/relationships" id="257" r:id="R123504d2cbac44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171995bf124f88" /><Relationship Type="http://schemas.openxmlformats.org/officeDocument/2006/relationships/slideMaster" Target="/ppt/slideMasters/slideMaster1.xml" Id="R2d8ef43960764afd" /><Relationship Type="http://schemas.openxmlformats.org/officeDocument/2006/relationships/notesMaster" Target="/ppt/notesMasters/notesMaster1.xml" Id="R380eea50b2a947e0" /><Relationship Type="http://schemas.openxmlformats.org/officeDocument/2006/relationships/presProps" Target="/ppt/presProps.xml" Id="R36b76372b43f4d6b" /><Relationship Type="http://schemas.openxmlformats.org/officeDocument/2006/relationships/tableStyles" Target="/ppt/tableStyles.xml" Id="R917697e32bc445d2" /><Relationship Type="http://schemas.openxmlformats.org/officeDocument/2006/relationships/slide" Target="/ppt/slides/slide1.xml" Id="Rd590589f880f428e" /><Relationship Type="http://schemas.openxmlformats.org/officeDocument/2006/relationships/slide" Target="/ppt/slides/slide2.xml" Id="R123504d2cbac44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f0d56518764f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892bb876374742" /><Relationship Type="http://schemas.openxmlformats.org/officeDocument/2006/relationships/notesMaster" Target="/ppt/notesMasters/notesMaster1.xml" Id="R17fd0e52bff844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acf3359c4e495c" /><Relationship Type="http://schemas.openxmlformats.org/officeDocument/2006/relationships/notesMaster" Target="/ppt/notesMasters/notesMaster1.xml" Id="Rba60e77df47f4b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BASIS — reviewed 19 October 2026</a:t>
            </a:r>
          </a:p>
          <a:p xmlns:a="http://schemas.openxmlformats.org/drawingml/2006/main">
            <a:r>
              <a:t/>
            </a:r>
          </a:p>
          <a:p xmlns:a="http://schemas.openxmlformats.org/drawingml/2006/main">
            <a:r>
              <a:t>[1] The IIA, Three Lines Model: Assurance and Advice in Support of Effective Governance, published 8 July 2026. Pages 7, 15–16 and 19 retain the model’s core structure, describe integrated assurance as a mature form of coordination, and position Audit as an integrator able to decline unsuitable reliance. This is a Statement of Position, outside the IPPF, rather than a new mandatory standard.</a:t>
            </a:r>
          </a:p>
          <a:p xmlns:a="http://schemas.openxmlformats.org/drawingml/2006/main">
            <a:r>
              <a:t>https://www.theiia.org/globalassets/site/resources/statements-of-position/tlm_assurance_advice_support_effective_gov_en.pdf</a:t>
            </a:r>
          </a:p>
          <a:p xmlns:a="http://schemas.openxmlformats.org/drawingml/2006/main">
            <a:r>
              <a:t>Publication date: https://www.theiia.org/en/resources/statements-of-position/</a:t>
            </a:r>
          </a:p>
          <a:p xmlns:a="http://schemas.openxmlformats.org/drawingml/2006/main">
            <a:r>
              <a:t/>
            </a:r>
          </a:p>
          <a:p xmlns:a="http://schemas.openxmlformats.org/drawingml/2006/main">
            <a:r>
              <a:t>[2] Deloitte, Financial Services Internal Audit Planning Priorities 2027, 14 September 2026. The explicitly labelled 2027 section recommends evaluating the reliability of the wider assurance system as AI and embedded controls expand. The dated webpage is the source, not the full downloadable report. Exclude residual 2025 introductory copy on the same page.</a:t>
            </a:r>
          </a:p>
          <a:p xmlns:a="http://schemas.openxmlformats.org/drawingml/2006/main">
            <a:r>
              <a:t>https://www.deloitte.com/uk/en/services/risk-advisory/research/internal-audit-planning-priorities.html</a:t>
            </a:r>
          </a:p>
          <a:p xmlns:a="http://schemas.openxmlformats.org/drawingml/2006/main">
            <a:r>
              <a:t/>
            </a:r>
          </a:p>
          <a:p xmlns:a="http://schemas.openxmlformats.org/drawingml/2006/main">
            <a:r>
              <a:t>[3] PwC, The new internal audit—Moving beyond traditional constraints, 8 October 2026. Advocates redesign around continuously available information and agentic workflows, deliberate human decision points and governed pilots. This is a proposed direction, not a verified maturity benchmark or proof of realised savings at major banks.</a:t>
            </a:r>
          </a:p>
          <a:p xmlns:a="http://schemas.openxmlformats.org/drawingml/2006/main">
            <a:r>
              <a:t>https://www.pwc.com/us/en/services/consulting/risk-regulatory/enterprise-risk-management-controls/internal-audit-services/ai-internal-audit.html</a:t>
            </a:r>
          </a:p>
          <a:p xmlns:a="http://schemas.openxmlformats.org/drawingml/2006/main">
            <a:r>
              <a:t/>
            </a:r>
          </a:p>
          <a:p xmlns:a="http://schemas.openxmlformats.org/drawingml/2006/main">
            <a:r>
              <a:t>[4] The IIA, Global Internal Audit Standards, Standard 9.5, pages 69–71. Coordination and consideration of reliance are requirements. Reliance must have a documented basis, and the CAE remains responsible for Audit’s conclusions. Implementation considerations cover provider competence, objectivity, independence, methods and supporting evidence.</a:t>
            </a:r>
          </a:p>
          <a:p xmlns:a="http://schemas.openxmlformats.org/drawingml/2006/main">
            <a:r>
              <a:t>https://www.theiia.org/globalassets/site/standards/globalinternalauditstandards_2024january9_printable.pdf</a:t>
            </a:r>
          </a:p>
          <a:p xmlns:a="http://schemas.openxmlformats.org/drawingml/2006/main">
            <a:r>
              <a:t/>
            </a:r>
          </a:p>
          <a:p xmlns:a="http://schemas.openxmlformats.org/drawingml/2006/main">
            <a:r>
              <a:t>FACILITATION CHALLENGE</a:t>
            </a:r>
          </a:p>
          <a:p xmlns:a="http://schemas.openxmlformats.org/drawingml/2006/main">
            <a:r>
              <a:t>The proposal coordinates assurance across distinct accountabilities. It does not assume that shared evidence creates independent assurance, that all duplication is waste, or that all lines should use the same judgement or AI model. Test data completeness, source provenance and the quality of other providers before reducing Audit work. AI-assisted QA must include human validation and a way to identify errors shared with the underlying audit workflow.</a:t>
            </a:r>
          </a:p>
          <a:p xmlns:a="http://schemas.openxmlformats.org/drawingml/2006/main">
            <a:r>
              <a:t/>
            </a:r>
          </a:p>
          <a:p xmlns:a="http://schemas.openxmlformats.org/drawingml/2006/main">
            <a:r>
              <a:t>Agree whether today’s AUs/AEs are the right coverage units. Preserve end-to-end processes and risks that cross businesses, functions and jurisdictions. Name owners for mapping changes and exceptions. Total effort includes preparation, review, rework, implementation and ongoing AI oversight across affected teams. Establish baselines before proposing targets and validate coverage and quality alongside efficiency.</a:t>
            </a:r>
          </a:p>
          <a:p xmlns:a="http://schemas.openxmlformats.org/drawingml/2006/main">
            <a:r>
              <a:t/>
            </a:r>
          </a:p>
          <a:p xmlns:a="http://schemas.openxmlformats.org/drawingml/2006/main">
            <a:r>
              <a:t>Banking context: Basel IAC10, paragraphs 10.8–10.12 and 10.57–10.58, retains independent audit assessment of the systems and processes created by the first and second lines. Its 2026 consolidated page carries the June 2012 guidance. No RBC-specific approval or requirement is asserted here.</a:t>
            </a:r>
          </a:p>
          <a:p xmlns:a="http://schemas.openxmlformats.org/drawingml/2006/main">
            <a:r>
              <a:t>https://www.bis.org/committees/bcbs/basel-consolidated-guidelines/module/iac/10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FACILITATION PLAN</a:t>
            </a:r>
          </a:p>
          <a:p xmlns:a="http://schemas.openxmlformats.org/drawingml/2006/main">
            <a:r>
              <a:t>The agenda totals 120 minutes: 15 + 30 + 35 + 25 + 15. Roles, timings and milestones are proposed. The session agrees Audit’s direction and design mandate. Leaders of other lines and the appropriate sponsor or governing body must agree commitments affecting their accountabilities. Do not represent this Audit-only session as approval of an enterprise operating model.</a:t>
            </a:r>
          </a:p>
          <a:p xmlns:a="http://schemas.openxmlformats.org/drawingml/2006/main">
            <a:r>
              <a:t/>
            </a:r>
          </a:p>
          <a:p xmlns:a="http://schemas.openxmlformats.org/drawingml/2006/main">
            <a:r>
              <a:t>Before the session, the facilitator consolidates available effort, delay, rework and coverage evidence. Each executive supplies one material friction point or design constraint. Use a worked risk case spanning business and jurisdictional boundaries, such as disruption of a critical third-party service. Map the enterprise objective, process, risk, legal entities, assurance providers and evidence available. Distinguish regulatory obligations and approved policy from methodology and preferences.</a:t>
            </a:r>
          </a:p>
          <a:p xmlns:a="http://schemas.openxmlformats.org/drawingml/2006/main">
            <a:r>
              <a:t/>
            </a:r>
          </a:p>
          <a:p xmlns:a="http://schemas.openxmlformats.org/drawingml/2006/main">
            <a:r>
              <a:t>0–15: Ask what the Board should be able to understand or decide sooner. Test the research-backed ambition and identify success measures.</a:t>
            </a:r>
          </a:p>
          <a:p xmlns:a="http://schemas.openxmlformats.org/drawingml/2006/main">
            <a:r>
              <a:t>15–45: Decide coverage units, mapping principles, ownership of changes and the criteria for considering reliance. Record exceptions requiring validation.</a:t>
            </a:r>
          </a:p>
          <a:p xmlns:a="http://schemas.openxmlformats.org/drawingml/2006/main">
            <a:r>
              <a:t>45–80: Trace the same case through CRM, annual coverage choices, engagement scope and quarterly senior management reporting. Apply AI-assisted QA throughout. Identify reusable evidence, retained audit work, human approvals, escalation and activities that stop.</a:t>
            </a:r>
          </a:p>
          <a:p xmlns:a="http://schemas.openxmlformats.org/drawingml/2006/main">
            <a:r>
              <a:t>80–105: Choose a pilot that can validate alignment and the connected workflow while broader universe design continues. Name a sponsor, process owners and baseline/target owners. Include implementation capacity and dependencies.</a:t>
            </a:r>
          </a:p>
          <a:p xmlns:a="http://schemas.openxmlformats.org/drawingml/2006/main">
            <a:r>
              <a:t>105–120: Read back decisions and dissent. Assign an owner and date to each unresolved issue. Confirm the five-working-day draft design brief/pilot plan milestone and next approval gate. Agree a subsequent co-design discussion with Business, Risk and Compliance.</a:t>
            </a:r>
          </a:p>
          <a:p xmlns:a="http://schemas.openxmlformats.org/drawingml/2006/main">
            <a:r>
              <a:t/>
            </a:r>
          </a:p>
          <a:p xmlns:a="http://schemas.openxmlformats.org/drawingml/2006/main">
            <a:r>
              <a:t>ADDITIONAL RESEARCH FOR THE PRE-READ</a:t>
            </a:r>
          </a:p>
          <a:p xmlns:a="http://schemas.openxmlformats.org/drawingml/2006/main">
            <a:r>
              <a:t>Deloitte, Internal Audit Operations Focus Areas for 2026, January 2026, pages 3, 4 and 9: links common risk language and assurance mapping to planning, and recommends governed AI pilots with auditor validation of QA exceptions.</a:t>
            </a:r>
          </a:p>
          <a:p xmlns:a="http://schemas.openxmlformats.org/drawingml/2006/main">
            <a:r>
              <a:t>https://www.deloitte.com/content/dam/assets-zone3/us/en/docs/services/audit-assurance/2026/internal-audit-operations-focus-areas.pdf</a:t>
            </a:r>
          </a:p>
          <a:p xmlns:a="http://schemas.openxmlformats.org/drawingml/2006/main">
            <a:r>
              <a:t>PwC, Global Internal Audit Study 2023, section on collaboration across the lines: advocates shared risk/control taxonomies, assurance maps and aligned plans. Its broad survey and anonymised examples are not a current maturity benchmark for the largest banks.</a:t>
            </a:r>
          </a:p>
          <a:p xmlns:a="http://schemas.openxmlformats.org/drawingml/2006/main">
            <a:r>
              <a:t>https://www.pwc.com/gx/en/services/audit-assurance/internal-audit/global-internal-audit-study.html</a:t>
            </a:r>
          </a:p>
          <a:p xmlns:a="http://schemas.openxmlformats.org/drawingml/2006/main">
            <a:r>
              <a:t/>
            </a:r>
          </a:p>
          <a:p xmlns:a="http://schemas.openxmlformats.org/drawingml/2006/main">
            <a:r>
              <a:t>The design recommendation also uses the sources documented in slide 1. Proposed workshop outcomes and pilot design are our recommendations, not reported facts about RBC.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b9e56815814f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52eeacbfef44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1a9ea26fd648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56152722be46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98be3b12e645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eea41474f204c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E3214E-07A0-480C-834E-44BFAA669C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58C2E13-87F2-4AD6-98EA-027799A5BAD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712E41-2266-4A78-BE83-F48E08BA00D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5E3B16-DC9F-4618-8914-9296412798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EAB2DB-87B1-43C0-98A7-BA4BD2EA58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6AFF0D2-D600-48D0-A6E8-0547C6231D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FB89E4-187C-4489-9277-FAE3EE0CD8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5815F57-4AC9-4F32-97AF-DEB5F60D65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B0B483-42E9-4D9F-A7F0-9C124BB5B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991A01-42D8-4D19-B80E-D46DB7AA4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07255a9a70429b" /><Relationship Type="http://schemas.openxmlformats.org/officeDocument/2006/relationships/slideLayout" Target="/ppt/slideLayouts/slideLayout1.xml" Id="R6a9162fc291149df" /><Relationship Type="http://schemas.openxmlformats.org/officeDocument/2006/relationships/slideLayout" Target="/ppt/slideLayouts/slideLayout2.xml" Id="R69b5d11d0ff24b37" /><Relationship Type="http://schemas.openxmlformats.org/officeDocument/2006/relationships/slideLayout" Target="/ppt/slideLayouts/slideLayout3.xml" Id="R264b7994948b435d" /><Relationship Type="http://schemas.openxmlformats.org/officeDocument/2006/relationships/slideLayout" Target="/ppt/slideLayouts/slideLayout4.xml" Id="R593bbb57355c434e" /><Relationship Type="http://schemas.openxmlformats.org/officeDocument/2006/relationships/slideLayout" Target="/ppt/slideLayouts/slideLayout5.xml" Id="Rfcd050a258d648ce" /><Relationship Type="http://schemas.openxmlformats.org/officeDocument/2006/relationships/slideLayout" Target="/ppt/slideLayouts/slideLayout6.xml" Id="Rfa8819e9e8e24e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9162fc291149df"/>
    <p:sldLayoutId xmlns:r="http://schemas.openxmlformats.org/officeDocument/2006/relationships" id="2147483650" r:id="R69b5d11d0ff24b37"/>
    <p:sldLayoutId xmlns:r="http://schemas.openxmlformats.org/officeDocument/2006/relationships" id="2147483651" r:id="R264b7994948b435d"/>
    <p:sldLayoutId xmlns:r="http://schemas.openxmlformats.org/officeDocument/2006/relationships" id="2147483652" r:id="R593bbb57355c434e"/>
    <p:sldLayoutId xmlns:r="http://schemas.openxmlformats.org/officeDocument/2006/relationships" id="2147483653" r:id="Rfcd050a258d648ce"/>
    <p:sldLayoutId xmlns:r="http://schemas.openxmlformats.org/officeDocument/2006/relationships" id="2147483654" r:id="Rfa8819e9e8e24e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2f59090bb8455a" /><Relationship Type="http://schemas.openxmlformats.org/officeDocument/2006/relationships/notesSlide" Target="/ppt/notesSlides/notesSlide1.xml" Id="R86bd2ac2fd414d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3f87d8d12e4b7c" /><Relationship Type="http://schemas.openxmlformats.org/officeDocument/2006/relationships/notesSlide" Target="/ppt/notesSlides/notesSlide2.xml" Id="Re70fcc3e9229477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1-title">
            <a:extLst xmlns:a="http://schemas.openxmlformats.org/drawingml/2006/main">
              <a:ext uri="{FF2B5EF4-FFF2-40B4-BE49-F238E27FC236}">
                <a16:creationId xmlns:a16="http://schemas.microsoft.com/office/drawing/2014/main" id="{2F0CDFCB-D8EA-462F-B7A4-55FAAE2DAC0E}"/>
              </a:ext>
            </a:extLst>
          </p:cNvPr>
          <p:cNvSpPr>
            <a:spLocks xmlns:a="http://schemas.openxmlformats.org/drawingml/2006/main" noGrp="1"/>
          </p:cNvSpPr>
          <p:nvPr/>
        </p:nvSpPr>
        <p:spPr>
          <a:xfrm xmlns:a="http://schemas.openxmlformats.org/drawingml/2006/main">
            <a:off x="533400" y="314325"/>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073359"/>
                </a:solidFill>
                <a:latin typeface="Nimbus Sans"/>
                <a:ea typeface="Nimbus Sans"/>
                <a:cs typeface="Nimbus Sans"/>
              </a:defRPr>
            </a:defPPr>
            <a:lvl1pPr algn="l">
              <a:defRPr sz="3225" b="1">
                <a:solidFill>
                  <a:srgbClr val="073359"/>
                </a:solidFill>
                <a:latin typeface="Nimbus Sans"/>
                <a:ea typeface="Nimbus Sans"/>
                <a:cs typeface="Nimbus Sans"/>
              </a:defRPr>
            </a:lvl1pPr>
            <a:lvl2pPr algn="l">
              <a:defRPr sz="3225" b="1">
                <a:solidFill>
                  <a:srgbClr val="073359"/>
                </a:solidFill>
                <a:latin typeface="Nimbus Sans"/>
                <a:ea typeface="Nimbus Sans"/>
                <a:cs typeface="Nimbus Sans"/>
              </a:defRPr>
            </a:lvl2pPr>
            <a:lvl3pPr algn="l">
              <a:defRPr sz="3225" b="1">
                <a:solidFill>
                  <a:srgbClr val="073359"/>
                </a:solidFill>
                <a:latin typeface="Nimbus Sans"/>
                <a:ea typeface="Nimbus Sans"/>
                <a:cs typeface="Nimbus Sans"/>
              </a:defRPr>
            </a:lvl3pPr>
            <a:lvl4pPr algn="l">
              <a:defRPr sz="3225" b="1">
                <a:solidFill>
                  <a:srgbClr val="073359"/>
                </a:solidFill>
                <a:latin typeface="Nimbus Sans"/>
                <a:ea typeface="Nimbus Sans"/>
                <a:cs typeface="Nimbus Sans"/>
              </a:defRPr>
            </a:lvl4pPr>
            <a:lvl5pPr algn="l">
              <a:defRPr sz="3225" b="1">
                <a:solidFill>
                  <a:srgbClr val="073359"/>
                </a:solidFill>
                <a:latin typeface="Nimbus Sans"/>
                <a:ea typeface="Nimbus Sans"/>
                <a:cs typeface="Nimbus Sans"/>
              </a:defRPr>
            </a:lvl5pPr>
            <a:lvl6pPr algn="l">
              <a:defRPr sz="3225" b="1">
                <a:solidFill>
                  <a:srgbClr val="073359"/>
                </a:solidFill>
                <a:latin typeface="Nimbus Sans"/>
                <a:ea typeface="Nimbus Sans"/>
                <a:cs typeface="Nimbus Sans"/>
              </a:defRPr>
            </a:lvl6pPr>
            <a:lvl7pPr algn="l">
              <a:defRPr sz="3225" b="1">
                <a:solidFill>
                  <a:srgbClr val="073359"/>
                </a:solidFill>
                <a:latin typeface="Nimbus Sans"/>
                <a:ea typeface="Nimbus Sans"/>
                <a:cs typeface="Nimbus Sans"/>
              </a:defRPr>
            </a:lvl7pPr>
            <a:lvl8pPr algn="l">
              <a:defRPr sz="3225" b="1">
                <a:solidFill>
                  <a:srgbClr val="073359"/>
                </a:solidFill>
                <a:latin typeface="Nimbus Sans"/>
                <a:ea typeface="Nimbus Sans"/>
                <a:cs typeface="Nimbus Sans"/>
              </a:defRPr>
            </a:lvl8pPr>
            <a:lvl9pPr algn="l">
              <a:defRPr sz="3225" b="1">
                <a:solidFill>
                  <a:srgbClr val="073359"/>
                </a:solidFill>
                <a:latin typeface="Nimbus Sans"/>
                <a:ea typeface="Nimbus Sans"/>
                <a:cs typeface="Nimbus Sans"/>
              </a:defRPr>
            </a:lvl9pPr>
          </a:lstStyle>
          <a:p xmlns:a="http://schemas.openxmlformats.org/drawingml/2006/main">
            <a:pPr algn="l">
              <a:lnSpc>
                <a:spcPct val="106000"/>
              </a:lnSpc>
              <a:buNone/>
              <a:defRPr sz="3225" b="1">
                <a:solidFill>
                  <a:srgbClr val="073359"/>
                </a:solidFill>
                <a:latin typeface="Nimbus Sans"/>
                <a:ea typeface="Nimbus Sans"/>
                <a:cs typeface="Nimbus Sans"/>
              </a:defRPr>
            </a:pPr>
            <a:r>
              <a:rPr sz="3225" b="1">
                <a:solidFill>
                  <a:srgbClr val="073359"/>
                </a:solidFill>
                <a:latin typeface="Nimbus Sans"/>
                <a:ea typeface="Nimbus Sans"/>
                <a:cs typeface="Nimbus Sans"/>
              </a:rPr>
              <a:t>Coordinated assurance should shape the North Star</a:t>
            </a:r>
          </a:p>
        </p:txBody>
      </p:sp>
      <p:sp>
        <p:nvSpPr>
          <p:cNvPr id="2" name="north-star-label">
            <a:extLst xmlns:a="http://schemas.openxmlformats.org/drawingml/2006/main">
              <a:ext uri="{FF2B5EF4-FFF2-40B4-BE49-F238E27FC236}">
                <a16:creationId xmlns:a16="http://schemas.microsoft.com/office/drawing/2014/main" id="{D59284A1-E70F-4F7A-A48F-7D9018B7C3C6}"/>
              </a:ext>
            </a:extLst>
          </p:cNvPr>
          <p:cNvSpPr>
            <a:spLocks xmlns:a="http://schemas.openxmlformats.org/drawingml/2006/main" noGrp="1"/>
          </p:cNvSpPr>
          <p:nvPr/>
        </p:nvSpPr>
        <p:spPr>
          <a:xfrm xmlns:a="http://schemas.openxmlformats.org/drawingml/2006/main">
            <a:off x="533400" y="981075"/>
            <a:ext cx="11125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88" b="1">
                <a:solidFill>
                  <a:srgbClr val="0B5D91"/>
                </a:solidFill>
                <a:latin typeface="Nimbus Sans"/>
                <a:ea typeface="Nimbus Sans"/>
                <a:cs typeface="Nimbus Sans"/>
              </a:defRPr>
            </a:defPPr>
            <a:lvl1pPr algn="l">
              <a:defRPr sz="1388" b="1">
                <a:solidFill>
                  <a:srgbClr val="0B5D91"/>
                </a:solidFill>
                <a:latin typeface="Nimbus Sans"/>
                <a:ea typeface="Nimbus Sans"/>
                <a:cs typeface="Nimbus Sans"/>
              </a:defRPr>
            </a:lvl1pPr>
            <a:lvl2pPr algn="l">
              <a:defRPr sz="1388" b="1">
                <a:solidFill>
                  <a:srgbClr val="0B5D91"/>
                </a:solidFill>
                <a:latin typeface="Nimbus Sans"/>
                <a:ea typeface="Nimbus Sans"/>
                <a:cs typeface="Nimbus Sans"/>
              </a:defRPr>
            </a:lvl2pPr>
            <a:lvl3pPr algn="l">
              <a:defRPr sz="1388" b="1">
                <a:solidFill>
                  <a:srgbClr val="0B5D91"/>
                </a:solidFill>
                <a:latin typeface="Nimbus Sans"/>
                <a:ea typeface="Nimbus Sans"/>
                <a:cs typeface="Nimbus Sans"/>
              </a:defRPr>
            </a:lvl3pPr>
            <a:lvl4pPr algn="l">
              <a:defRPr sz="1388" b="1">
                <a:solidFill>
                  <a:srgbClr val="0B5D91"/>
                </a:solidFill>
                <a:latin typeface="Nimbus Sans"/>
                <a:ea typeface="Nimbus Sans"/>
                <a:cs typeface="Nimbus Sans"/>
              </a:defRPr>
            </a:lvl4pPr>
            <a:lvl5pPr algn="l">
              <a:defRPr sz="1388" b="1">
                <a:solidFill>
                  <a:srgbClr val="0B5D91"/>
                </a:solidFill>
                <a:latin typeface="Nimbus Sans"/>
                <a:ea typeface="Nimbus Sans"/>
                <a:cs typeface="Nimbus Sans"/>
              </a:defRPr>
            </a:lvl5pPr>
            <a:lvl6pPr algn="l">
              <a:defRPr sz="1388" b="1">
                <a:solidFill>
                  <a:srgbClr val="0B5D91"/>
                </a:solidFill>
                <a:latin typeface="Nimbus Sans"/>
                <a:ea typeface="Nimbus Sans"/>
                <a:cs typeface="Nimbus Sans"/>
              </a:defRPr>
            </a:lvl6pPr>
            <a:lvl7pPr algn="l">
              <a:defRPr sz="1388" b="1">
                <a:solidFill>
                  <a:srgbClr val="0B5D91"/>
                </a:solidFill>
                <a:latin typeface="Nimbus Sans"/>
                <a:ea typeface="Nimbus Sans"/>
                <a:cs typeface="Nimbus Sans"/>
              </a:defRPr>
            </a:lvl7pPr>
            <a:lvl8pPr algn="l">
              <a:defRPr sz="1388" b="1">
                <a:solidFill>
                  <a:srgbClr val="0B5D91"/>
                </a:solidFill>
                <a:latin typeface="Nimbus Sans"/>
                <a:ea typeface="Nimbus Sans"/>
                <a:cs typeface="Nimbus Sans"/>
              </a:defRPr>
            </a:lvl8pPr>
            <a:lvl9pPr algn="l">
              <a:defRPr sz="1388" b="1">
                <a:solidFill>
                  <a:srgbClr val="0B5D91"/>
                </a:solidFill>
                <a:latin typeface="Nimbus Sans"/>
                <a:ea typeface="Nimbus Sans"/>
                <a:cs typeface="Nimbus Sans"/>
              </a:defRPr>
            </a:lvl9pPr>
          </a:lstStyle>
          <a:p xmlns:a="http://schemas.openxmlformats.org/drawingml/2006/main">
            <a:pPr algn="l">
              <a:lnSpc>
                <a:spcPct val="106000"/>
              </a:lnSpc>
              <a:buNone/>
              <a:defRPr sz="1388" b="1">
                <a:solidFill>
                  <a:srgbClr val="0B5D91"/>
                </a:solidFill>
                <a:latin typeface="Nimbus Sans"/>
                <a:ea typeface="Nimbus Sans"/>
                <a:cs typeface="Nimbus Sans"/>
              </a:defRPr>
            </a:pPr>
            <a:r>
              <a:rPr sz="1388" b="1">
                <a:solidFill>
                  <a:srgbClr val="0B5D91"/>
                </a:solidFill>
                <a:latin typeface="Nimbus Sans"/>
                <a:ea typeface="Nimbus Sans"/>
                <a:cs typeface="Nimbus Sans"/>
              </a:rPr>
              <a:t>PROPOSED FOR EXECUTIVE AGREEMENT</a:t>
            </a:r>
          </a:p>
        </p:txBody>
      </p:sp>
      <p:sp>
        <p:nvSpPr>
          <p:cNvPr id="3" name="north-star-statement">
            <a:extLst xmlns:a="http://schemas.openxmlformats.org/drawingml/2006/main">
              <a:ext uri="{FF2B5EF4-FFF2-40B4-BE49-F238E27FC236}">
                <a16:creationId xmlns:a16="http://schemas.microsoft.com/office/drawing/2014/main" id="{3FB8D0F7-D447-4468-B840-A197AA73C6F9}"/>
              </a:ext>
            </a:extLst>
          </p:cNvPr>
          <p:cNvSpPr>
            <a:spLocks xmlns:a="http://schemas.openxmlformats.org/drawingml/2006/main" noGrp="1"/>
          </p:cNvSpPr>
          <p:nvPr/>
        </p:nvSpPr>
        <p:spPr>
          <a:xfrm xmlns:a="http://schemas.openxmlformats.org/drawingml/2006/main">
            <a:off x="533400" y="1304925"/>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63" b="0">
                <a:solidFill>
                  <a:srgbClr val="073359"/>
                </a:solidFill>
                <a:latin typeface="Nimbus Sans"/>
                <a:ea typeface="Nimbus Sans"/>
                <a:cs typeface="Nimbus Sans"/>
              </a:defRPr>
            </a:defPPr>
            <a:lvl1pPr algn="l">
              <a:defRPr sz="2363" b="0">
                <a:solidFill>
                  <a:srgbClr val="073359"/>
                </a:solidFill>
                <a:latin typeface="Nimbus Sans"/>
                <a:ea typeface="Nimbus Sans"/>
                <a:cs typeface="Nimbus Sans"/>
              </a:defRPr>
            </a:lvl1pPr>
            <a:lvl2pPr algn="l">
              <a:defRPr sz="2363" b="0">
                <a:solidFill>
                  <a:srgbClr val="073359"/>
                </a:solidFill>
                <a:latin typeface="Nimbus Sans"/>
                <a:ea typeface="Nimbus Sans"/>
                <a:cs typeface="Nimbus Sans"/>
              </a:defRPr>
            </a:lvl2pPr>
            <a:lvl3pPr algn="l">
              <a:defRPr sz="2363" b="0">
                <a:solidFill>
                  <a:srgbClr val="073359"/>
                </a:solidFill>
                <a:latin typeface="Nimbus Sans"/>
                <a:ea typeface="Nimbus Sans"/>
                <a:cs typeface="Nimbus Sans"/>
              </a:defRPr>
            </a:lvl3pPr>
            <a:lvl4pPr algn="l">
              <a:defRPr sz="2363" b="0">
                <a:solidFill>
                  <a:srgbClr val="073359"/>
                </a:solidFill>
                <a:latin typeface="Nimbus Sans"/>
                <a:ea typeface="Nimbus Sans"/>
                <a:cs typeface="Nimbus Sans"/>
              </a:defRPr>
            </a:lvl4pPr>
            <a:lvl5pPr algn="l">
              <a:defRPr sz="2363" b="0">
                <a:solidFill>
                  <a:srgbClr val="073359"/>
                </a:solidFill>
                <a:latin typeface="Nimbus Sans"/>
                <a:ea typeface="Nimbus Sans"/>
                <a:cs typeface="Nimbus Sans"/>
              </a:defRPr>
            </a:lvl5pPr>
            <a:lvl6pPr algn="l">
              <a:defRPr sz="2363" b="0">
                <a:solidFill>
                  <a:srgbClr val="073359"/>
                </a:solidFill>
                <a:latin typeface="Nimbus Sans"/>
                <a:ea typeface="Nimbus Sans"/>
                <a:cs typeface="Nimbus Sans"/>
              </a:defRPr>
            </a:lvl6pPr>
            <a:lvl7pPr algn="l">
              <a:defRPr sz="2363" b="0">
                <a:solidFill>
                  <a:srgbClr val="073359"/>
                </a:solidFill>
                <a:latin typeface="Nimbus Sans"/>
                <a:ea typeface="Nimbus Sans"/>
                <a:cs typeface="Nimbus Sans"/>
              </a:defRPr>
            </a:lvl7pPr>
            <a:lvl8pPr algn="l">
              <a:defRPr sz="2363" b="0">
                <a:solidFill>
                  <a:srgbClr val="073359"/>
                </a:solidFill>
                <a:latin typeface="Nimbus Sans"/>
                <a:ea typeface="Nimbus Sans"/>
                <a:cs typeface="Nimbus Sans"/>
              </a:defRPr>
            </a:lvl8pPr>
            <a:lvl9pPr algn="l">
              <a:defRPr sz="2363" b="0">
                <a:solidFill>
                  <a:srgbClr val="073359"/>
                </a:solidFill>
                <a:latin typeface="Nimbus Sans"/>
                <a:ea typeface="Nimbus Sans"/>
                <a:cs typeface="Nimbus Sans"/>
              </a:defRPr>
            </a:lvl9pPr>
          </a:lstStyle>
          <a:p xmlns:a="http://schemas.openxmlformats.org/drawingml/2006/main">
            <a:pPr algn="l">
              <a:lnSpc>
                <a:spcPct val="108000"/>
              </a:lnSpc>
              <a:buNone/>
              <a:defRPr sz="2363" b="0">
                <a:solidFill>
                  <a:srgbClr val="073359"/>
                </a:solidFill>
                <a:latin typeface="Nimbus Sans"/>
                <a:ea typeface="Nimbus Sans"/>
                <a:cs typeface="Nimbus Sans"/>
              </a:defRPr>
            </a:pPr>
            <a:r>
              <a:rPr sz="2363" b="0">
                <a:solidFill>
                  <a:srgbClr val="073359"/>
                </a:solidFill>
                <a:latin typeface="Nimbus Sans"/>
                <a:ea typeface="Nimbus Sans"/>
                <a:cs typeface="Nimbus Sans"/>
              </a:rPr>
              <a:t>Timely, independent assurance over material enterprise risks through coordinated assurance and an AI-enabled audit lifecycle.</a:t>
            </a:r>
          </a:p>
        </p:txBody>
      </p:sp>
      <p:sp>
        <p:nvSpPr>
          <p:cNvPr id="4" name="research-direction">
            <a:extLst xmlns:a="http://schemas.openxmlformats.org/drawingml/2006/main">
              <a:ext uri="{FF2B5EF4-FFF2-40B4-BE49-F238E27FC236}">
                <a16:creationId xmlns:a16="http://schemas.microsoft.com/office/drawing/2014/main" id="{51A3FF4E-6C46-4D1A-9481-416C971FD4EA}"/>
              </a:ext>
            </a:extLst>
          </p:cNvPr>
          <p:cNvSpPr>
            <a:spLocks xmlns:a="http://schemas.openxmlformats.org/drawingml/2006/main" noGrp="1"/>
          </p:cNvSpPr>
          <p:nvPr/>
        </p:nvSpPr>
        <p:spPr>
          <a:xfrm xmlns:a="http://schemas.openxmlformats.org/drawingml/2006/main">
            <a:off x="533400" y="2095500"/>
            <a:ext cx="11125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4C6170"/>
                </a:solidFill>
                <a:latin typeface="Nimbus Sans"/>
                <a:ea typeface="Nimbus Sans"/>
                <a:cs typeface="Nimbus Sans"/>
              </a:defRPr>
            </a:defPPr>
            <a:lvl1pPr algn="l">
              <a:defRPr sz="1688" b="0">
                <a:solidFill>
                  <a:srgbClr val="4C6170"/>
                </a:solidFill>
                <a:latin typeface="Nimbus Sans"/>
                <a:ea typeface="Nimbus Sans"/>
                <a:cs typeface="Nimbus Sans"/>
              </a:defRPr>
            </a:lvl1pPr>
            <a:lvl2pPr algn="l">
              <a:defRPr sz="1688" b="0">
                <a:solidFill>
                  <a:srgbClr val="4C6170"/>
                </a:solidFill>
                <a:latin typeface="Nimbus Sans"/>
                <a:ea typeface="Nimbus Sans"/>
                <a:cs typeface="Nimbus Sans"/>
              </a:defRPr>
            </a:lvl2pPr>
            <a:lvl3pPr algn="l">
              <a:defRPr sz="1688" b="0">
                <a:solidFill>
                  <a:srgbClr val="4C6170"/>
                </a:solidFill>
                <a:latin typeface="Nimbus Sans"/>
                <a:ea typeface="Nimbus Sans"/>
                <a:cs typeface="Nimbus Sans"/>
              </a:defRPr>
            </a:lvl3pPr>
            <a:lvl4pPr algn="l">
              <a:defRPr sz="1688" b="0">
                <a:solidFill>
                  <a:srgbClr val="4C6170"/>
                </a:solidFill>
                <a:latin typeface="Nimbus Sans"/>
                <a:ea typeface="Nimbus Sans"/>
                <a:cs typeface="Nimbus Sans"/>
              </a:defRPr>
            </a:lvl4pPr>
            <a:lvl5pPr algn="l">
              <a:defRPr sz="1688" b="0">
                <a:solidFill>
                  <a:srgbClr val="4C6170"/>
                </a:solidFill>
                <a:latin typeface="Nimbus Sans"/>
                <a:ea typeface="Nimbus Sans"/>
                <a:cs typeface="Nimbus Sans"/>
              </a:defRPr>
            </a:lvl5pPr>
            <a:lvl6pPr algn="l">
              <a:defRPr sz="1688" b="0">
                <a:solidFill>
                  <a:srgbClr val="4C6170"/>
                </a:solidFill>
                <a:latin typeface="Nimbus Sans"/>
                <a:ea typeface="Nimbus Sans"/>
                <a:cs typeface="Nimbus Sans"/>
              </a:defRPr>
            </a:lvl6pPr>
            <a:lvl7pPr algn="l">
              <a:defRPr sz="1688" b="0">
                <a:solidFill>
                  <a:srgbClr val="4C6170"/>
                </a:solidFill>
                <a:latin typeface="Nimbus Sans"/>
                <a:ea typeface="Nimbus Sans"/>
                <a:cs typeface="Nimbus Sans"/>
              </a:defRPr>
            </a:lvl7pPr>
            <a:lvl8pPr algn="l">
              <a:defRPr sz="1688" b="0">
                <a:solidFill>
                  <a:srgbClr val="4C6170"/>
                </a:solidFill>
                <a:latin typeface="Nimbus Sans"/>
                <a:ea typeface="Nimbus Sans"/>
                <a:cs typeface="Nimbus Sans"/>
              </a:defRPr>
            </a:lvl8pPr>
            <a:lvl9pPr algn="l">
              <a:defRPr sz="1688" b="0">
                <a:solidFill>
                  <a:srgbClr val="4C6170"/>
                </a:solidFill>
                <a:latin typeface="Nimbus Sans"/>
                <a:ea typeface="Nimbus Sans"/>
                <a:cs typeface="Nimbus Sans"/>
              </a:defRPr>
            </a:lvl9pPr>
          </a:lstStyle>
          <a:p xmlns:a="http://schemas.openxmlformats.org/drawingml/2006/main">
            <a:pPr algn="l">
              <a:lnSpc>
                <a:spcPct val="104000"/>
              </a:lnSpc>
              <a:buNone/>
              <a:defRPr sz="1688" b="0">
                <a:solidFill>
                  <a:srgbClr val="4C6170"/>
                </a:solidFill>
                <a:latin typeface="Nimbus Sans"/>
                <a:ea typeface="Nimbus Sans"/>
                <a:cs typeface="Nimbus Sans"/>
              </a:defRPr>
            </a:pPr>
            <a:r>
              <a:rPr sz="1688" b="0">
                <a:solidFill>
                  <a:srgbClr val="4C6170"/>
                </a:solidFill>
                <a:latin typeface="Nimbus Sans"/>
                <a:ea typeface="Nimbus Sans"/>
                <a:cs typeface="Nimbus Sans"/>
              </a:rPr>
              <a:t>IIA: assurance integration. Deloitte and PwC: continuous risk insight and redesigned AI workflows. [1–3]</a:t>
            </a:r>
          </a:p>
        </p:txBody>
      </p:sp>
      <p:graphicFrame>
        <p:nvGraphicFramePr>
          <p:cNvPr id="5" name="">
            <a:extLst xmlns:a="http://schemas.openxmlformats.org/drawingml/2006/main">
              <a:ext uri="{FF2B5EF4-FFF2-40B4-BE49-F238E27FC236}">
                <a16:creationId xmlns:a16="http://schemas.microsoft.com/office/drawing/2014/main" id="{971B7225-11CC-48EB-8330-5252D4C0C597}"/>
              </a:ext>
            </a:extLst>
          </p:cNvPr>
          <p:cNvGraphicFramePr/>
          <p:nvPr/>
        </p:nvGraphicFramePr>
        <p:xfrm>
          <a:off xmlns:a="http://schemas.openxmlformats.org/drawingml/2006/main" x="533400" y="2514600"/>
          <a:ext xmlns:a="http://schemas.openxmlformats.org/drawingml/2006/main" cx="11125200" cy="3562350"/>
        </p:xfrm>
        <a:graphic xmlns:a="http://schemas.openxmlformats.org/drawingml/2006/main">
          <a:graphicData uri="http://schemas.openxmlformats.org/drawingml/2006/table">
            <a:tbl>
              <a:tblPr firstRow="0" firstCol="0" lastRow="0" lastCol="0" bandRow="0" bandCol="0"/>
              <a:tblGrid>
                <a:gridCol w="2333625"/>
                <a:gridCol w="8791575"/>
              </a:tblGrid>
              <a:tr h="419100">
                <a:tc>
                  <a:txBody>
                    <a:bodyPr wrap="square">
                      <a:noAutofit/>
                    </a:bodyPr>
                    <a:lstStyle/>
                    <a:p>
                      <a:pPr algn="l">
                        <a:lnSpc>
                          <a:spcPct val="104000"/>
                        </a:lnSpc>
                        <a:buNone/>
                      </a:pPr>
                      <a:r>
                        <a:rPr sz="1388" b="1">
                          <a:solidFill>
                            <a:srgbClr val="FFFFFF"/>
                          </a:solidFill>
                          <a:latin typeface="Nimbus Sans"/>
                          <a:ea typeface="Nimbus Sans"/>
                          <a:cs typeface="Nimbus Sans"/>
                        </a:rPr>
                        <a:t>EXECUTIVE DECISION</a:t>
                      </a:r>
                    </a:p>
                  </a:txBody>
                  <a:tcPr marL="161925" marR="161925" marT="95250" marB="95250" anchor="ctr">
                    <a:lnL w="6668">
                      <a:solidFill>
                        <a:srgbClr val="CCD7DF"/>
                      </a:solidFill>
                      <a:prstDash val="solid"/>
                    </a:lnL>
                    <a:lnR w="6668">
                      <a:solidFill>
                        <a:srgbClr val="CCD7DF"/>
                      </a:solidFill>
                      <a:prstDash val="solid"/>
                    </a:lnR>
                    <a:lnT w="6668">
                      <a:solidFill>
                        <a:srgbClr val="CCD7DF"/>
                      </a:solidFill>
                      <a:prstDash val="solid"/>
                    </a:lnT>
                    <a:lnB w="6668">
                      <a:solidFill>
                        <a:srgbClr val="CCD7DF"/>
                      </a:solidFill>
                      <a:prstDash val="solid"/>
                    </a:lnB>
                    <a:solidFill>
                      <a:srgbClr val="073359"/>
                    </a:solidFill>
                  </a:tcPr>
                </a:tc>
                <a:tc>
                  <a:txBody>
                    <a:bodyPr wrap="square">
                      <a:noAutofit/>
                    </a:bodyPr>
                    <a:lstStyle/>
                    <a:p>
                      <a:pPr algn="l">
                        <a:lnSpc>
                          <a:spcPct val="104000"/>
                        </a:lnSpc>
                        <a:buNone/>
                      </a:pPr>
                      <a:r>
                        <a:rPr sz="1388" b="1">
                          <a:solidFill>
                            <a:srgbClr val="FFFFFF"/>
                          </a:solidFill>
                          <a:latin typeface="Nimbus Sans"/>
                          <a:ea typeface="Nimbus Sans"/>
                          <a:cs typeface="Nimbus Sans"/>
                        </a:rPr>
                        <a:t>WHAT THE SESSION SHOULD AGREE</a:t>
                      </a:r>
                    </a:p>
                  </a:txBody>
                  <a:tcPr marL="161925" marR="161925" marT="95250" marB="95250" anchor="ctr">
                    <a:lnR w="6668">
                      <a:solidFill>
                        <a:srgbClr val="CCD7DF"/>
                      </a:solidFill>
                      <a:prstDash val="solid"/>
                    </a:lnR>
                    <a:lnT w="6668">
                      <a:solidFill>
                        <a:srgbClr val="CCD7DF"/>
                      </a:solidFill>
                      <a:prstDash val="solid"/>
                    </a:lnT>
                    <a:lnB w="6668">
                      <a:solidFill>
                        <a:srgbClr val="CCD7DF"/>
                      </a:solidFill>
                      <a:prstDash val="solid"/>
                    </a:lnB>
                    <a:solidFill>
                      <a:srgbClr val="073359"/>
                    </a:solidFill>
                  </a:tcPr>
                </a:tc>
              </a:tr>
              <a:tr h="1085850">
                <a:tc>
                  <a:txBody>
                    <a:bodyPr wrap="square">
                      <a:noAutofit/>
                    </a:bodyPr>
                    <a:lstStyle/>
                    <a:p>
                      <a:pPr algn="l">
                        <a:lnSpc>
                          <a:spcPct val="104000"/>
                        </a:lnSpc>
                        <a:buNone/>
                      </a:pPr>
                      <a:r>
                        <a:rPr sz="1763" b="1">
                          <a:solidFill>
                            <a:srgbClr val="073359"/>
                          </a:solidFill>
                          <a:latin typeface="Nimbus Sans"/>
                          <a:ea typeface="Nimbus Sans"/>
                          <a:cs typeface="Nimbus Sans"/>
                        </a:rPr>
                        <a:t>Enterprise</a:t>
                      </a:r>
                    </a:p>
                    <a:p>
                      <a:pPr algn="l">
                        <a:lnSpc>
                          <a:spcPct val="104000"/>
                        </a:lnSpc>
                        <a:buNone/>
                      </a:pPr>
                      <a:r>
                        <a:rPr sz="1763" b="1">
                          <a:solidFill>
                            <a:srgbClr val="073359"/>
                          </a:solidFill>
                          <a:latin typeface="Nimbus Sans"/>
                          <a:ea typeface="Nimbus Sans"/>
                          <a:cs typeface="Nimbus Sans"/>
                        </a:rPr>
                        <a:t>alignment</a:t>
                      </a:r>
                    </a:p>
                  </a:txBody>
                  <a:tcPr marL="161925" marR="161925" marT="95250" marB="95250" anchor="ctr">
                    <a:lnL w="6668">
                      <a:solidFill>
                        <a:srgbClr val="CCD7DF"/>
                      </a:solidFill>
                      <a:prstDash val="solid"/>
                    </a:lnL>
                    <a:lnR w="6668">
                      <a:solidFill>
                        <a:srgbClr val="CCD7DF"/>
                      </a:solidFill>
                      <a:prstDash val="solid"/>
                    </a:lnR>
                    <a:lnB w="6668">
                      <a:solidFill>
                        <a:srgbClr val="CCD7DF"/>
                      </a:solidFill>
                      <a:prstDash val="solid"/>
                    </a:lnB>
                    <a:solidFill>
                      <a:srgbClr val="F3F6F8"/>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Agree coverage units and whether AUs/AEs need simplifying. Map businesses, processes, risks and legal entities/jurisdictions to enterprise reference data, with clear owners and coverage across boundaries.</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r>
              <a:tr h="1028700">
                <a:tc>
                  <a:txBody>
                    <a:bodyPr wrap="square">
                      <a:noAutofit/>
                    </a:bodyPr>
                    <a:lstStyle/>
                    <a:p>
                      <a:pPr algn="l">
                        <a:lnSpc>
                          <a:spcPct val="104000"/>
                        </a:lnSpc>
                        <a:buNone/>
                      </a:pPr>
                      <a:r>
                        <a:rPr sz="1763" b="1">
                          <a:solidFill>
                            <a:srgbClr val="073359"/>
                          </a:solidFill>
                          <a:latin typeface="Nimbus Sans"/>
                          <a:ea typeface="Nimbus Sans"/>
                          <a:cs typeface="Nimbus Sans"/>
                        </a:rPr>
                        <a:t>Coordinated</a:t>
                      </a:r>
                    </a:p>
                    <a:p>
                      <a:pPr algn="l">
                        <a:lnSpc>
                          <a:spcPct val="104000"/>
                        </a:lnSpc>
                        <a:buNone/>
                      </a:pPr>
                      <a:r>
                        <a:rPr sz="1763" b="1">
                          <a:solidFill>
                            <a:srgbClr val="073359"/>
                          </a:solidFill>
                          <a:latin typeface="Nimbus Sans"/>
                          <a:ea typeface="Nimbus Sans"/>
                          <a:cs typeface="Nimbus Sans"/>
                        </a:rPr>
                        <a:t>assurance</a:t>
                      </a:r>
                    </a:p>
                  </a:txBody>
                  <a:tcPr marL="161925" marR="161925" marT="95250" marB="95250" anchor="ctr">
                    <a:lnL w="6668">
                      <a:solidFill>
                        <a:srgbClr val="CCD7DF"/>
                      </a:solidFill>
                      <a:prstDash val="solid"/>
                    </a:lnL>
                    <a:lnR w="6668">
                      <a:solidFill>
                        <a:srgbClr val="CCD7DF"/>
                      </a:solidFill>
                      <a:prstDash val="solid"/>
                    </a:lnR>
                    <a:lnB w="6668">
                      <a:solidFill>
                        <a:srgbClr val="CCD7DF"/>
                      </a:solidFill>
                      <a:prstDash val="solid"/>
                    </a:lnB>
                    <a:solidFill>
                      <a:srgbClr val="F3F6F8"/>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Map assurance across the Three Lines. Validate evidence before relying on other providers. Audit retains its independent risk view, scope and conclusions, and assesses the assurance system. [1,2,4]</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r>
              <a:tr h="1028700">
                <a:tc>
                  <a:txBody>
                    <a:bodyPr wrap="square">
                      <a:noAutofit/>
                    </a:bodyPr>
                    <a:lstStyle/>
                    <a:p>
                      <a:pPr algn="l">
                        <a:lnSpc>
                          <a:spcPct val="104000"/>
                        </a:lnSpc>
                        <a:buNone/>
                      </a:pPr>
                      <a:r>
                        <a:rPr sz="1763" b="1">
                          <a:solidFill>
                            <a:srgbClr val="073359"/>
                          </a:solidFill>
                          <a:latin typeface="Nimbus Sans"/>
                          <a:ea typeface="Nimbus Sans"/>
                          <a:cs typeface="Nimbus Sans"/>
                        </a:rPr>
                        <a:t>Connected</a:t>
                      </a:r>
                    </a:p>
                    <a:p>
                      <a:pPr algn="l">
                        <a:lnSpc>
                          <a:spcPct val="104000"/>
                        </a:lnSpc>
                        <a:buNone/>
                      </a:pPr>
                      <a:r>
                        <a:rPr sz="1763" b="1">
                          <a:solidFill>
                            <a:srgbClr val="073359"/>
                          </a:solidFill>
                          <a:latin typeface="Nimbus Sans"/>
                          <a:ea typeface="Nimbus Sans"/>
                          <a:cs typeface="Nimbus Sans"/>
                        </a:rPr>
                        <a:t>FY27 delivery</a:t>
                      </a:r>
                    </a:p>
                  </a:txBody>
                  <a:tcPr marL="161925" marR="161925" marT="95250" marB="95250" anchor="ctr">
                    <a:lnL w="6668">
                      <a:solidFill>
                        <a:srgbClr val="CCD7DF"/>
                      </a:solidFill>
                      <a:prstDash val="solid"/>
                    </a:lnL>
                    <a:lnR w="6668">
                      <a:solidFill>
                        <a:srgbClr val="CCD7DF"/>
                      </a:solidFill>
                      <a:prstDash val="solid"/>
                    </a:lnR>
                    <a:lnB w="6668">
                      <a:solidFill>
                        <a:srgbClr val="CCD7DF"/>
                      </a:solidFill>
                      <a:prstDash val="solid"/>
                    </a:lnB>
                    <a:solidFill>
                      <a:srgbClr val="F3F6F8"/>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Use shared risk signals across CRM, annual and engagement planning, and quarterly senior management reporting. Embed AI-enabled QA and human approval. Agree duplicate work to stop.</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r>
            </a:tbl>
          </a:graphicData>
        </a:graphic>
      </p:graphicFrame>
      <p:sp>
        <p:nvSpPr>
          <p:cNvPr id="6" name="success-tests">
            <a:extLst xmlns:a="http://schemas.openxmlformats.org/drawingml/2006/main">
              <a:ext uri="{FF2B5EF4-FFF2-40B4-BE49-F238E27FC236}">
                <a16:creationId xmlns:a16="http://schemas.microsoft.com/office/drawing/2014/main" id="{F1A606D8-002A-40D4-964B-30C9AA1FA0EA}"/>
              </a:ext>
            </a:extLst>
          </p:cNvPr>
          <p:cNvSpPr>
            <a:spLocks xmlns:a="http://schemas.openxmlformats.org/drawingml/2006/main" noGrp="1"/>
          </p:cNvSpPr>
          <p:nvPr/>
        </p:nvSpPr>
        <p:spPr>
          <a:xfrm xmlns:a="http://schemas.openxmlformats.org/drawingml/2006/main">
            <a:off x="533400" y="6210300"/>
            <a:ext cx="11125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C6170"/>
                </a:solidFill>
                <a:latin typeface="Nimbus Sans"/>
                <a:ea typeface="Nimbus Sans"/>
                <a:cs typeface="Nimbus Sans"/>
              </a:defRPr>
            </a:defPPr>
            <a:lvl1pPr algn="l">
              <a:defRPr sz="1650" b="0">
                <a:solidFill>
                  <a:srgbClr val="4C6170"/>
                </a:solidFill>
                <a:latin typeface="Nimbus Sans"/>
                <a:ea typeface="Nimbus Sans"/>
                <a:cs typeface="Nimbus Sans"/>
              </a:defRPr>
            </a:lvl1pPr>
            <a:lvl2pPr algn="l">
              <a:defRPr sz="1650" b="0">
                <a:solidFill>
                  <a:srgbClr val="4C6170"/>
                </a:solidFill>
                <a:latin typeface="Nimbus Sans"/>
                <a:ea typeface="Nimbus Sans"/>
                <a:cs typeface="Nimbus Sans"/>
              </a:defRPr>
            </a:lvl2pPr>
            <a:lvl3pPr algn="l">
              <a:defRPr sz="1650" b="0">
                <a:solidFill>
                  <a:srgbClr val="4C6170"/>
                </a:solidFill>
                <a:latin typeface="Nimbus Sans"/>
                <a:ea typeface="Nimbus Sans"/>
                <a:cs typeface="Nimbus Sans"/>
              </a:defRPr>
            </a:lvl3pPr>
            <a:lvl4pPr algn="l">
              <a:defRPr sz="1650" b="0">
                <a:solidFill>
                  <a:srgbClr val="4C6170"/>
                </a:solidFill>
                <a:latin typeface="Nimbus Sans"/>
                <a:ea typeface="Nimbus Sans"/>
                <a:cs typeface="Nimbus Sans"/>
              </a:defRPr>
            </a:lvl4pPr>
            <a:lvl5pPr algn="l">
              <a:defRPr sz="1650" b="0">
                <a:solidFill>
                  <a:srgbClr val="4C6170"/>
                </a:solidFill>
                <a:latin typeface="Nimbus Sans"/>
                <a:ea typeface="Nimbus Sans"/>
                <a:cs typeface="Nimbus Sans"/>
              </a:defRPr>
            </a:lvl5pPr>
            <a:lvl6pPr algn="l">
              <a:defRPr sz="1650" b="0">
                <a:solidFill>
                  <a:srgbClr val="4C6170"/>
                </a:solidFill>
                <a:latin typeface="Nimbus Sans"/>
                <a:ea typeface="Nimbus Sans"/>
                <a:cs typeface="Nimbus Sans"/>
              </a:defRPr>
            </a:lvl6pPr>
            <a:lvl7pPr algn="l">
              <a:defRPr sz="1650" b="0">
                <a:solidFill>
                  <a:srgbClr val="4C6170"/>
                </a:solidFill>
                <a:latin typeface="Nimbus Sans"/>
                <a:ea typeface="Nimbus Sans"/>
                <a:cs typeface="Nimbus Sans"/>
              </a:defRPr>
            </a:lvl7pPr>
            <a:lvl8pPr algn="l">
              <a:defRPr sz="1650" b="0">
                <a:solidFill>
                  <a:srgbClr val="4C6170"/>
                </a:solidFill>
                <a:latin typeface="Nimbus Sans"/>
                <a:ea typeface="Nimbus Sans"/>
                <a:cs typeface="Nimbus Sans"/>
              </a:defRPr>
            </a:lvl8pPr>
            <a:lvl9pPr algn="l">
              <a:defRPr sz="1650" b="0">
                <a:solidFill>
                  <a:srgbClr val="4C6170"/>
                </a:solidFill>
                <a:latin typeface="Nimbus Sans"/>
                <a:ea typeface="Nimbus Sans"/>
                <a:cs typeface="Nimbus Sans"/>
              </a:defRPr>
            </a:lvl9pPr>
          </a:lstStyle>
          <a:p xmlns:a="http://schemas.openxmlformats.org/drawingml/2006/main">
            <a:pPr algn="l">
              <a:lnSpc>
                <a:spcPct val="104000"/>
              </a:lnSpc>
              <a:buNone/>
              <a:defRPr sz="1650" b="0">
                <a:solidFill>
                  <a:srgbClr val="4C6170"/>
                </a:solidFill>
                <a:latin typeface="Nimbus Sans"/>
                <a:ea typeface="Nimbus Sans"/>
                <a:cs typeface="Nimbus Sans"/>
              </a:defRPr>
            </a:pPr>
            <a:r>
              <a:rPr sz="1650" b="0">
                <a:solidFill>
                  <a:srgbClr val="4C6170"/>
                </a:solidFill>
                <a:latin typeface="Nimbus Sans"/>
                <a:ea typeface="Nimbus Sans"/>
                <a:cs typeface="Nimbus Sans"/>
              </a:rPr>
              <a:t>Success: risk coverage, decision speed, total effort across teams and QA defects/rework.</a:t>
            </a:r>
          </a:p>
        </p:txBody>
      </p:sp>
      <p:sp>
        <p:nvSpPr>
          <p:cNvPr id="7" name="source-references">
            <a:extLst xmlns:a="http://schemas.openxmlformats.org/drawingml/2006/main">
              <a:ext uri="{FF2B5EF4-FFF2-40B4-BE49-F238E27FC236}">
                <a16:creationId xmlns:a16="http://schemas.microsoft.com/office/drawing/2014/main" id="{C106C241-E82F-4C93-BC03-7BFBB7E6446F}"/>
              </a:ext>
            </a:extLst>
          </p:cNvPr>
          <p:cNvSpPr>
            <a:spLocks xmlns:a="http://schemas.openxmlformats.org/drawingml/2006/main" noGrp="1"/>
          </p:cNvSpPr>
          <p:nvPr/>
        </p:nvSpPr>
        <p:spPr>
          <a:xfrm xmlns:a="http://schemas.openxmlformats.org/drawingml/2006/main">
            <a:off x="533400" y="6600825"/>
            <a:ext cx="111252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4C6170"/>
                </a:solidFill>
                <a:latin typeface="Nimbus Sans"/>
                <a:ea typeface="Nimbus Sans"/>
                <a:cs typeface="Nimbus Sans"/>
              </a:defRPr>
            </a:defPPr>
            <a:lvl1pPr algn="l">
              <a:defRPr sz="1125" b="0">
                <a:solidFill>
                  <a:srgbClr val="4C6170"/>
                </a:solidFill>
                <a:latin typeface="Nimbus Sans"/>
                <a:ea typeface="Nimbus Sans"/>
                <a:cs typeface="Nimbus Sans"/>
              </a:defRPr>
            </a:lvl1pPr>
            <a:lvl2pPr algn="l">
              <a:defRPr sz="1125" b="0">
                <a:solidFill>
                  <a:srgbClr val="4C6170"/>
                </a:solidFill>
                <a:latin typeface="Nimbus Sans"/>
                <a:ea typeface="Nimbus Sans"/>
                <a:cs typeface="Nimbus Sans"/>
              </a:defRPr>
            </a:lvl2pPr>
            <a:lvl3pPr algn="l">
              <a:defRPr sz="1125" b="0">
                <a:solidFill>
                  <a:srgbClr val="4C6170"/>
                </a:solidFill>
                <a:latin typeface="Nimbus Sans"/>
                <a:ea typeface="Nimbus Sans"/>
                <a:cs typeface="Nimbus Sans"/>
              </a:defRPr>
            </a:lvl3pPr>
            <a:lvl4pPr algn="l">
              <a:defRPr sz="1125" b="0">
                <a:solidFill>
                  <a:srgbClr val="4C6170"/>
                </a:solidFill>
                <a:latin typeface="Nimbus Sans"/>
                <a:ea typeface="Nimbus Sans"/>
                <a:cs typeface="Nimbus Sans"/>
              </a:defRPr>
            </a:lvl4pPr>
            <a:lvl5pPr algn="l">
              <a:defRPr sz="1125" b="0">
                <a:solidFill>
                  <a:srgbClr val="4C6170"/>
                </a:solidFill>
                <a:latin typeface="Nimbus Sans"/>
                <a:ea typeface="Nimbus Sans"/>
                <a:cs typeface="Nimbus Sans"/>
              </a:defRPr>
            </a:lvl5pPr>
            <a:lvl6pPr algn="l">
              <a:defRPr sz="1125" b="0">
                <a:solidFill>
                  <a:srgbClr val="4C6170"/>
                </a:solidFill>
                <a:latin typeface="Nimbus Sans"/>
                <a:ea typeface="Nimbus Sans"/>
                <a:cs typeface="Nimbus Sans"/>
              </a:defRPr>
            </a:lvl6pPr>
            <a:lvl7pPr algn="l">
              <a:defRPr sz="1125" b="0">
                <a:solidFill>
                  <a:srgbClr val="4C6170"/>
                </a:solidFill>
                <a:latin typeface="Nimbus Sans"/>
                <a:ea typeface="Nimbus Sans"/>
                <a:cs typeface="Nimbus Sans"/>
              </a:defRPr>
            </a:lvl7pPr>
            <a:lvl8pPr algn="l">
              <a:defRPr sz="1125" b="0">
                <a:solidFill>
                  <a:srgbClr val="4C6170"/>
                </a:solidFill>
                <a:latin typeface="Nimbus Sans"/>
                <a:ea typeface="Nimbus Sans"/>
                <a:cs typeface="Nimbus Sans"/>
              </a:defRPr>
            </a:lvl8pPr>
            <a:lvl9pPr algn="l">
              <a:defRPr sz="1125" b="0">
                <a:solidFill>
                  <a:srgbClr val="4C6170"/>
                </a:solidFill>
                <a:latin typeface="Nimbus Sans"/>
                <a:ea typeface="Nimbus Sans"/>
                <a:cs typeface="Nimbus Sans"/>
              </a:defRPr>
            </a:lvl9pPr>
          </a:lstStyle>
          <a:p xmlns:a="http://schemas.openxmlformats.org/drawingml/2006/main">
            <a:pPr algn="l">
              <a:lnSpc>
                <a:spcPct val="100000"/>
              </a:lnSpc>
              <a:buNone/>
              <a:defRPr sz="1125" b="0">
                <a:solidFill>
                  <a:srgbClr val="4C6170"/>
                </a:solidFill>
                <a:latin typeface="Nimbus Sans"/>
                <a:ea typeface="Nimbus Sans"/>
                <a:cs typeface="Nimbus Sans"/>
              </a:defRPr>
            </a:pPr>
            <a:r>
              <a:rPr sz="1125" b="0">
                <a:solidFill>
                  <a:srgbClr val="4C6170"/>
                </a:solidFill>
                <a:latin typeface="Nimbus Sans"/>
                <a:ea typeface="Nimbus Sans"/>
                <a:cs typeface="Nimbus Sans"/>
              </a:rPr>
              <a:t>Sources: [1] IIA, Jul 2026. [2] Deloitte, Sep 2026. [3] PwC, Oct 2026. [4] IIA Standard 9.5. Links in notes.</a:t>
            </a:r>
          </a:p>
        </p:txBody>
      </p:sp>
    </p:spTree>
    <p:extLst>
      <p:ext uri="{BB962C8B-B14F-4D97-AF65-F5344CB8AC3E}">
        <p14:creationId xmlns:p14="http://schemas.microsoft.com/office/powerpoint/2010/main" val="20077117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2-title">
            <a:extLst xmlns:a="http://schemas.openxmlformats.org/drawingml/2006/main">
              <a:ext uri="{FF2B5EF4-FFF2-40B4-BE49-F238E27FC236}">
                <a16:creationId xmlns:a16="http://schemas.microsoft.com/office/drawing/2014/main" id="{A7CED57F-B5DA-444A-B172-54A5EC870E70}"/>
              </a:ext>
            </a:extLst>
          </p:cNvPr>
          <p:cNvSpPr>
            <a:spLocks xmlns:a="http://schemas.openxmlformats.org/drawingml/2006/main" noGrp="1"/>
          </p:cNvSpPr>
          <p:nvPr/>
        </p:nvSpPr>
        <p:spPr>
          <a:xfrm xmlns:a="http://schemas.openxmlformats.org/drawingml/2006/main">
            <a:off x="533400" y="314325"/>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073359"/>
                </a:solidFill>
                <a:latin typeface="Nimbus Sans"/>
                <a:ea typeface="Nimbus Sans"/>
                <a:cs typeface="Nimbus Sans"/>
              </a:defRPr>
            </a:defPPr>
            <a:lvl1pPr algn="l">
              <a:defRPr sz="3225" b="1">
                <a:solidFill>
                  <a:srgbClr val="073359"/>
                </a:solidFill>
                <a:latin typeface="Nimbus Sans"/>
                <a:ea typeface="Nimbus Sans"/>
                <a:cs typeface="Nimbus Sans"/>
              </a:defRPr>
            </a:lvl1pPr>
            <a:lvl2pPr algn="l">
              <a:defRPr sz="3225" b="1">
                <a:solidFill>
                  <a:srgbClr val="073359"/>
                </a:solidFill>
                <a:latin typeface="Nimbus Sans"/>
                <a:ea typeface="Nimbus Sans"/>
                <a:cs typeface="Nimbus Sans"/>
              </a:defRPr>
            </a:lvl2pPr>
            <a:lvl3pPr algn="l">
              <a:defRPr sz="3225" b="1">
                <a:solidFill>
                  <a:srgbClr val="073359"/>
                </a:solidFill>
                <a:latin typeface="Nimbus Sans"/>
                <a:ea typeface="Nimbus Sans"/>
                <a:cs typeface="Nimbus Sans"/>
              </a:defRPr>
            </a:lvl3pPr>
            <a:lvl4pPr algn="l">
              <a:defRPr sz="3225" b="1">
                <a:solidFill>
                  <a:srgbClr val="073359"/>
                </a:solidFill>
                <a:latin typeface="Nimbus Sans"/>
                <a:ea typeface="Nimbus Sans"/>
                <a:cs typeface="Nimbus Sans"/>
              </a:defRPr>
            </a:lvl4pPr>
            <a:lvl5pPr algn="l">
              <a:defRPr sz="3225" b="1">
                <a:solidFill>
                  <a:srgbClr val="073359"/>
                </a:solidFill>
                <a:latin typeface="Nimbus Sans"/>
                <a:ea typeface="Nimbus Sans"/>
                <a:cs typeface="Nimbus Sans"/>
              </a:defRPr>
            </a:lvl5pPr>
            <a:lvl6pPr algn="l">
              <a:defRPr sz="3225" b="1">
                <a:solidFill>
                  <a:srgbClr val="073359"/>
                </a:solidFill>
                <a:latin typeface="Nimbus Sans"/>
                <a:ea typeface="Nimbus Sans"/>
                <a:cs typeface="Nimbus Sans"/>
              </a:defRPr>
            </a:lvl6pPr>
            <a:lvl7pPr algn="l">
              <a:defRPr sz="3225" b="1">
                <a:solidFill>
                  <a:srgbClr val="073359"/>
                </a:solidFill>
                <a:latin typeface="Nimbus Sans"/>
                <a:ea typeface="Nimbus Sans"/>
                <a:cs typeface="Nimbus Sans"/>
              </a:defRPr>
            </a:lvl7pPr>
            <a:lvl8pPr algn="l">
              <a:defRPr sz="3225" b="1">
                <a:solidFill>
                  <a:srgbClr val="073359"/>
                </a:solidFill>
                <a:latin typeface="Nimbus Sans"/>
                <a:ea typeface="Nimbus Sans"/>
                <a:cs typeface="Nimbus Sans"/>
              </a:defRPr>
            </a:lvl8pPr>
            <a:lvl9pPr algn="l">
              <a:defRPr sz="3225" b="1">
                <a:solidFill>
                  <a:srgbClr val="073359"/>
                </a:solidFill>
                <a:latin typeface="Nimbus Sans"/>
                <a:ea typeface="Nimbus Sans"/>
                <a:cs typeface="Nimbus Sans"/>
              </a:defRPr>
            </a:lvl9pPr>
          </a:lstStyle>
          <a:p xmlns:a="http://schemas.openxmlformats.org/drawingml/2006/main">
            <a:pPr algn="l">
              <a:lnSpc>
                <a:spcPct val="106000"/>
              </a:lnSpc>
              <a:buNone/>
              <a:defRPr sz="3225" b="1">
                <a:solidFill>
                  <a:srgbClr val="073359"/>
                </a:solidFill>
                <a:latin typeface="Nimbus Sans"/>
                <a:ea typeface="Nimbus Sans"/>
                <a:cs typeface="Nimbus Sans"/>
              </a:defRPr>
            </a:pPr>
            <a:r>
              <a:rPr sz="3225" b="1">
                <a:solidFill>
                  <a:srgbClr val="073359"/>
                </a:solidFill>
                <a:latin typeface="Nimbus Sans"/>
                <a:ea typeface="Nimbus Sans"/>
                <a:cs typeface="Nimbus Sans"/>
              </a:rPr>
              <a:t>Two hours to agree direction and commit owners</a:t>
            </a:r>
          </a:p>
        </p:txBody>
      </p:sp>
      <p:sp>
        <p:nvSpPr>
          <p:cNvPr id="2" name="prework">
            <a:extLst xmlns:a="http://schemas.openxmlformats.org/drawingml/2006/main">
              <a:ext uri="{FF2B5EF4-FFF2-40B4-BE49-F238E27FC236}">
                <a16:creationId xmlns:a16="http://schemas.microsoft.com/office/drawing/2014/main" id="{CE98553C-A93A-4794-8772-80166FA90D7D}"/>
              </a:ext>
            </a:extLst>
          </p:cNvPr>
          <p:cNvSpPr>
            <a:spLocks xmlns:a="http://schemas.openxmlformats.org/drawingml/2006/main" noGrp="1"/>
          </p:cNvSpPr>
          <p:nvPr/>
        </p:nvSpPr>
        <p:spPr>
          <a:xfrm xmlns:a="http://schemas.openxmlformats.org/drawingml/2006/main">
            <a:off x="533400" y="942975"/>
            <a:ext cx="11125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B2B39"/>
                </a:solidFill>
                <a:latin typeface="Nimbus Sans"/>
                <a:ea typeface="Nimbus Sans"/>
                <a:cs typeface="Nimbus Sans"/>
              </a:defRPr>
            </a:defPPr>
            <a:lvl1pPr algn="l">
              <a:defRPr sz="1725" b="0">
                <a:solidFill>
                  <a:srgbClr val="1B2B39"/>
                </a:solidFill>
                <a:latin typeface="Nimbus Sans"/>
                <a:ea typeface="Nimbus Sans"/>
                <a:cs typeface="Nimbus Sans"/>
              </a:defRPr>
            </a:lvl1pPr>
            <a:lvl2pPr algn="l">
              <a:defRPr sz="1725" b="0">
                <a:solidFill>
                  <a:srgbClr val="1B2B39"/>
                </a:solidFill>
                <a:latin typeface="Nimbus Sans"/>
                <a:ea typeface="Nimbus Sans"/>
                <a:cs typeface="Nimbus Sans"/>
              </a:defRPr>
            </a:lvl2pPr>
            <a:lvl3pPr algn="l">
              <a:defRPr sz="1725" b="0">
                <a:solidFill>
                  <a:srgbClr val="1B2B39"/>
                </a:solidFill>
                <a:latin typeface="Nimbus Sans"/>
                <a:ea typeface="Nimbus Sans"/>
                <a:cs typeface="Nimbus Sans"/>
              </a:defRPr>
            </a:lvl3pPr>
            <a:lvl4pPr algn="l">
              <a:defRPr sz="1725" b="0">
                <a:solidFill>
                  <a:srgbClr val="1B2B39"/>
                </a:solidFill>
                <a:latin typeface="Nimbus Sans"/>
                <a:ea typeface="Nimbus Sans"/>
                <a:cs typeface="Nimbus Sans"/>
              </a:defRPr>
            </a:lvl4pPr>
            <a:lvl5pPr algn="l">
              <a:defRPr sz="1725" b="0">
                <a:solidFill>
                  <a:srgbClr val="1B2B39"/>
                </a:solidFill>
                <a:latin typeface="Nimbus Sans"/>
                <a:ea typeface="Nimbus Sans"/>
                <a:cs typeface="Nimbus Sans"/>
              </a:defRPr>
            </a:lvl5pPr>
            <a:lvl6pPr algn="l">
              <a:defRPr sz="1725" b="0">
                <a:solidFill>
                  <a:srgbClr val="1B2B39"/>
                </a:solidFill>
                <a:latin typeface="Nimbus Sans"/>
                <a:ea typeface="Nimbus Sans"/>
                <a:cs typeface="Nimbus Sans"/>
              </a:defRPr>
            </a:lvl6pPr>
            <a:lvl7pPr algn="l">
              <a:defRPr sz="1725" b="0">
                <a:solidFill>
                  <a:srgbClr val="1B2B39"/>
                </a:solidFill>
                <a:latin typeface="Nimbus Sans"/>
                <a:ea typeface="Nimbus Sans"/>
                <a:cs typeface="Nimbus Sans"/>
              </a:defRPr>
            </a:lvl7pPr>
            <a:lvl8pPr algn="l">
              <a:defRPr sz="1725" b="0">
                <a:solidFill>
                  <a:srgbClr val="1B2B39"/>
                </a:solidFill>
                <a:latin typeface="Nimbus Sans"/>
                <a:ea typeface="Nimbus Sans"/>
                <a:cs typeface="Nimbus Sans"/>
              </a:defRPr>
            </a:lvl8pPr>
            <a:lvl9pPr algn="l">
              <a:defRPr sz="1725" b="0">
                <a:solidFill>
                  <a:srgbClr val="1B2B39"/>
                </a:solidFill>
                <a:latin typeface="Nimbus Sans"/>
                <a:ea typeface="Nimbus Sans"/>
                <a:cs typeface="Nimbus Sans"/>
              </a:defRPr>
            </a:lvl9pPr>
          </a:lstStyle>
          <a:p xmlns:a="http://schemas.openxmlformats.org/drawingml/2006/main">
            <a:pPr algn="l">
              <a:lnSpc>
                <a:spcPct val="105000"/>
              </a:lnSpc>
              <a:buNone/>
              <a:defRPr sz="1725" b="0">
                <a:solidFill>
                  <a:srgbClr val="1B2B39"/>
                </a:solidFill>
                <a:latin typeface="Nimbus Sans"/>
                <a:ea typeface="Nimbus Sans"/>
                <a:cs typeface="Nimbus Sans"/>
              </a:defRPr>
            </a:pPr>
            <a:r>
              <a:rPr sz="1725" b="0">
                <a:solidFill>
                  <a:srgbClr val="1B2B39"/>
                </a:solidFill>
                <a:latin typeface="Nimbus Sans"/>
                <a:ea typeface="Nimbus Sans"/>
                <a:cs typeface="Nimbus Sans"/>
              </a:rPr>
              <a:t>Pre-read 3 working days before: external research, draft North Star, a risk/assurance map for one case spanning businesses and jurisdictions, and evidenced pain points.</a:t>
            </a:r>
          </a:p>
        </p:txBody>
      </p:sp>
      <p:sp>
        <p:nvSpPr>
          <p:cNvPr id="3" name="working-method">
            <a:extLst xmlns:a="http://schemas.openxmlformats.org/drawingml/2006/main">
              <a:ext uri="{FF2B5EF4-FFF2-40B4-BE49-F238E27FC236}">
                <a16:creationId xmlns:a16="http://schemas.microsoft.com/office/drawing/2014/main" id="{2275BE28-B642-4181-A712-C2A29E04140E}"/>
              </a:ext>
            </a:extLst>
          </p:cNvPr>
          <p:cNvSpPr>
            <a:spLocks xmlns:a="http://schemas.openxmlformats.org/drawingml/2006/main" noGrp="1"/>
          </p:cNvSpPr>
          <p:nvPr/>
        </p:nvSpPr>
        <p:spPr>
          <a:xfrm xmlns:a="http://schemas.openxmlformats.org/drawingml/2006/main">
            <a:off x="533400" y="1552575"/>
            <a:ext cx="11125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8" b="0">
                <a:solidFill>
                  <a:srgbClr val="0B5D91"/>
                </a:solidFill>
                <a:latin typeface="Nimbus Sans"/>
                <a:ea typeface="Nimbus Sans"/>
                <a:cs typeface="Nimbus Sans"/>
              </a:defRPr>
            </a:defPPr>
            <a:lvl1pPr algn="l">
              <a:defRPr sz="1688" b="0">
                <a:solidFill>
                  <a:srgbClr val="0B5D91"/>
                </a:solidFill>
                <a:latin typeface="Nimbus Sans"/>
                <a:ea typeface="Nimbus Sans"/>
                <a:cs typeface="Nimbus Sans"/>
              </a:defRPr>
            </a:lvl1pPr>
            <a:lvl2pPr algn="l">
              <a:defRPr sz="1688" b="0">
                <a:solidFill>
                  <a:srgbClr val="0B5D91"/>
                </a:solidFill>
                <a:latin typeface="Nimbus Sans"/>
                <a:ea typeface="Nimbus Sans"/>
                <a:cs typeface="Nimbus Sans"/>
              </a:defRPr>
            </a:lvl2pPr>
            <a:lvl3pPr algn="l">
              <a:defRPr sz="1688" b="0">
                <a:solidFill>
                  <a:srgbClr val="0B5D91"/>
                </a:solidFill>
                <a:latin typeface="Nimbus Sans"/>
                <a:ea typeface="Nimbus Sans"/>
                <a:cs typeface="Nimbus Sans"/>
              </a:defRPr>
            </a:lvl3pPr>
            <a:lvl4pPr algn="l">
              <a:defRPr sz="1688" b="0">
                <a:solidFill>
                  <a:srgbClr val="0B5D91"/>
                </a:solidFill>
                <a:latin typeface="Nimbus Sans"/>
                <a:ea typeface="Nimbus Sans"/>
                <a:cs typeface="Nimbus Sans"/>
              </a:defRPr>
            </a:lvl4pPr>
            <a:lvl5pPr algn="l">
              <a:defRPr sz="1688" b="0">
                <a:solidFill>
                  <a:srgbClr val="0B5D91"/>
                </a:solidFill>
                <a:latin typeface="Nimbus Sans"/>
                <a:ea typeface="Nimbus Sans"/>
                <a:cs typeface="Nimbus Sans"/>
              </a:defRPr>
            </a:lvl5pPr>
            <a:lvl6pPr algn="l">
              <a:defRPr sz="1688" b="0">
                <a:solidFill>
                  <a:srgbClr val="0B5D91"/>
                </a:solidFill>
                <a:latin typeface="Nimbus Sans"/>
                <a:ea typeface="Nimbus Sans"/>
                <a:cs typeface="Nimbus Sans"/>
              </a:defRPr>
            </a:lvl6pPr>
            <a:lvl7pPr algn="l">
              <a:defRPr sz="1688" b="0">
                <a:solidFill>
                  <a:srgbClr val="0B5D91"/>
                </a:solidFill>
                <a:latin typeface="Nimbus Sans"/>
                <a:ea typeface="Nimbus Sans"/>
                <a:cs typeface="Nimbus Sans"/>
              </a:defRPr>
            </a:lvl7pPr>
            <a:lvl8pPr algn="l">
              <a:defRPr sz="1688" b="0">
                <a:solidFill>
                  <a:srgbClr val="0B5D91"/>
                </a:solidFill>
                <a:latin typeface="Nimbus Sans"/>
                <a:ea typeface="Nimbus Sans"/>
                <a:cs typeface="Nimbus Sans"/>
              </a:defRPr>
            </a:lvl8pPr>
            <a:lvl9pPr algn="l">
              <a:defRPr sz="1688" b="0">
                <a:solidFill>
                  <a:srgbClr val="0B5D91"/>
                </a:solidFill>
                <a:latin typeface="Nimbus Sans"/>
                <a:ea typeface="Nimbus Sans"/>
                <a:cs typeface="Nimbus Sans"/>
              </a:defRPr>
            </a:lvl9pPr>
          </a:lstStyle>
          <a:p xmlns:a="http://schemas.openxmlformats.org/drawingml/2006/main">
            <a:pPr algn="l">
              <a:lnSpc>
                <a:spcPct val="104000"/>
              </a:lnSpc>
              <a:buNone/>
              <a:defRPr sz="1688" b="0">
                <a:solidFill>
                  <a:srgbClr val="0B5D91"/>
                </a:solidFill>
                <a:latin typeface="Nimbus Sans"/>
                <a:ea typeface="Nimbus Sans"/>
                <a:cs typeface="Nimbus Sans"/>
              </a:defRPr>
            </a:pPr>
            <a:r>
              <a:rPr sz="1688" b="0">
                <a:solidFill>
                  <a:srgbClr val="0B5D91"/>
                </a:solidFill>
                <a:latin typeface="Nimbus Sans"/>
                <a:ea typeface="Nimbus Sans"/>
                <a:cs typeface="Nimbus Sans"/>
              </a:rPr>
              <a:t>One group. Proposed: CAE chairs and decides. Daniel facilitates. Capture decisions and dissent live.</a:t>
            </a:r>
          </a:p>
        </p:txBody>
      </p:sp>
      <p:graphicFrame>
        <p:nvGraphicFramePr>
          <p:cNvPr id="4" name="">
            <a:extLst xmlns:a="http://schemas.openxmlformats.org/drawingml/2006/main">
              <a:ext uri="{FF2B5EF4-FFF2-40B4-BE49-F238E27FC236}">
                <a16:creationId xmlns:a16="http://schemas.microsoft.com/office/drawing/2014/main" id="{546DB98D-5791-41F2-9202-9B989E515CD8}"/>
              </a:ext>
            </a:extLst>
          </p:cNvPr>
          <p:cNvGraphicFramePr/>
          <p:nvPr/>
        </p:nvGraphicFramePr>
        <p:xfrm>
          <a:off xmlns:a="http://schemas.openxmlformats.org/drawingml/2006/main" x="533400" y="1914525"/>
          <a:ext xmlns:a="http://schemas.openxmlformats.org/drawingml/2006/main" cx="11125200" cy="4219575"/>
        </p:xfrm>
        <a:graphic xmlns:a="http://schemas.openxmlformats.org/drawingml/2006/main">
          <a:graphicData uri="http://schemas.openxmlformats.org/drawingml/2006/table">
            <a:tbl>
              <a:tblPr firstRow="0" firstCol="0" lastRow="0" lastCol="0" bandRow="0" bandCol="0"/>
              <a:tblGrid>
                <a:gridCol w="1543050"/>
                <a:gridCol w="4838700"/>
                <a:gridCol w="4743450"/>
              </a:tblGrid>
              <a:tr h="419100">
                <a:tc>
                  <a:txBody>
                    <a:bodyPr wrap="square">
                      <a:noAutofit/>
                    </a:bodyPr>
                    <a:lstStyle/>
                    <a:p>
                      <a:pPr algn="l">
                        <a:lnSpc>
                          <a:spcPct val="104000"/>
                        </a:lnSpc>
                        <a:buNone/>
                      </a:pPr>
                      <a:r>
                        <a:rPr sz="1388" b="1">
                          <a:solidFill>
                            <a:srgbClr val="FFFFFF"/>
                          </a:solidFill>
                          <a:latin typeface="Nimbus Sans"/>
                          <a:ea typeface="Nimbus Sans"/>
                          <a:cs typeface="Nimbus Sans"/>
                        </a:rPr>
                        <a:t>MINUTES</a:t>
                      </a:r>
                    </a:p>
                  </a:txBody>
                  <a:tcPr marL="161925" marR="161925" marT="95250" marB="95250" anchor="ctr">
                    <a:lnL w="6668">
                      <a:solidFill>
                        <a:srgbClr val="CCD7DF"/>
                      </a:solidFill>
                      <a:prstDash val="solid"/>
                    </a:lnL>
                    <a:lnR w="6668">
                      <a:solidFill>
                        <a:srgbClr val="CCD7DF"/>
                      </a:solidFill>
                      <a:prstDash val="solid"/>
                    </a:lnR>
                    <a:lnT w="6668">
                      <a:solidFill>
                        <a:srgbClr val="CCD7DF"/>
                      </a:solidFill>
                      <a:prstDash val="solid"/>
                    </a:lnT>
                    <a:lnB w="6668">
                      <a:solidFill>
                        <a:srgbClr val="CCD7DF"/>
                      </a:solidFill>
                      <a:prstDash val="solid"/>
                    </a:lnB>
                    <a:solidFill>
                      <a:srgbClr val="073359"/>
                    </a:solidFill>
                  </a:tcPr>
                </a:tc>
                <a:tc>
                  <a:txBody>
                    <a:bodyPr wrap="square">
                      <a:noAutofit/>
                    </a:bodyPr>
                    <a:lstStyle/>
                    <a:p>
                      <a:pPr algn="l">
                        <a:lnSpc>
                          <a:spcPct val="104000"/>
                        </a:lnSpc>
                        <a:buNone/>
                      </a:pPr>
                      <a:r>
                        <a:rPr sz="1388" b="1">
                          <a:solidFill>
                            <a:srgbClr val="FFFFFF"/>
                          </a:solidFill>
                          <a:latin typeface="Nimbus Sans"/>
                          <a:ea typeface="Nimbus Sans"/>
                          <a:cs typeface="Nimbus Sans"/>
                        </a:rPr>
                        <a:t>DISCUSSION</a:t>
                      </a:r>
                    </a:p>
                  </a:txBody>
                  <a:tcPr marL="161925" marR="161925" marT="95250" marB="95250" anchor="ctr">
                    <a:lnR w="6668">
                      <a:solidFill>
                        <a:srgbClr val="CCD7DF"/>
                      </a:solidFill>
                      <a:prstDash val="solid"/>
                    </a:lnR>
                    <a:lnT w="6668">
                      <a:solidFill>
                        <a:srgbClr val="CCD7DF"/>
                      </a:solidFill>
                      <a:prstDash val="solid"/>
                    </a:lnT>
                    <a:lnB w="6668">
                      <a:solidFill>
                        <a:srgbClr val="CCD7DF"/>
                      </a:solidFill>
                      <a:prstDash val="solid"/>
                    </a:lnB>
                    <a:solidFill>
                      <a:srgbClr val="073359"/>
                    </a:solidFill>
                  </a:tcPr>
                </a:tc>
                <a:tc>
                  <a:txBody>
                    <a:bodyPr wrap="square">
                      <a:noAutofit/>
                    </a:bodyPr>
                    <a:lstStyle/>
                    <a:p>
                      <a:pPr algn="l">
                        <a:lnSpc>
                          <a:spcPct val="104000"/>
                        </a:lnSpc>
                        <a:buNone/>
                      </a:pPr>
                      <a:r>
                        <a:rPr sz="1388" b="1">
                          <a:solidFill>
                            <a:srgbClr val="FFFFFF"/>
                          </a:solidFill>
                          <a:latin typeface="Nimbus Sans"/>
                          <a:ea typeface="Nimbus Sans"/>
                          <a:cs typeface="Nimbus Sans"/>
                        </a:rPr>
                        <a:t>REQUIRED OUTPUT</a:t>
                      </a:r>
                    </a:p>
                  </a:txBody>
                  <a:tcPr marL="161925" marR="161925" marT="95250" marB="95250" anchor="ctr">
                    <a:lnR w="6668">
                      <a:solidFill>
                        <a:srgbClr val="CCD7DF"/>
                      </a:solidFill>
                      <a:prstDash val="solid"/>
                    </a:lnR>
                    <a:lnT w="6668">
                      <a:solidFill>
                        <a:srgbClr val="CCD7DF"/>
                      </a:solidFill>
                      <a:prstDash val="solid"/>
                    </a:lnT>
                    <a:lnB w="6668">
                      <a:solidFill>
                        <a:srgbClr val="CCD7DF"/>
                      </a:solidFill>
                      <a:prstDash val="solid"/>
                    </a:lnB>
                    <a:solidFill>
                      <a:srgbClr val="073359"/>
                    </a:solidFill>
                  </a:tcPr>
                </a:tc>
              </a:tr>
              <a:tr h="619125">
                <a:tc>
                  <a:txBody>
                    <a:bodyPr wrap="square">
                      <a:noAutofit/>
                    </a:bodyPr>
                    <a:lstStyle/>
                    <a:p>
                      <a:pPr algn="l">
                        <a:lnSpc>
                          <a:spcPct val="104000"/>
                        </a:lnSpc>
                        <a:buNone/>
                      </a:pPr>
                      <a:r>
                        <a:rPr sz="1763" b="1">
                          <a:solidFill>
                            <a:srgbClr val="073359"/>
                          </a:solidFill>
                          <a:latin typeface="Nimbus Sans"/>
                          <a:ea typeface="Nimbus Sans"/>
                          <a:cs typeface="Nimbus Sans"/>
                        </a:rPr>
                        <a:t>0–15</a:t>
                      </a:r>
                    </a:p>
                  </a:txBody>
                  <a:tcPr marL="161925" marR="161925" marT="95250" marB="95250" anchor="ctr">
                    <a:lnL w="6668">
                      <a:solidFill>
                        <a:srgbClr val="CCD7DF"/>
                      </a:solidFill>
                      <a:prstDash val="solid"/>
                    </a:lnL>
                    <a:lnR w="6668">
                      <a:solidFill>
                        <a:srgbClr val="CCD7DF"/>
                      </a:solidFill>
                      <a:prstDash val="solid"/>
                    </a:lnR>
                    <a:lnB w="6668">
                      <a:solidFill>
                        <a:srgbClr val="CCD7DF"/>
                      </a:solidFill>
                      <a:prstDash val="solid"/>
                    </a:lnB>
                    <a:solidFill>
                      <a:srgbClr val="F3F6F8"/>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Test the future role and proposed North Star</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Agreed ambition and success tests</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r>
              <a:tr h="800100">
                <a:tc>
                  <a:txBody>
                    <a:bodyPr wrap="square">
                      <a:noAutofit/>
                    </a:bodyPr>
                    <a:lstStyle/>
                    <a:p>
                      <a:pPr algn="l">
                        <a:lnSpc>
                          <a:spcPct val="104000"/>
                        </a:lnSpc>
                        <a:buNone/>
                      </a:pPr>
                      <a:r>
                        <a:rPr sz="1763" b="1">
                          <a:solidFill>
                            <a:srgbClr val="073359"/>
                          </a:solidFill>
                          <a:latin typeface="Nimbus Sans"/>
                          <a:ea typeface="Nimbus Sans"/>
                          <a:cs typeface="Nimbus Sans"/>
                        </a:rPr>
                        <a:t>15–45</a:t>
                      </a:r>
                    </a:p>
                  </a:txBody>
                  <a:tcPr marL="161925" marR="161925" marT="95250" marB="95250" anchor="ctr">
                    <a:lnL w="6668">
                      <a:solidFill>
                        <a:srgbClr val="CCD7DF"/>
                      </a:solidFill>
                      <a:prstDash val="solid"/>
                    </a:lnL>
                    <a:lnR w="6668">
                      <a:solidFill>
                        <a:srgbClr val="CCD7DF"/>
                      </a:solidFill>
                      <a:prstDash val="solid"/>
                    </a:lnR>
                    <a:lnB w="6668">
                      <a:solidFill>
                        <a:srgbClr val="CCD7DF"/>
                      </a:solidFill>
                      <a:prstDash val="solid"/>
                    </a:lnB>
                    <a:solidFill>
                      <a:srgbClr val="F3F6F8"/>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Decide enterprise alignment and assurance interfaces</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Coverage units, mapping principles and reliance boundaries</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r>
              <a:tr h="857250">
                <a:tc>
                  <a:txBody>
                    <a:bodyPr wrap="square">
                      <a:noAutofit/>
                    </a:bodyPr>
                    <a:lstStyle/>
                    <a:p>
                      <a:pPr algn="l">
                        <a:lnSpc>
                          <a:spcPct val="104000"/>
                        </a:lnSpc>
                        <a:buNone/>
                      </a:pPr>
                      <a:r>
                        <a:rPr sz="1763" b="1">
                          <a:solidFill>
                            <a:srgbClr val="073359"/>
                          </a:solidFill>
                          <a:latin typeface="Nimbus Sans"/>
                          <a:ea typeface="Nimbus Sans"/>
                          <a:cs typeface="Nimbus Sans"/>
                        </a:rPr>
                        <a:t>45–80</a:t>
                      </a:r>
                    </a:p>
                  </a:txBody>
                  <a:tcPr marL="161925" marR="161925" marT="95250" marB="95250" anchor="ctr">
                    <a:lnL w="6668">
                      <a:solidFill>
                        <a:srgbClr val="CCD7DF"/>
                      </a:solidFill>
                      <a:prstDash val="solid"/>
                    </a:lnL>
                    <a:lnR w="6668">
                      <a:solidFill>
                        <a:srgbClr val="CCD7DF"/>
                      </a:solidFill>
                      <a:prstDash val="solid"/>
                    </a:lnR>
                    <a:lnB w="6668">
                      <a:solidFill>
                        <a:srgbClr val="CCD7DF"/>
                      </a:solidFill>
                      <a:prstDash val="solid"/>
                    </a:lnB>
                    <a:solidFill>
                      <a:srgbClr val="F3F6F8"/>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Walk one risk across the Three Lines and the FY27 lifecycle</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Evidence to reuse, work to stop and human decisions</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r>
              <a:tr h="762000">
                <a:tc>
                  <a:txBody>
                    <a:bodyPr wrap="square">
                      <a:noAutofit/>
                    </a:bodyPr>
                    <a:lstStyle/>
                    <a:p>
                      <a:pPr algn="l">
                        <a:lnSpc>
                          <a:spcPct val="104000"/>
                        </a:lnSpc>
                        <a:buNone/>
                      </a:pPr>
                      <a:r>
                        <a:rPr sz="1763" b="1">
                          <a:solidFill>
                            <a:srgbClr val="073359"/>
                          </a:solidFill>
                          <a:latin typeface="Nimbus Sans"/>
                          <a:ea typeface="Nimbus Sans"/>
                          <a:cs typeface="Nimbus Sans"/>
                        </a:rPr>
                        <a:t>80–105</a:t>
                      </a:r>
                    </a:p>
                  </a:txBody>
                  <a:tcPr marL="161925" marR="161925" marT="95250" marB="95250" anchor="ctr">
                    <a:lnL w="6668">
                      <a:solidFill>
                        <a:srgbClr val="CCD7DF"/>
                      </a:solidFill>
                      <a:prstDash val="solid"/>
                    </a:lnL>
                    <a:lnR w="6668">
                      <a:solidFill>
                        <a:srgbClr val="CCD7DF"/>
                      </a:solidFill>
                      <a:prstDash val="solid"/>
                    </a:lnR>
                    <a:lnB w="6668">
                      <a:solidFill>
                        <a:srgbClr val="CCD7DF"/>
                      </a:solidFill>
                      <a:prstDash val="solid"/>
                    </a:lnB>
                    <a:solidFill>
                      <a:srgbClr val="F3F6F8"/>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Choose FY27 sequence and a pilot</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Pilot owner, scope, dependencies and measures</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r>
              <a:tr h="762000">
                <a:tc>
                  <a:txBody>
                    <a:bodyPr wrap="square">
                      <a:noAutofit/>
                    </a:bodyPr>
                    <a:lstStyle/>
                    <a:p>
                      <a:pPr algn="l">
                        <a:lnSpc>
                          <a:spcPct val="104000"/>
                        </a:lnSpc>
                        <a:buNone/>
                      </a:pPr>
                      <a:r>
                        <a:rPr sz="1763" b="1">
                          <a:solidFill>
                            <a:srgbClr val="073359"/>
                          </a:solidFill>
                          <a:latin typeface="Nimbus Sans"/>
                          <a:ea typeface="Nimbus Sans"/>
                          <a:cs typeface="Nimbus Sans"/>
                        </a:rPr>
                        <a:t>105–120</a:t>
                      </a:r>
                    </a:p>
                  </a:txBody>
                  <a:tcPr marL="161925" marR="161925" marT="95250" marB="95250" anchor="ctr">
                    <a:lnL w="6668">
                      <a:solidFill>
                        <a:srgbClr val="CCD7DF"/>
                      </a:solidFill>
                      <a:prstDash val="solid"/>
                    </a:lnL>
                    <a:lnR w="6668">
                      <a:solidFill>
                        <a:srgbClr val="CCD7DF"/>
                      </a:solidFill>
                      <a:prstDash val="solid"/>
                    </a:lnR>
                    <a:lnB w="6668">
                      <a:solidFill>
                        <a:srgbClr val="CCD7DF"/>
                      </a:solidFill>
                      <a:prstDash val="solid"/>
                    </a:lnB>
                    <a:solidFill>
                      <a:srgbClr val="F3F6F8"/>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Confirm decisions and commitments</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c>
                  <a:txBody>
                    <a:bodyPr wrap="square">
                      <a:noAutofit/>
                    </a:bodyPr>
                    <a:lstStyle/>
                    <a:p>
                      <a:pPr algn="l">
                        <a:lnSpc>
                          <a:spcPct val="104000"/>
                        </a:lnSpc>
                        <a:buNone/>
                      </a:pPr>
                      <a:r>
                        <a:rPr sz="1763" b="0">
                          <a:solidFill>
                            <a:srgbClr val="1B2B39"/>
                          </a:solidFill>
                          <a:latin typeface="Nimbus Sans"/>
                          <a:ea typeface="Nimbus Sans"/>
                          <a:cs typeface="Nimbus Sans"/>
                        </a:rPr>
                        <a:t>Owners, dates and mandate to engage the other lines</a:t>
                      </a:r>
                    </a:p>
                  </a:txBody>
                  <a:tcPr marL="161925" marR="161925" marT="95250" marB="95250" anchor="ctr">
                    <a:lnR w="6668">
                      <a:solidFill>
                        <a:srgbClr val="CCD7DF"/>
                      </a:solidFill>
                      <a:prstDash val="solid"/>
                    </a:lnR>
                    <a:lnB w="6668">
                      <a:solidFill>
                        <a:srgbClr val="CCD7DF"/>
                      </a:solidFill>
                      <a:prstDash val="solid"/>
                    </a:lnB>
                    <a:solidFill>
                      <a:srgbClr val="FFFFFF"/>
                    </a:solidFill>
                  </a:tcPr>
                </a:tc>
              </a:tr>
            </a:tbl>
          </a:graphicData>
        </a:graphic>
      </p:graphicFrame>
      <p:sp>
        <p:nvSpPr>
          <p:cNvPr id="5" name="follow-through">
            <a:extLst xmlns:a="http://schemas.openxmlformats.org/drawingml/2006/main">
              <a:ext uri="{FF2B5EF4-FFF2-40B4-BE49-F238E27FC236}">
                <a16:creationId xmlns:a16="http://schemas.microsoft.com/office/drawing/2014/main" id="{F5EFE263-1CEE-4861-AB6B-605D24973E78}"/>
              </a:ext>
            </a:extLst>
          </p:cNvPr>
          <p:cNvSpPr>
            <a:spLocks xmlns:a="http://schemas.openxmlformats.org/drawingml/2006/main" noGrp="1"/>
          </p:cNvSpPr>
          <p:nvPr/>
        </p:nvSpPr>
        <p:spPr>
          <a:xfrm xmlns:a="http://schemas.openxmlformats.org/drawingml/2006/main">
            <a:off x="533400" y="6257925"/>
            <a:ext cx="11125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C6170"/>
                </a:solidFill>
                <a:latin typeface="Nimbus Sans"/>
                <a:ea typeface="Nimbus Sans"/>
                <a:cs typeface="Nimbus Sans"/>
              </a:defRPr>
            </a:defPPr>
            <a:lvl1pPr algn="l">
              <a:defRPr sz="1650" b="0">
                <a:solidFill>
                  <a:srgbClr val="4C6170"/>
                </a:solidFill>
                <a:latin typeface="Nimbus Sans"/>
                <a:ea typeface="Nimbus Sans"/>
                <a:cs typeface="Nimbus Sans"/>
              </a:defRPr>
            </a:lvl1pPr>
            <a:lvl2pPr algn="l">
              <a:defRPr sz="1650" b="0">
                <a:solidFill>
                  <a:srgbClr val="4C6170"/>
                </a:solidFill>
                <a:latin typeface="Nimbus Sans"/>
                <a:ea typeface="Nimbus Sans"/>
                <a:cs typeface="Nimbus Sans"/>
              </a:defRPr>
            </a:lvl2pPr>
            <a:lvl3pPr algn="l">
              <a:defRPr sz="1650" b="0">
                <a:solidFill>
                  <a:srgbClr val="4C6170"/>
                </a:solidFill>
                <a:latin typeface="Nimbus Sans"/>
                <a:ea typeface="Nimbus Sans"/>
                <a:cs typeface="Nimbus Sans"/>
              </a:defRPr>
            </a:lvl3pPr>
            <a:lvl4pPr algn="l">
              <a:defRPr sz="1650" b="0">
                <a:solidFill>
                  <a:srgbClr val="4C6170"/>
                </a:solidFill>
                <a:latin typeface="Nimbus Sans"/>
                <a:ea typeface="Nimbus Sans"/>
                <a:cs typeface="Nimbus Sans"/>
              </a:defRPr>
            </a:lvl4pPr>
            <a:lvl5pPr algn="l">
              <a:defRPr sz="1650" b="0">
                <a:solidFill>
                  <a:srgbClr val="4C6170"/>
                </a:solidFill>
                <a:latin typeface="Nimbus Sans"/>
                <a:ea typeface="Nimbus Sans"/>
                <a:cs typeface="Nimbus Sans"/>
              </a:defRPr>
            </a:lvl5pPr>
            <a:lvl6pPr algn="l">
              <a:defRPr sz="1650" b="0">
                <a:solidFill>
                  <a:srgbClr val="4C6170"/>
                </a:solidFill>
                <a:latin typeface="Nimbus Sans"/>
                <a:ea typeface="Nimbus Sans"/>
                <a:cs typeface="Nimbus Sans"/>
              </a:defRPr>
            </a:lvl6pPr>
            <a:lvl7pPr algn="l">
              <a:defRPr sz="1650" b="0">
                <a:solidFill>
                  <a:srgbClr val="4C6170"/>
                </a:solidFill>
                <a:latin typeface="Nimbus Sans"/>
                <a:ea typeface="Nimbus Sans"/>
                <a:cs typeface="Nimbus Sans"/>
              </a:defRPr>
            </a:lvl7pPr>
            <a:lvl8pPr algn="l">
              <a:defRPr sz="1650" b="0">
                <a:solidFill>
                  <a:srgbClr val="4C6170"/>
                </a:solidFill>
                <a:latin typeface="Nimbus Sans"/>
                <a:ea typeface="Nimbus Sans"/>
                <a:cs typeface="Nimbus Sans"/>
              </a:defRPr>
            </a:lvl8pPr>
            <a:lvl9pPr algn="l">
              <a:defRPr sz="1650" b="0">
                <a:solidFill>
                  <a:srgbClr val="4C6170"/>
                </a:solidFill>
                <a:latin typeface="Nimbus Sans"/>
                <a:ea typeface="Nimbus Sans"/>
                <a:cs typeface="Nimbus Sans"/>
              </a:defRPr>
            </a:lvl9pPr>
          </a:lstStyle>
          <a:p xmlns:a="http://schemas.openxmlformats.org/drawingml/2006/main">
            <a:pPr algn="l">
              <a:lnSpc>
                <a:spcPct val="105000"/>
              </a:lnSpc>
              <a:buNone/>
              <a:defRPr sz="1650" b="0">
                <a:solidFill>
                  <a:srgbClr val="4C6170"/>
                </a:solidFill>
                <a:latin typeface="Nimbus Sans"/>
                <a:ea typeface="Nimbus Sans"/>
                <a:cs typeface="Nimbus Sans"/>
              </a:defRPr>
            </a:pPr>
            <a:r>
              <a:rPr sz="1650" b="0">
                <a:solidFill>
                  <a:srgbClr val="4C6170"/>
                </a:solidFill>
                <a:latin typeface="Nimbus Sans"/>
                <a:ea typeface="Nimbus Sans"/>
                <a:cs typeface="Nimbus Sans"/>
              </a:rPr>
              <a:t>Proposed next step: within 5 working days, issue the design brief and pilot plan. Agree cross-line commitments with Business, Risk and Compliance.</a:t>
            </a:r>
          </a:p>
        </p:txBody>
      </p:sp>
    </p:spTree>
    <p:extLst>
      <p:ext uri="{BB962C8B-B14F-4D97-AF65-F5344CB8AC3E}">
        <p14:creationId xmlns:p14="http://schemas.microsoft.com/office/powerpoint/2010/main" val="12438272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2026-10-19T11:54:27.8130000Z</dcterms:created>
  <dcterms:modified xsi:type="dcterms:W3CDTF">2026-10-19T11:54:27.8130000Z</dcterms:modified>
</coreProperties>
</file>