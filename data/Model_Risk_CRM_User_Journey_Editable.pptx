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RISK AUDIT TEAM – PROPOSED PLATFORM CRM CONTRIBUTION JOURNEY</a:t>
            </a:r>
          </a:p>
          <a:p/>
          <a:p>
            <a:r>
              <a:t>Purpose</a:t>
            </a:r>
          </a:p>
          <a:p>
            <a:r>
              <a:t>Reduce time spent on CRM data preparation and analysis while making contribution to multiple platform documents straightforward. This is an editable rendering of the detailed process diagram discussed with Daniel, not a statement that all workflow arrangements have already been approved.</a:t>
            </a:r>
          </a:p>
          <a:p/>
          <a:p>
            <a:r>
              <a:t>Agreed design context from the discussion</a:t>
            </a:r>
          </a:p>
          <a:p>
            <a:r>
              <a:t>• CRM moves from AU-level execution to platform-level execution, retaining regional views as required.</a:t>
            </a:r>
          </a:p>
          <a:p>
            <a:r>
              <a:t>• The standardized CRM document has been designed and approved at OC level.</a:t>
            </a:r>
          </a:p>
          <a:p>
            <a:r>
              <a:t>• Parts are pre-populated from WorkDay, PRAM, ORE and issues data (MS/EIM). The described AI example is a summary of executive-level movements, with supporting evidence and logic in the appendix.</a:t>
            </a:r>
          </a:p>
          <a:p>
            <a:r>
              <a:t>• Model Risk has AUs spanning multiple platforms. Its existing AU coverage determines which platform documents and regional views require its contribution. The seven platforms shown are illustrative examples provided in the discussion, not a complete or finalized AU-to-region mapping.</a:t>
            </a:r>
          </a:p>
          <a:p/>
          <a:p>
            <a:r>
              <a:t>Eight-stage journey</a:t>
            </a:r>
          </a:p>
          <a:p>
            <a:r>
              <a:t>1. Central CRM / Data &amp; AI prepares shared platform and regional packs and evidence once.</a:t>
            </a:r>
          </a:p>
          <a:p>
            <a:r>
              <a:t>2. Model Risk maps its existing AUs to the relevant platform CRM documents and applicable regional views. Platforms with no relevant coverage are excluded from the routine contribution list.</a:t>
            </a:r>
          </a:p>
          <a:p>
            <a:r>
              <a:t>3. Model Risk assigns a contributor for each relevant platform, agrees the contribution scope and editing hand-off with the platform team, and uses a consistent contribution structure.</a:t>
            </a:r>
          </a:p>
          <a:p>
            <a:r>
              <a:t>4. Platform teams validate the common baseline, source relevance and regional coverage, flag missing context and complete the platform-owned narrative.</a:t>
            </a:r>
          </a:p>
          <a:p>
            <a:r>
              <a:t>5. Model Risk reviews relevant platform evidence for model developments, issues and events instead of reconstructing data analysis. It seeks targeted management discussion where the sources cannot adequately answer the question.</a:t>
            </a:r>
          </a:p>
          <a:p>
            <a:r>
              <a:t>6. Model Risk contributes within every relevant platform CRM document. Proposed contribution fields are changes/issues, platform implications, regional nuances and supporting evidence links; where applicable, explicitly record no material update.</a:t>
            </a:r>
          </a:p>
          <a:p>
            <a:r>
              <a:t>7. Model Risk compares patterns across its platform contributions, checks consistency, and retains the specific implications for each platform. Platform teams review Model Risk input and resolve comments. A separate consolidated Model Risk perspective may be useful internally but must not create a duplicate mandatory AU-level CRM product.</a:t>
            </a:r>
          </a:p>
          <a:p>
            <a:r>
              <a:t>8. Model Risk confirms its contribution, the platform team resolves final comments, and the proposed platform owner signs off and submits the final platform pack with supporting evidence and logic.</a:t>
            </a:r>
          </a:p>
          <a:p/>
          <a:p>
            <a:r>
              <a:t>User experience / workflow design</a:t>
            </a:r>
          </a:p>
          <a:p>
            <a:r>
              <a:t>• Use common evidence and a common response structure rather than ask Model Risk to rebuild preparation for every AU.</a:t>
            </a:r>
          </a:p>
          <a:p>
            <a:r>
              <a:t>• AU mapping determines contribution destinations; it must not recreate one CRM document per AU.</a:t>
            </a:r>
          </a:p>
          <a:p>
            <a:r>
              <a:t>• Existing AUs can remain the coverage traceability mechanism; this diagram does not assume an AU inventory change.</a:t>
            </a:r>
          </a:p>
          <a:p>
            <a:r>
              <a:t>• Agree clear section-level contribution ownership and hand-offs. Do not unnecessarily serialize all platform work or assume that whole-document locking is required.</a:t>
            </a:r>
          </a:p>
          <a:p>
            <a:r>
              <a:t>• Model Risk scoping and allocation can proceed while platform teams validate the common baseline.</a:t>
            </a:r>
          </a:p>
          <a:p>
            <a:r>
              <a:t>• Reuse evidence and common themes where appropriate, not identical conclusions across unrelated platforms.</a:t>
            </a:r>
          </a:p>
          <a:p/>
          <a:p>
            <a:r>
              <a:t>Validation still required</a:t>
            </a:r>
          </a:p>
          <a:p>
            <a:r>
              <a:t>The exact AU-to-platform/region mapping, contribution fields, reviewer allocation, editing arrangements, global/regional consolidation and sign-off responsibilities must be validated with Model Risk, platform teams and Methodology. No new system functionality, committed time saving or additional source-data coverage is asserted by this diagram.</a:t>
            </a:r>
          </a:p>
          <a:p/>
          <a:p>
            <a:r>
              <a:t>Source: user-provided CRM redesign information and the detailed user-journey image in this conversation.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 accent"/>
          <p:cNvSpPr/>
          <p:nvPr/>
        </p:nvSpPr>
        <p:spPr>
          <a:xfrm>
            <a:off x="0" y="0"/>
            <a:ext cx="12191999" cy="50292"/>
          </a:xfrm>
          <a:prstGeom prst="rect">
            <a:avLst/>
          </a:prstGeom>
          <a:solidFill>
            <a:srgbClr val="1231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Slide title"/>
          <p:cNvSpPr txBox="1"/>
          <p:nvPr/>
        </p:nvSpPr>
        <p:spPr>
          <a:xfrm>
            <a:off x="365760" y="228600"/>
            <a:ext cx="10186416" cy="393192"/>
          </a:xfrm>
          <a:prstGeom prst="rect">
            <a:avLst/>
          </a:prstGeom>
          <a:noFill/>
          <a:effectLst/>
        </p:spPr>
        <p:txBody>
          <a:bodyPr wrap="square" lIns="0" rIns="0" tIns="0" bIns="0" anchor="t">
            <a:noAutofit/>
          </a:bodyPr>
          <a:lstStyle/>
          <a:p>
            <a:pPr algn="l">
              <a:lnSpc>
                <a:spcPct val="105000"/>
              </a:lnSpc>
              <a:spcBef>
                <a:spcPts val="0"/>
              </a:spcBef>
              <a:spcAft>
                <a:spcPts val="0"/>
              </a:spcAft>
            </a:pPr>
            <a:r>
              <a:rPr sz="2380" b="1">
                <a:solidFill>
                  <a:srgbClr val="12314F"/>
                </a:solidFill>
                <a:latin typeface="Arial"/>
              </a:rPr>
              <a:t>Model Risk input across platform CRM documents</a:t>
            </a:r>
          </a:p>
        </p:txBody>
      </p:sp>
      <p:sp>
        <p:nvSpPr>
          <p:cNvPr id="4" name="Proposed workflow qualifier"/>
          <p:cNvSpPr txBox="1"/>
          <p:nvPr/>
        </p:nvSpPr>
        <p:spPr>
          <a:xfrm>
            <a:off x="10497312" y="256032"/>
            <a:ext cx="1325880" cy="329184"/>
          </a:xfrm>
          <a:prstGeom prst="rect">
            <a:avLst/>
          </a:prstGeom>
          <a:noFill/>
          <a:effectLst/>
        </p:spPr>
        <p:txBody>
          <a:bodyPr wrap="square" lIns="0" rIns="0" tIns="0" bIns="0" anchor="t">
            <a:noAutofit/>
          </a:bodyPr>
          <a:lstStyle/>
          <a:p>
            <a:pPr algn="r">
              <a:lnSpc>
                <a:spcPct val="114000"/>
              </a:lnSpc>
              <a:spcBef>
                <a:spcPts val="0"/>
              </a:spcBef>
              <a:spcAft>
                <a:spcPts val="0"/>
              </a:spcAft>
            </a:pPr>
            <a:r>
              <a:rPr sz="860" b="1">
                <a:solidFill>
                  <a:srgbClr val="1668AD"/>
                </a:solidFill>
                <a:latin typeface="Arial"/>
              </a:rPr>
              <a:t>PROPOSED WORKFLOW</a:t>
            </a:r>
          </a:p>
          <a:p>
            <a:pPr algn="r">
              <a:lnSpc>
                <a:spcPct val="114000"/>
              </a:lnSpc>
              <a:spcBef>
                <a:spcPts val="0"/>
              </a:spcBef>
              <a:spcAft>
                <a:spcPts val="0"/>
              </a:spcAft>
            </a:pPr>
            <a:r>
              <a:rPr sz="860" b="1">
                <a:solidFill>
                  <a:srgbClr val="1668AD"/>
                </a:solidFill>
                <a:latin typeface="Arial"/>
              </a:rPr>
              <a:t>FOR VALIDATION</a:t>
            </a:r>
          </a:p>
        </p:txBody>
      </p:sp>
      <p:sp>
        <p:nvSpPr>
          <p:cNvPr id="5" name="Subtitle"/>
          <p:cNvSpPr txBox="1"/>
          <p:nvPr/>
        </p:nvSpPr>
        <p:spPr>
          <a:xfrm>
            <a:off x="384048" y="694944"/>
            <a:ext cx="11201400" cy="210312"/>
          </a:xfrm>
          <a:prstGeom prst="rect">
            <a:avLst/>
          </a:prstGeom>
          <a:noFill/>
          <a:effectLst/>
        </p:spPr>
        <p:txBody>
          <a:bodyPr wrap="square" lIns="0" rIns="0" tIns="0" bIns="0" anchor="t">
            <a:noAutofit/>
          </a:bodyPr>
          <a:lstStyle/>
          <a:p>
            <a:pPr algn="l">
              <a:lnSpc>
                <a:spcPct val="105000"/>
              </a:lnSpc>
              <a:spcBef>
                <a:spcPts val="0"/>
              </a:spcBef>
              <a:spcAft>
                <a:spcPts val="0"/>
              </a:spcAft>
            </a:pPr>
            <a:r>
              <a:rPr sz="1120" b="0">
                <a:solidFill>
                  <a:srgbClr val="566B7E"/>
                </a:solidFill>
                <a:latin typeface="Arial"/>
              </a:rPr>
              <a:t>Existing AUs define contribution scope; Model Risk reviews shared evidence and adds platform-specific input.</a:t>
            </a:r>
          </a:p>
        </p:txBody>
      </p:sp>
      <p:grpSp>
        <p:nvGrpSpPr>
          <p:cNvPr id="6" name="Operating model principle"/>
          <p:cNvGrpSpPr/>
          <p:nvPr/>
        </p:nvGrpSpPr>
        <p:grpSpPr>
          <a:xfrm>
            <a:off x="365760" y="973836"/>
            <a:ext cx="11457432" cy="320040"/>
            <a:chOff x="365760" y="973836"/>
            <a:chExt cx="11457432" cy="320040"/>
          </a:xfrm>
          <a:effectLst/>
        </p:grpSpPr>
        <p:sp>
          <p:nvSpPr>
            <p:cNvPr id="7" name="Principle background"/>
            <p:cNvSpPr/>
            <p:nvPr/>
          </p:nvSpPr>
          <p:spPr>
            <a:xfrm>
              <a:off x="365760" y="973836"/>
              <a:ext cx="11457432" cy="320040"/>
            </a:xfrm>
            <a:prstGeom prst="rect">
              <a:avLst/>
            </a:prstGeom>
            <a:solidFill>
              <a:srgbClr val="EAF3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Principle accent"/>
            <p:cNvSpPr/>
            <p:nvPr/>
          </p:nvSpPr>
          <p:spPr>
            <a:xfrm>
              <a:off x="365760" y="973836"/>
              <a:ext cx="41148" cy="320040"/>
            </a:xfrm>
            <a:prstGeom prst="rect">
              <a:avLst/>
            </a:prstGeom>
            <a:solidFill>
              <a:srgbClr val="1668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Operating model principle text"/>
            <p:cNvSpPr txBox="1"/>
            <p:nvPr/>
          </p:nvSpPr>
          <p:spPr>
            <a:xfrm>
              <a:off x="493776" y="1037844"/>
              <a:ext cx="11192256" cy="173736"/>
            </a:xfrm>
            <a:prstGeom prst="rect">
              <a:avLst/>
            </a:prstGeom>
            <a:noFill/>
            <a:effectLst/>
          </p:spPr>
          <p:txBody>
            <a:bodyPr wrap="square" lIns="0" rIns="0" tIns="0" bIns="0" anchor="t">
              <a:noAutofit/>
            </a:bodyPr>
            <a:lstStyle/>
            <a:p>
              <a:pPr algn="l">
                <a:lnSpc>
                  <a:spcPct val="105000"/>
                </a:lnSpc>
                <a:spcBef>
                  <a:spcPts val="0"/>
                </a:spcBef>
                <a:spcAft>
                  <a:spcPts val="0"/>
                </a:spcAft>
              </a:pPr>
              <a:r>
                <a:rPr sz="1030" b="1">
                  <a:solidFill>
                    <a:srgbClr val="12314F"/>
                  </a:solidFill>
                  <a:latin typeface="Arial"/>
                </a:rPr>
                <a:t>AU coverage  →  Platform + relevant regional views  →  Targeted Model Risk input  |  No duplicate AU-level CRM</a:t>
              </a:r>
            </a:p>
          </p:txBody>
        </p:sp>
      </p:grpSp>
      <p:grpSp>
        <p:nvGrpSpPr>
          <p:cNvPr id="10" name="Stage 1 – Generate platform packs"/>
          <p:cNvGrpSpPr/>
          <p:nvPr/>
        </p:nvGrpSpPr>
        <p:grpSpPr>
          <a:xfrm>
            <a:off x="1586484" y="1431036"/>
            <a:ext cx="1266444" cy="434340"/>
            <a:chOff x="1586484" y="1431036"/>
            <a:chExt cx="1266444" cy="434340"/>
          </a:xfrm>
          <a:effectLst/>
        </p:grpSpPr>
        <p:sp>
          <p:nvSpPr>
            <p:cNvPr id="11" name="Stage 1 chevron"/>
            <p:cNvSpPr/>
            <p:nvPr/>
          </p:nvSpPr>
          <p:spPr>
            <a:xfrm>
              <a:off x="1586484" y="1431036"/>
              <a:ext cx="1266444" cy="434340"/>
            </a:xfrm>
            <a:prstGeom prst="chevron">
              <a:avLst>
                <a:gd name="adj" fmla="val 10500"/>
              </a:avLst>
            </a:prstGeom>
            <a:solidFill>
              <a:srgbClr val="1231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Stage 1 number circle"/>
            <p:cNvSpPr/>
            <p:nvPr/>
          </p:nvSpPr>
          <p:spPr>
            <a:xfrm>
              <a:off x="1661464" y="1550822"/>
              <a:ext cx="192938" cy="192938"/>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Stage 1 number"/>
            <p:cNvSpPr txBox="1"/>
            <p:nvPr/>
          </p:nvSpPr>
          <p:spPr>
            <a:xfrm>
              <a:off x="1661464" y="1557223"/>
              <a:ext cx="192938" cy="159105"/>
            </a:xfrm>
            <a:prstGeom prst="rect">
              <a:avLst/>
            </a:prstGeom>
            <a:noFill/>
            <a:effectLst/>
          </p:spPr>
          <p:txBody>
            <a:bodyPr wrap="square" lIns="0" rIns="0" tIns="0" bIns="0" anchor="t">
              <a:noAutofit/>
            </a:bodyPr>
            <a:lstStyle/>
            <a:p>
              <a:pPr algn="ctr">
                <a:lnSpc>
                  <a:spcPct val="105000"/>
                </a:lnSpc>
                <a:spcBef>
                  <a:spcPts val="0"/>
                </a:spcBef>
                <a:spcAft>
                  <a:spcPts val="0"/>
                </a:spcAft>
              </a:pPr>
              <a:r>
                <a:rPr sz="900" b="1">
                  <a:solidFill>
                    <a:srgbClr val="12314F"/>
                  </a:solidFill>
                  <a:latin typeface="Arial"/>
                </a:rPr>
                <a:t>1</a:t>
              </a:r>
            </a:p>
          </p:txBody>
        </p:sp>
        <p:sp>
          <p:nvSpPr>
            <p:cNvPr id="14" name="Stage 1 label"/>
            <p:cNvSpPr txBox="1"/>
            <p:nvPr/>
          </p:nvSpPr>
          <p:spPr>
            <a:xfrm>
              <a:off x="1903780" y="1520647"/>
              <a:ext cx="855878" cy="259689"/>
            </a:xfrm>
            <a:prstGeom prst="rect">
              <a:avLst/>
            </a:prstGeom>
            <a:noFill/>
            <a:effectLst/>
          </p:spPr>
          <p:txBody>
            <a:bodyPr wrap="square" lIns="0" rIns="0" tIns="0" bIns="0" anchor="t">
              <a:noAutofit/>
            </a:bodyPr>
            <a:lstStyle/>
            <a:p>
              <a:pPr algn="l">
                <a:lnSpc>
                  <a:spcPct val="105000"/>
                </a:lnSpc>
                <a:spcBef>
                  <a:spcPts val="0"/>
                </a:spcBef>
                <a:spcAft>
                  <a:spcPts val="0"/>
                </a:spcAft>
              </a:pPr>
              <a:r>
                <a:rPr sz="905" b="1">
                  <a:solidFill>
                    <a:srgbClr val="FFFFFF"/>
                  </a:solidFill>
                  <a:latin typeface="Arial"/>
                </a:rPr>
                <a:t>Generate</a:t>
              </a:r>
            </a:p>
            <a:p>
              <a:pPr algn="l">
                <a:lnSpc>
                  <a:spcPct val="105000"/>
                </a:lnSpc>
                <a:spcBef>
                  <a:spcPts val="0"/>
                </a:spcBef>
                <a:spcAft>
                  <a:spcPts val="0"/>
                </a:spcAft>
              </a:pPr>
              <a:r>
                <a:rPr sz="905" b="1">
                  <a:solidFill>
                    <a:srgbClr val="FFFFFF"/>
                  </a:solidFill>
                  <a:latin typeface="Arial"/>
                </a:rPr>
                <a:t>platform packs</a:t>
              </a:r>
            </a:p>
          </p:txBody>
        </p:sp>
      </p:grpSp>
      <p:grpSp>
        <p:nvGrpSpPr>
          <p:cNvPr id="15" name="Stage 2 – Map AU coverage"/>
          <p:cNvGrpSpPr/>
          <p:nvPr/>
        </p:nvGrpSpPr>
        <p:grpSpPr>
          <a:xfrm>
            <a:off x="2860243" y="1431036"/>
            <a:ext cx="1266444" cy="434340"/>
            <a:chOff x="2860243" y="1431036"/>
            <a:chExt cx="1266444" cy="434340"/>
          </a:xfrm>
          <a:effectLst/>
        </p:grpSpPr>
        <p:sp>
          <p:nvSpPr>
            <p:cNvPr id="16" name="Stage 2 chevron"/>
            <p:cNvSpPr/>
            <p:nvPr/>
          </p:nvSpPr>
          <p:spPr>
            <a:xfrm>
              <a:off x="2860243" y="1431036"/>
              <a:ext cx="1266444" cy="434340"/>
            </a:xfrm>
            <a:prstGeom prst="chevron">
              <a:avLst>
                <a:gd name="adj" fmla="val 10500"/>
              </a:avLst>
            </a:prstGeom>
            <a:solidFill>
              <a:srgbClr val="2346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Stage 2 number circle"/>
            <p:cNvSpPr/>
            <p:nvPr/>
          </p:nvSpPr>
          <p:spPr>
            <a:xfrm>
              <a:off x="2935224" y="1550822"/>
              <a:ext cx="192938" cy="192938"/>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Stage 2 number"/>
            <p:cNvSpPr txBox="1"/>
            <p:nvPr/>
          </p:nvSpPr>
          <p:spPr>
            <a:xfrm>
              <a:off x="2935224" y="1557223"/>
              <a:ext cx="192938" cy="159105"/>
            </a:xfrm>
            <a:prstGeom prst="rect">
              <a:avLst/>
            </a:prstGeom>
            <a:noFill/>
            <a:effectLst/>
          </p:spPr>
          <p:txBody>
            <a:bodyPr wrap="square" lIns="0" rIns="0" tIns="0" bIns="0" anchor="t">
              <a:noAutofit/>
            </a:bodyPr>
            <a:lstStyle/>
            <a:p>
              <a:pPr algn="ctr">
                <a:lnSpc>
                  <a:spcPct val="105000"/>
                </a:lnSpc>
                <a:spcBef>
                  <a:spcPts val="0"/>
                </a:spcBef>
                <a:spcAft>
                  <a:spcPts val="0"/>
                </a:spcAft>
              </a:pPr>
              <a:r>
                <a:rPr sz="900" b="1">
                  <a:solidFill>
                    <a:srgbClr val="234664"/>
                  </a:solidFill>
                  <a:latin typeface="Arial"/>
                </a:rPr>
                <a:t>2</a:t>
              </a:r>
            </a:p>
          </p:txBody>
        </p:sp>
        <p:sp>
          <p:nvSpPr>
            <p:cNvPr id="19" name="Stage 2 label"/>
            <p:cNvSpPr txBox="1"/>
            <p:nvPr/>
          </p:nvSpPr>
          <p:spPr>
            <a:xfrm>
              <a:off x="3177540" y="1520647"/>
              <a:ext cx="855878" cy="259689"/>
            </a:xfrm>
            <a:prstGeom prst="rect">
              <a:avLst/>
            </a:prstGeom>
            <a:noFill/>
            <a:effectLst/>
          </p:spPr>
          <p:txBody>
            <a:bodyPr wrap="square" lIns="0" rIns="0" tIns="0" bIns="0" anchor="t">
              <a:noAutofit/>
            </a:bodyPr>
            <a:lstStyle/>
            <a:p>
              <a:pPr algn="l">
                <a:lnSpc>
                  <a:spcPct val="105000"/>
                </a:lnSpc>
                <a:spcBef>
                  <a:spcPts val="0"/>
                </a:spcBef>
                <a:spcAft>
                  <a:spcPts val="0"/>
                </a:spcAft>
              </a:pPr>
              <a:r>
                <a:rPr sz="905" b="1">
                  <a:solidFill>
                    <a:srgbClr val="FFFFFF"/>
                  </a:solidFill>
                  <a:latin typeface="Arial"/>
                </a:rPr>
                <a:t>Map AU</a:t>
              </a:r>
            </a:p>
            <a:p>
              <a:pPr algn="l">
                <a:lnSpc>
                  <a:spcPct val="105000"/>
                </a:lnSpc>
                <a:spcBef>
                  <a:spcPts val="0"/>
                </a:spcBef>
                <a:spcAft>
                  <a:spcPts val="0"/>
                </a:spcAft>
              </a:pPr>
              <a:r>
                <a:rPr sz="905" b="1">
                  <a:solidFill>
                    <a:srgbClr val="FFFFFF"/>
                  </a:solidFill>
                  <a:latin typeface="Arial"/>
                </a:rPr>
                <a:t>coverage</a:t>
              </a:r>
            </a:p>
          </p:txBody>
        </p:sp>
      </p:grpSp>
      <p:grpSp>
        <p:nvGrpSpPr>
          <p:cNvPr id="20" name="Stage 3 – Assign owners &amp; hand-offs"/>
          <p:cNvGrpSpPr/>
          <p:nvPr/>
        </p:nvGrpSpPr>
        <p:grpSpPr>
          <a:xfrm>
            <a:off x="4134002" y="1431036"/>
            <a:ext cx="1266444" cy="434340"/>
            <a:chOff x="4134002" y="1431036"/>
            <a:chExt cx="1266444" cy="434340"/>
          </a:xfrm>
          <a:effectLst/>
        </p:grpSpPr>
        <p:sp>
          <p:nvSpPr>
            <p:cNvPr id="21" name="Stage 3 chevron"/>
            <p:cNvSpPr/>
            <p:nvPr/>
          </p:nvSpPr>
          <p:spPr>
            <a:xfrm>
              <a:off x="4134002" y="1431036"/>
              <a:ext cx="1266444" cy="434340"/>
            </a:xfrm>
            <a:prstGeom prst="chevron">
              <a:avLst>
                <a:gd name="adj" fmla="val 10500"/>
              </a:avLst>
            </a:prstGeom>
            <a:solidFill>
              <a:srgbClr val="1668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Stage 3 number circle"/>
            <p:cNvSpPr/>
            <p:nvPr/>
          </p:nvSpPr>
          <p:spPr>
            <a:xfrm>
              <a:off x="4208983" y="1550822"/>
              <a:ext cx="192938" cy="192938"/>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Stage 3 number"/>
            <p:cNvSpPr txBox="1"/>
            <p:nvPr/>
          </p:nvSpPr>
          <p:spPr>
            <a:xfrm>
              <a:off x="4208983" y="1557223"/>
              <a:ext cx="192938" cy="159105"/>
            </a:xfrm>
            <a:prstGeom prst="rect">
              <a:avLst/>
            </a:prstGeom>
            <a:noFill/>
            <a:effectLst/>
          </p:spPr>
          <p:txBody>
            <a:bodyPr wrap="square" lIns="0" rIns="0" tIns="0" bIns="0" anchor="t">
              <a:noAutofit/>
            </a:bodyPr>
            <a:lstStyle/>
            <a:p>
              <a:pPr algn="ctr">
                <a:lnSpc>
                  <a:spcPct val="105000"/>
                </a:lnSpc>
                <a:spcBef>
                  <a:spcPts val="0"/>
                </a:spcBef>
                <a:spcAft>
                  <a:spcPts val="0"/>
                </a:spcAft>
              </a:pPr>
              <a:r>
                <a:rPr sz="900" b="1">
                  <a:solidFill>
                    <a:srgbClr val="1668AD"/>
                  </a:solidFill>
                  <a:latin typeface="Arial"/>
                </a:rPr>
                <a:t>3</a:t>
              </a:r>
            </a:p>
          </p:txBody>
        </p:sp>
        <p:sp>
          <p:nvSpPr>
            <p:cNvPr id="24" name="Stage 3 label"/>
            <p:cNvSpPr txBox="1"/>
            <p:nvPr/>
          </p:nvSpPr>
          <p:spPr>
            <a:xfrm>
              <a:off x="4451299" y="1520647"/>
              <a:ext cx="855878" cy="259689"/>
            </a:xfrm>
            <a:prstGeom prst="rect">
              <a:avLst/>
            </a:prstGeom>
            <a:noFill/>
            <a:effectLst/>
          </p:spPr>
          <p:txBody>
            <a:bodyPr wrap="square" lIns="0" rIns="0" tIns="0" bIns="0" anchor="t">
              <a:noAutofit/>
            </a:bodyPr>
            <a:lstStyle/>
            <a:p>
              <a:pPr algn="l">
                <a:lnSpc>
                  <a:spcPct val="105000"/>
                </a:lnSpc>
                <a:spcBef>
                  <a:spcPts val="0"/>
                </a:spcBef>
                <a:spcAft>
                  <a:spcPts val="0"/>
                </a:spcAft>
              </a:pPr>
              <a:r>
                <a:rPr sz="905" b="1">
                  <a:solidFill>
                    <a:srgbClr val="FFFFFF"/>
                  </a:solidFill>
                  <a:latin typeface="Arial"/>
                </a:rPr>
                <a:t>Assign owners</a:t>
              </a:r>
            </a:p>
            <a:p>
              <a:pPr algn="l">
                <a:lnSpc>
                  <a:spcPct val="105000"/>
                </a:lnSpc>
                <a:spcBef>
                  <a:spcPts val="0"/>
                </a:spcBef>
                <a:spcAft>
                  <a:spcPts val="0"/>
                </a:spcAft>
              </a:pPr>
              <a:r>
                <a:rPr sz="905" b="1">
                  <a:solidFill>
                    <a:srgbClr val="FFFFFF"/>
                  </a:solidFill>
                  <a:latin typeface="Arial"/>
                </a:rPr>
                <a:t>&amp; hand-offs</a:t>
              </a:r>
            </a:p>
          </p:txBody>
        </p:sp>
      </p:grpSp>
      <p:grpSp>
        <p:nvGrpSpPr>
          <p:cNvPr id="25" name="Stage 4 – Validate base content"/>
          <p:cNvGrpSpPr/>
          <p:nvPr/>
        </p:nvGrpSpPr>
        <p:grpSpPr>
          <a:xfrm>
            <a:off x="5407761" y="1431036"/>
            <a:ext cx="1266444" cy="434340"/>
            <a:chOff x="5407761" y="1431036"/>
            <a:chExt cx="1266444" cy="434340"/>
          </a:xfrm>
          <a:effectLst/>
        </p:grpSpPr>
        <p:sp>
          <p:nvSpPr>
            <p:cNvPr id="26" name="Stage 4 chevron"/>
            <p:cNvSpPr/>
            <p:nvPr/>
          </p:nvSpPr>
          <p:spPr>
            <a:xfrm>
              <a:off x="5407761" y="1431036"/>
              <a:ext cx="1266444" cy="434340"/>
            </a:xfrm>
            <a:prstGeom prst="chevron">
              <a:avLst>
                <a:gd name="adj" fmla="val 10500"/>
              </a:avLst>
            </a:prstGeom>
            <a:solidFill>
              <a:srgbClr val="1668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Stage 4 number circle"/>
            <p:cNvSpPr/>
            <p:nvPr/>
          </p:nvSpPr>
          <p:spPr>
            <a:xfrm>
              <a:off x="5482742" y="1550822"/>
              <a:ext cx="192938" cy="192938"/>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Stage 4 number"/>
            <p:cNvSpPr txBox="1"/>
            <p:nvPr/>
          </p:nvSpPr>
          <p:spPr>
            <a:xfrm>
              <a:off x="5482742" y="1557223"/>
              <a:ext cx="192938" cy="159105"/>
            </a:xfrm>
            <a:prstGeom prst="rect">
              <a:avLst/>
            </a:prstGeom>
            <a:noFill/>
            <a:effectLst/>
          </p:spPr>
          <p:txBody>
            <a:bodyPr wrap="square" lIns="0" rIns="0" tIns="0" bIns="0" anchor="t">
              <a:noAutofit/>
            </a:bodyPr>
            <a:lstStyle/>
            <a:p>
              <a:pPr algn="ctr">
                <a:lnSpc>
                  <a:spcPct val="105000"/>
                </a:lnSpc>
                <a:spcBef>
                  <a:spcPts val="0"/>
                </a:spcBef>
                <a:spcAft>
                  <a:spcPts val="0"/>
                </a:spcAft>
              </a:pPr>
              <a:r>
                <a:rPr sz="900" b="1">
                  <a:solidFill>
                    <a:srgbClr val="1668AD"/>
                  </a:solidFill>
                  <a:latin typeface="Arial"/>
                </a:rPr>
                <a:t>4</a:t>
              </a:r>
            </a:p>
          </p:txBody>
        </p:sp>
        <p:sp>
          <p:nvSpPr>
            <p:cNvPr id="29" name="Stage 4 label"/>
            <p:cNvSpPr txBox="1"/>
            <p:nvPr/>
          </p:nvSpPr>
          <p:spPr>
            <a:xfrm>
              <a:off x="5725058" y="1520647"/>
              <a:ext cx="855878" cy="259689"/>
            </a:xfrm>
            <a:prstGeom prst="rect">
              <a:avLst/>
            </a:prstGeom>
            <a:noFill/>
            <a:effectLst/>
          </p:spPr>
          <p:txBody>
            <a:bodyPr wrap="square" lIns="0" rIns="0" tIns="0" bIns="0" anchor="t">
              <a:noAutofit/>
            </a:bodyPr>
            <a:lstStyle/>
            <a:p>
              <a:pPr algn="l">
                <a:lnSpc>
                  <a:spcPct val="105000"/>
                </a:lnSpc>
                <a:spcBef>
                  <a:spcPts val="0"/>
                </a:spcBef>
                <a:spcAft>
                  <a:spcPts val="0"/>
                </a:spcAft>
              </a:pPr>
              <a:r>
                <a:rPr sz="905" b="1">
                  <a:solidFill>
                    <a:srgbClr val="FFFFFF"/>
                  </a:solidFill>
                  <a:latin typeface="Arial"/>
                </a:rPr>
                <a:t>Validate</a:t>
              </a:r>
            </a:p>
            <a:p>
              <a:pPr algn="l">
                <a:lnSpc>
                  <a:spcPct val="105000"/>
                </a:lnSpc>
                <a:spcBef>
                  <a:spcPts val="0"/>
                </a:spcBef>
                <a:spcAft>
                  <a:spcPts val="0"/>
                </a:spcAft>
              </a:pPr>
              <a:r>
                <a:rPr sz="905" b="1">
                  <a:solidFill>
                    <a:srgbClr val="FFFFFF"/>
                  </a:solidFill>
                  <a:latin typeface="Arial"/>
                </a:rPr>
                <a:t>base content</a:t>
              </a:r>
            </a:p>
          </p:txBody>
        </p:sp>
      </p:grpSp>
      <p:grpSp>
        <p:nvGrpSpPr>
          <p:cNvPr id="30" name="Stage 5 – Review Model Risk evidence"/>
          <p:cNvGrpSpPr/>
          <p:nvPr/>
        </p:nvGrpSpPr>
        <p:grpSpPr>
          <a:xfrm>
            <a:off x="6681520" y="1431036"/>
            <a:ext cx="1266444" cy="434340"/>
            <a:chOff x="6681520" y="1431036"/>
            <a:chExt cx="1266444" cy="434340"/>
          </a:xfrm>
          <a:effectLst/>
        </p:grpSpPr>
        <p:sp>
          <p:nvSpPr>
            <p:cNvPr id="31" name="Stage 5 chevron"/>
            <p:cNvSpPr/>
            <p:nvPr/>
          </p:nvSpPr>
          <p:spPr>
            <a:xfrm>
              <a:off x="6681520" y="1431036"/>
              <a:ext cx="1266444" cy="434340"/>
            </a:xfrm>
            <a:prstGeom prst="chevron">
              <a:avLst>
                <a:gd name="adj" fmla="val 10500"/>
              </a:avLst>
            </a:prstGeom>
            <a:solidFill>
              <a:srgbClr val="1668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Stage 5 number circle"/>
            <p:cNvSpPr/>
            <p:nvPr/>
          </p:nvSpPr>
          <p:spPr>
            <a:xfrm>
              <a:off x="6756501" y="1550822"/>
              <a:ext cx="192938" cy="192938"/>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Stage 5 number"/>
            <p:cNvSpPr txBox="1"/>
            <p:nvPr/>
          </p:nvSpPr>
          <p:spPr>
            <a:xfrm>
              <a:off x="6756501" y="1557223"/>
              <a:ext cx="192938" cy="159105"/>
            </a:xfrm>
            <a:prstGeom prst="rect">
              <a:avLst/>
            </a:prstGeom>
            <a:noFill/>
            <a:effectLst/>
          </p:spPr>
          <p:txBody>
            <a:bodyPr wrap="square" lIns="0" rIns="0" tIns="0" bIns="0" anchor="t">
              <a:noAutofit/>
            </a:bodyPr>
            <a:lstStyle/>
            <a:p>
              <a:pPr algn="ctr">
                <a:lnSpc>
                  <a:spcPct val="105000"/>
                </a:lnSpc>
                <a:spcBef>
                  <a:spcPts val="0"/>
                </a:spcBef>
                <a:spcAft>
                  <a:spcPts val="0"/>
                </a:spcAft>
              </a:pPr>
              <a:r>
                <a:rPr sz="900" b="1">
                  <a:solidFill>
                    <a:srgbClr val="1668AD"/>
                  </a:solidFill>
                  <a:latin typeface="Arial"/>
                </a:rPr>
                <a:t>5</a:t>
              </a:r>
            </a:p>
          </p:txBody>
        </p:sp>
        <p:sp>
          <p:nvSpPr>
            <p:cNvPr id="34" name="Stage 5 label"/>
            <p:cNvSpPr txBox="1"/>
            <p:nvPr/>
          </p:nvSpPr>
          <p:spPr>
            <a:xfrm>
              <a:off x="6998817" y="1520647"/>
              <a:ext cx="855878" cy="259689"/>
            </a:xfrm>
            <a:prstGeom prst="rect">
              <a:avLst/>
            </a:prstGeom>
            <a:noFill/>
            <a:effectLst/>
          </p:spPr>
          <p:txBody>
            <a:bodyPr wrap="square" lIns="0" rIns="0" tIns="0" bIns="0" anchor="t">
              <a:noAutofit/>
            </a:bodyPr>
            <a:lstStyle/>
            <a:p>
              <a:pPr algn="l">
                <a:lnSpc>
                  <a:spcPct val="105000"/>
                </a:lnSpc>
                <a:spcBef>
                  <a:spcPts val="0"/>
                </a:spcBef>
                <a:spcAft>
                  <a:spcPts val="0"/>
                </a:spcAft>
              </a:pPr>
              <a:r>
                <a:rPr sz="905" b="1">
                  <a:solidFill>
                    <a:srgbClr val="FFFFFF"/>
                  </a:solidFill>
                  <a:latin typeface="Arial"/>
                </a:rPr>
                <a:t>Review Model</a:t>
              </a:r>
            </a:p>
            <a:p>
              <a:pPr algn="l">
                <a:lnSpc>
                  <a:spcPct val="105000"/>
                </a:lnSpc>
                <a:spcBef>
                  <a:spcPts val="0"/>
                </a:spcBef>
                <a:spcAft>
                  <a:spcPts val="0"/>
                </a:spcAft>
              </a:pPr>
              <a:r>
                <a:rPr sz="905" b="1">
                  <a:solidFill>
                    <a:srgbClr val="FFFFFF"/>
                  </a:solidFill>
                  <a:latin typeface="Arial"/>
                </a:rPr>
                <a:t>Risk evidence</a:t>
              </a:r>
            </a:p>
          </p:txBody>
        </p:sp>
      </p:grpSp>
      <p:grpSp>
        <p:nvGrpSpPr>
          <p:cNvPr id="35" name="Stage 6 – Add platform commentary"/>
          <p:cNvGrpSpPr/>
          <p:nvPr/>
        </p:nvGrpSpPr>
        <p:grpSpPr>
          <a:xfrm>
            <a:off x="7955279" y="1431036"/>
            <a:ext cx="1266444" cy="434340"/>
            <a:chOff x="7955279" y="1431036"/>
            <a:chExt cx="1266444" cy="434340"/>
          </a:xfrm>
          <a:effectLst/>
        </p:grpSpPr>
        <p:sp>
          <p:nvSpPr>
            <p:cNvPr id="36" name="Stage 6 chevron"/>
            <p:cNvSpPr/>
            <p:nvPr/>
          </p:nvSpPr>
          <p:spPr>
            <a:xfrm>
              <a:off x="7955279" y="1431036"/>
              <a:ext cx="1266444" cy="434340"/>
            </a:xfrm>
            <a:prstGeom prst="chevron">
              <a:avLst>
                <a:gd name="adj" fmla="val 10500"/>
              </a:avLst>
            </a:prstGeom>
            <a:solidFill>
              <a:srgbClr val="367FB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Stage 6 number circle"/>
            <p:cNvSpPr/>
            <p:nvPr/>
          </p:nvSpPr>
          <p:spPr>
            <a:xfrm>
              <a:off x="8030260" y="1550822"/>
              <a:ext cx="192938" cy="192938"/>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Stage 6 number"/>
            <p:cNvSpPr txBox="1"/>
            <p:nvPr/>
          </p:nvSpPr>
          <p:spPr>
            <a:xfrm>
              <a:off x="8030260" y="1557223"/>
              <a:ext cx="192938" cy="159105"/>
            </a:xfrm>
            <a:prstGeom prst="rect">
              <a:avLst/>
            </a:prstGeom>
            <a:noFill/>
            <a:effectLst/>
          </p:spPr>
          <p:txBody>
            <a:bodyPr wrap="square" lIns="0" rIns="0" tIns="0" bIns="0" anchor="t">
              <a:noAutofit/>
            </a:bodyPr>
            <a:lstStyle/>
            <a:p>
              <a:pPr algn="ctr">
                <a:lnSpc>
                  <a:spcPct val="105000"/>
                </a:lnSpc>
                <a:spcBef>
                  <a:spcPts val="0"/>
                </a:spcBef>
                <a:spcAft>
                  <a:spcPts val="0"/>
                </a:spcAft>
              </a:pPr>
              <a:r>
                <a:rPr sz="900" b="1">
                  <a:solidFill>
                    <a:srgbClr val="367FB9"/>
                  </a:solidFill>
                  <a:latin typeface="Arial"/>
                </a:rPr>
                <a:t>6</a:t>
              </a:r>
            </a:p>
          </p:txBody>
        </p:sp>
        <p:sp>
          <p:nvSpPr>
            <p:cNvPr id="39" name="Stage 6 label"/>
            <p:cNvSpPr txBox="1"/>
            <p:nvPr/>
          </p:nvSpPr>
          <p:spPr>
            <a:xfrm>
              <a:off x="8272576" y="1520647"/>
              <a:ext cx="855878" cy="259689"/>
            </a:xfrm>
            <a:prstGeom prst="rect">
              <a:avLst/>
            </a:prstGeom>
            <a:noFill/>
            <a:effectLst/>
          </p:spPr>
          <p:txBody>
            <a:bodyPr wrap="square" lIns="0" rIns="0" tIns="0" bIns="0" anchor="t">
              <a:noAutofit/>
            </a:bodyPr>
            <a:lstStyle/>
            <a:p>
              <a:pPr algn="l">
                <a:lnSpc>
                  <a:spcPct val="105000"/>
                </a:lnSpc>
                <a:spcBef>
                  <a:spcPts val="0"/>
                </a:spcBef>
                <a:spcAft>
                  <a:spcPts val="0"/>
                </a:spcAft>
              </a:pPr>
              <a:r>
                <a:rPr sz="905" b="1">
                  <a:solidFill>
                    <a:srgbClr val="FFFFFF"/>
                  </a:solidFill>
                  <a:latin typeface="Arial"/>
                </a:rPr>
                <a:t>Add platform</a:t>
              </a:r>
            </a:p>
            <a:p>
              <a:pPr algn="l">
                <a:lnSpc>
                  <a:spcPct val="105000"/>
                </a:lnSpc>
                <a:spcBef>
                  <a:spcPts val="0"/>
                </a:spcBef>
                <a:spcAft>
                  <a:spcPts val="0"/>
                </a:spcAft>
              </a:pPr>
              <a:r>
                <a:rPr sz="905" b="1">
                  <a:solidFill>
                    <a:srgbClr val="FFFFFF"/>
                  </a:solidFill>
                  <a:latin typeface="Arial"/>
                </a:rPr>
                <a:t>commentary</a:t>
              </a:r>
            </a:p>
          </p:txBody>
        </p:sp>
      </p:grpSp>
      <p:grpSp>
        <p:nvGrpSpPr>
          <p:cNvPr id="40" name="Stage 7 – Cross-platform review"/>
          <p:cNvGrpSpPr/>
          <p:nvPr/>
        </p:nvGrpSpPr>
        <p:grpSpPr>
          <a:xfrm>
            <a:off x="9229039" y="1431036"/>
            <a:ext cx="1266444" cy="434340"/>
            <a:chOff x="9229039" y="1431036"/>
            <a:chExt cx="1266444" cy="434340"/>
          </a:xfrm>
          <a:effectLst/>
        </p:grpSpPr>
        <p:sp>
          <p:nvSpPr>
            <p:cNvPr id="41" name="Stage 7 chevron"/>
            <p:cNvSpPr/>
            <p:nvPr/>
          </p:nvSpPr>
          <p:spPr>
            <a:xfrm>
              <a:off x="9229039" y="1431036"/>
              <a:ext cx="1266444" cy="434340"/>
            </a:xfrm>
            <a:prstGeom prst="chevron">
              <a:avLst>
                <a:gd name="adj" fmla="val 10500"/>
              </a:avLst>
            </a:prstGeom>
            <a:solidFill>
              <a:srgbClr val="367FB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Stage 7 number circle"/>
            <p:cNvSpPr/>
            <p:nvPr/>
          </p:nvSpPr>
          <p:spPr>
            <a:xfrm>
              <a:off x="9304020" y="1550822"/>
              <a:ext cx="192938" cy="192938"/>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Stage 7 number"/>
            <p:cNvSpPr txBox="1"/>
            <p:nvPr/>
          </p:nvSpPr>
          <p:spPr>
            <a:xfrm>
              <a:off x="9304020" y="1557223"/>
              <a:ext cx="192938" cy="159105"/>
            </a:xfrm>
            <a:prstGeom prst="rect">
              <a:avLst/>
            </a:prstGeom>
            <a:noFill/>
            <a:effectLst/>
          </p:spPr>
          <p:txBody>
            <a:bodyPr wrap="square" lIns="0" rIns="0" tIns="0" bIns="0" anchor="t">
              <a:noAutofit/>
            </a:bodyPr>
            <a:lstStyle/>
            <a:p>
              <a:pPr algn="ctr">
                <a:lnSpc>
                  <a:spcPct val="105000"/>
                </a:lnSpc>
                <a:spcBef>
                  <a:spcPts val="0"/>
                </a:spcBef>
                <a:spcAft>
                  <a:spcPts val="0"/>
                </a:spcAft>
              </a:pPr>
              <a:r>
                <a:rPr sz="900" b="1">
                  <a:solidFill>
                    <a:srgbClr val="367FB9"/>
                  </a:solidFill>
                  <a:latin typeface="Arial"/>
                </a:rPr>
                <a:t>7</a:t>
              </a:r>
            </a:p>
          </p:txBody>
        </p:sp>
        <p:sp>
          <p:nvSpPr>
            <p:cNvPr id="44" name="Stage 7 label"/>
            <p:cNvSpPr txBox="1"/>
            <p:nvPr/>
          </p:nvSpPr>
          <p:spPr>
            <a:xfrm>
              <a:off x="9546336" y="1520647"/>
              <a:ext cx="855878" cy="259689"/>
            </a:xfrm>
            <a:prstGeom prst="rect">
              <a:avLst/>
            </a:prstGeom>
            <a:noFill/>
            <a:effectLst/>
          </p:spPr>
          <p:txBody>
            <a:bodyPr wrap="square" lIns="0" rIns="0" tIns="0" bIns="0" anchor="t">
              <a:noAutofit/>
            </a:bodyPr>
            <a:lstStyle/>
            <a:p>
              <a:pPr algn="l">
                <a:lnSpc>
                  <a:spcPct val="105000"/>
                </a:lnSpc>
                <a:spcBef>
                  <a:spcPts val="0"/>
                </a:spcBef>
                <a:spcAft>
                  <a:spcPts val="0"/>
                </a:spcAft>
              </a:pPr>
              <a:r>
                <a:rPr sz="905" b="1">
                  <a:solidFill>
                    <a:srgbClr val="FFFFFF"/>
                  </a:solidFill>
                  <a:latin typeface="Arial"/>
                </a:rPr>
                <a:t>Cross-platform</a:t>
              </a:r>
            </a:p>
            <a:p>
              <a:pPr algn="l">
                <a:lnSpc>
                  <a:spcPct val="105000"/>
                </a:lnSpc>
                <a:spcBef>
                  <a:spcPts val="0"/>
                </a:spcBef>
                <a:spcAft>
                  <a:spcPts val="0"/>
                </a:spcAft>
              </a:pPr>
              <a:r>
                <a:rPr sz="905" b="1">
                  <a:solidFill>
                    <a:srgbClr val="FFFFFF"/>
                  </a:solidFill>
                  <a:latin typeface="Arial"/>
                </a:rPr>
                <a:t>review</a:t>
              </a:r>
            </a:p>
          </p:txBody>
        </p:sp>
      </p:grpSp>
      <p:grpSp>
        <p:nvGrpSpPr>
          <p:cNvPr id="45" name="Stage 8 – Sign off &amp; submit"/>
          <p:cNvGrpSpPr/>
          <p:nvPr/>
        </p:nvGrpSpPr>
        <p:grpSpPr>
          <a:xfrm>
            <a:off x="10502798" y="1431036"/>
            <a:ext cx="1266444" cy="434340"/>
            <a:chOff x="10502798" y="1431036"/>
            <a:chExt cx="1266444" cy="434340"/>
          </a:xfrm>
          <a:effectLst/>
        </p:grpSpPr>
        <p:sp>
          <p:nvSpPr>
            <p:cNvPr id="46" name="Stage 8 chevron"/>
            <p:cNvSpPr/>
            <p:nvPr/>
          </p:nvSpPr>
          <p:spPr>
            <a:xfrm>
              <a:off x="10502798" y="1431036"/>
              <a:ext cx="1266444" cy="434340"/>
            </a:xfrm>
            <a:prstGeom prst="chevron">
              <a:avLst>
                <a:gd name="adj" fmla="val 10500"/>
              </a:avLst>
            </a:prstGeom>
            <a:solidFill>
              <a:srgbClr val="2346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Stage 8 number circle"/>
            <p:cNvSpPr/>
            <p:nvPr/>
          </p:nvSpPr>
          <p:spPr>
            <a:xfrm>
              <a:off x="10577779" y="1550822"/>
              <a:ext cx="192938" cy="192938"/>
            </a:xfrm>
            <a:prstGeom prst="ellipse">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Stage 8 number"/>
            <p:cNvSpPr txBox="1"/>
            <p:nvPr/>
          </p:nvSpPr>
          <p:spPr>
            <a:xfrm>
              <a:off x="10577779" y="1557223"/>
              <a:ext cx="192938" cy="159105"/>
            </a:xfrm>
            <a:prstGeom prst="rect">
              <a:avLst/>
            </a:prstGeom>
            <a:noFill/>
            <a:effectLst/>
          </p:spPr>
          <p:txBody>
            <a:bodyPr wrap="square" lIns="0" rIns="0" tIns="0" bIns="0" anchor="t">
              <a:noAutofit/>
            </a:bodyPr>
            <a:lstStyle/>
            <a:p>
              <a:pPr algn="ctr">
                <a:lnSpc>
                  <a:spcPct val="105000"/>
                </a:lnSpc>
                <a:spcBef>
                  <a:spcPts val="0"/>
                </a:spcBef>
                <a:spcAft>
                  <a:spcPts val="0"/>
                </a:spcAft>
              </a:pPr>
              <a:r>
                <a:rPr sz="900" b="1">
                  <a:solidFill>
                    <a:srgbClr val="234664"/>
                  </a:solidFill>
                  <a:latin typeface="Arial"/>
                </a:rPr>
                <a:t>8</a:t>
              </a:r>
            </a:p>
          </p:txBody>
        </p:sp>
        <p:sp>
          <p:nvSpPr>
            <p:cNvPr id="49" name="Stage 8 label"/>
            <p:cNvSpPr txBox="1"/>
            <p:nvPr/>
          </p:nvSpPr>
          <p:spPr>
            <a:xfrm>
              <a:off x="10820095" y="1520647"/>
              <a:ext cx="855878" cy="259689"/>
            </a:xfrm>
            <a:prstGeom prst="rect">
              <a:avLst/>
            </a:prstGeom>
            <a:noFill/>
            <a:effectLst/>
          </p:spPr>
          <p:txBody>
            <a:bodyPr wrap="square" lIns="0" rIns="0" tIns="0" bIns="0" anchor="t">
              <a:noAutofit/>
            </a:bodyPr>
            <a:lstStyle/>
            <a:p>
              <a:pPr algn="l">
                <a:lnSpc>
                  <a:spcPct val="105000"/>
                </a:lnSpc>
                <a:spcBef>
                  <a:spcPts val="0"/>
                </a:spcBef>
                <a:spcAft>
                  <a:spcPts val="0"/>
                </a:spcAft>
              </a:pPr>
              <a:r>
                <a:rPr sz="905" b="1">
                  <a:solidFill>
                    <a:srgbClr val="FFFFFF"/>
                  </a:solidFill>
                  <a:latin typeface="Arial"/>
                </a:rPr>
                <a:t>Sign off</a:t>
              </a:r>
            </a:p>
            <a:p>
              <a:pPr algn="l">
                <a:lnSpc>
                  <a:spcPct val="105000"/>
                </a:lnSpc>
                <a:spcBef>
                  <a:spcPts val="0"/>
                </a:spcBef>
                <a:spcAft>
                  <a:spcPts val="0"/>
                </a:spcAft>
              </a:pPr>
              <a:r>
                <a:rPr sz="905" b="1">
                  <a:solidFill>
                    <a:srgbClr val="FFFFFF"/>
                  </a:solidFill>
                  <a:latin typeface="Arial"/>
                </a:rPr>
                <a:t>&amp; submit</a:t>
              </a:r>
            </a:p>
          </p:txBody>
        </p:sp>
      </p:grpSp>
      <p:sp>
        <p:nvSpPr>
          <p:cNvPr id="50" name="Lane 1 background"/>
          <p:cNvSpPr/>
          <p:nvPr/>
        </p:nvSpPr>
        <p:spPr>
          <a:xfrm>
            <a:off x="1586484" y="1924812"/>
            <a:ext cx="10236708" cy="649224"/>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51" name="Lane 1 label – Central CRM / Data &amp; AI"/>
          <p:cNvGrpSpPr/>
          <p:nvPr/>
        </p:nvGrpSpPr>
        <p:grpSpPr>
          <a:xfrm>
            <a:off x="365760" y="1924812"/>
            <a:ext cx="1161288" cy="676655"/>
            <a:chOff x="365760" y="1924812"/>
            <a:chExt cx="1161288" cy="676655"/>
          </a:xfrm>
          <a:effectLst/>
        </p:grpSpPr>
        <p:sp>
          <p:nvSpPr>
            <p:cNvPr id="52" name="Lane 1 label background"/>
            <p:cNvSpPr/>
            <p:nvPr/>
          </p:nvSpPr>
          <p:spPr>
            <a:xfrm>
              <a:off x="365760" y="1924812"/>
              <a:ext cx="1161288" cy="649224"/>
            </a:xfrm>
            <a:prstGeom prst="rect">
              <a:avLst/>
            </a:prstGeom>
            <a:solidFill>
              <a:srgbClr val="12314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Lane 1 title"/>
            <p:cNvSpPr txBox="1"/>
            <p:nvPr/>
          </p:nvSpPr>
          <p:spPr>
            <a:xfrm>
              <a:off x="457200" y="2016252"/>
              <a:ext cx="982980" cy="283464"/>
            </a:xfrm>
            <a:prstGeom prst="rect">
              <a:avLst/>
            </a:prstGeom>
            <a:noFill/>
            <a:effectLst/>
          </p:spPr>
          <p:txBody>
            <a:bodyPr wrap="square" lIns="0" rIns="0" tIns="0" bIns="0" anchor="t">
              <a:noAutofit/>
            </a:bodyPr>
            <a:lstStyle/>
            <a:p>
              <a:pPr algn="l">
                <a:lnSpc>
                  <a:spcPct val="105000"/>
                </a:lnSpc>
                <a:spcBef>
                  <a:spcPts val="0"/>
                </a:spcBef>
                <a:spcAft>
                  <a:spcPts val="0"/>
                </a:spcAft>
              </a:pPr>
              <a:r>
                <a:rPr sz="1019" b="1">
                  <a:solidFill>
                    <a:srgbClr val="FFFFFF"/>
                  </a:solidFill>
                  <a:latin typeface="Arial"/>
                </a:rPr>
                <a:t>Central CRM /</a:t>
              </a:r>
            </a:p>
            <a:p>
              <a:pPr algn="l">
                <a:lnSpc>
                  <a:spcPct val="105000"/>
                </a:lnSpc>
                <a:spcBef>
                  <a:spcPts val="0"/>
                </a:spcBef>
                <a:spcAft>
                  <a:spcPts val="0"/>
                </a:spcAft>
              </a:pPr>
              <a:r>
                <a:rPr sz="1019" b="1">
                  <a:solidFill>
                    <a:srgbClr val="FFFFFF"/>
                  </a:solidFill>
                  <a:latin typeface="Arial"/>
                </a:rPr>
                <a:t>Data &amp; AI</a:t>
              </a:r>
            </a:p>
          </p:txBody>
        </p:sp>
        <p:sp>
          <p:nvSpPr>
            <p:cNvPr id="54" name="Lane 1 subtitle"/>
            <p:cNvSpPr txBox="1"/>
            <p:nvPr/>
          </p:nvSpPr>
          <p:spPr>
            <a:xfrm>
              <a:off x="457200" y="2340864"/>
              <a:ext cx="982980" cy="260603"/>
            </a:xfrm>
            <a:prstGeom prst="rect">
              <a:avLst/>
            </a:prstGeom>
            <a:noFill/>
            <a:effectLst/>
          </p:spPr>
          <p:txBody>
            <a:bodyPr wrap="square" lIns="0" rIns="0" tIns="0" bIns="0" anchor="t">
              <a:noAutofit/>
            </a:bodyPr>
            <a:lstStyle/>
            <a:p>
              <a:pPr algn="l">
                <a:lnSpc>
                  <a:spcPct val="104000"/>
                </a:lnSpc>
                <a:spcBef>
                  <a:spcPts val="0"/>
                </a:spcBef>
                <a:spcAft>
                  <a:spcPts val="0"/>
                </a:spcAft>
              </a:pPr>
              <a:r>
                <a:rPr sz="805" b="0">
                  <a:solidFill>
                    <a:srgbClr val="DCE8F2"/>
                  </a:solidFill>
                  <a:latin typeface="Arial"/>
                </a:rPr>
                <a:t>Shared evidence</a:t>
              </a:r>
            </a:p>
          </p:txBody>
        </p:sp>
      </p:grpSp>
      <p:sp>
        <p:nvSpPr>
          <p:cNvPr id="55" name="Lane 2 background"/>
          <p:cNvSpPr/>
          <p:nvPr/>
        </p:nvSpPr>
        <p:spPr>
          <a:xfrm>
            <a:off x="1586484" y="2619756"/>
            <a:ext cx="10236708" cy="754380"/>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56" name="Lane 2 label – Platform audit teams"/>
          <p:cNvGrpSpPr/>
          <p:nvPr/>
        </p:nvGrpSpPr>
        <p:grpSpPr>
          <a:xfrm>
            <a:off x="365760" y="2619756"/>
            <a:ext cx="1161288" cy="754380"/>
            <a:chOff x="365760" y="2619756"/>
            <a:chExt cx="1161288" cy="754380"/>
          </a:xfrm>
          <a:effectLst/>
        </p:grpSpPr>
        <p:sp>
          <p:nvSpPr>
            <p:cNvPr id="57" name="Lane 2 label background"/>
            <p:cNvSpPr/>
            <p:nvPr/>
          </p:nvSpPr>
          <p:spPr>
            <a:xfrm>
              <a:off x="365760" y="2619756"/>
              <a:ext cx="1161288" cy="754380"/>
            </a:xfrm>
            <a:prstGeom prst="rect">
              <a:avLst/>
            </a:prstGeom>
            <a:solidFill>
              <a:srgbClr val="2346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Lane 2 title"/>
            <p:cNvSpPr txBox="1"/>
            <p:nvPr/>
          </p:nvSpPr>
          <p:spPr>
            <a:xfrm>
              <a:off x="457200" y="2711196"/>
              <a:ext cx="982980" cy="283464"/>
            </a:xfrm>
            <a:prstGeom prst="rect">
              <a:avLst/>
            </a:prstGeom>
            <a:noFill/>
            <a:effectLst/>
          </p:spPr>
          <p:txBody>
            <a:bodyPr wrap="square" lIns="0" rIns="0" tIns="0" bIns="0" anchor="t">
              <a:noAutofit/>
            </a:bodyPr>
            <a:lstStyle/>
            <a:p>
              <a:pPr algn="l">
                <a:lnSpc>
                  <a:spcPct val="105000"/>
                </a:lnSpc>
                <a:spcBef>
                  <a:spcPts val="0"/>
                </a:spcBef>
                <a:spcAft>
                  <a:spcPts val="0"/>
                </a:spcAft>
              </a:pPr>
              <a:r>
                <a:rPr sz="1019" b="1">
                  <a:solidFill>
                    <a:srgbClr val="FFFFFF"/>
                  </a:solidFill>
                  <a:latin typeface="Arial"/>
                </a:rPr>
                <a:t>Platform</a:t>
              </a:r>
            </a:p>
            <a:p>
              <a:pPr algn="l">
                <a:lnSpc>
                  <a:spcPct val="105000"/>
                </a:lnSpc>
                <a:spcBef>
                  <a:spcPts val="0"/>
                </a:spcBef>
                <a:spcAft>
                  <a:spcPts val="0"/>
                </a:spcAft>
              </a:pPr>
              <a:r>
                <a:rPr sz="1019" b="1">
                  <a:solidFill>
                    <a:srgbClr val="FFFFFF"/>
                  </a:solidFill>
                  <a:latin typeface="Arial"/>
                </a:rPr>
                <a:t>audit teams</a:t>
              </a:r>
            </a:p>
          </p:txBody>
        </p:sp>
        <p:sp>
          <p:nvSpPr>
            <p:cNvPr id="59" name="Lane 2 subtitle"/>
            <p:cNvSpPr txBox="1"/>
            <p:nvPr/>
          </p:nvSpPr>
          <p:spPr>
            <a:xfrm>
              <a:off x="457200" y="3035808"/>
              <a:ext cx="982980" cy="260603"/>
            </a:xfrm>
            <a:prstGeom prst="rect">
              <a:avLst/>
            </a:prstGeom>
            <a:noFill/>
            <a:effectLst/>
          </p:spPr>
          <p:txBody>
            <a:bodyPr wrap="square" lIns="0" rIns="0" tIns="0" bIns="0" anchor="t">
              <a:noAutofit/>
            </a:bodyPr>
            <a:lstStyle/>
            <a:p>
              <a:pPr algn="l">
                <a:lnSpc>
                  <a:spcPct val="104000"/>
                </a:lnSpc>
                <a:spcBef>
                  <a:spcPts val="0"/>
                </a:spcBef>
                <a:spcAft>
                  <a:spcPts val="0"/>
                </a:spcAft>
              </a:pPr>
              <a:r>
                <a:rPr sz="805" b="0">
                  <a:solidFill>
                    <a:srgbClr val="DCE8F2"/>
                  </a:solidFill>
                  <a:latin typeface="Arial"/>
                </a:rPr>
                <a:t>Validate shared</a:t>
              </a:r>
            </a:p>
            <a:p>
              <a:pPr algn="l">
                <a:lnSpc>
                  <a:spcPct val="104000"/>
                </a:lnSpc>
                <a:spcBef>
                  <a:spcPts val="0"/>
                </a:spcBef>
                <a:spcAft>
                  <a:spcPts val="0"/>
                </a:spcAft>
              </a:pPr>
              <a:r>
                <a:rPr sz="805" b="0">
                  <a:solidFill>
                    <a:srgbClr val="DCE8F2"/>
                  </a:solidFill>
                  <a:latin typeface="Arial"/>
                </a:rPr>
                <a:t>platform content</a:t>
              </a:r>
            </a:p>
          </p:txBody>
        </p:sp>
      </p:grpSp>
      <p:sp>
        <p:nvSpPr>
          <p:cNvPr id="60" name="Lane 3 background"/>
          <p:cNvSpPr/>
          <p:nvPr/>
        </p:nvSpPr>
        <p:spPr>
          <a:xfrm>
            <a:off x="1586484" y="3419856"/>
            <a:ext cx="10236708" cy="960120"/>
          </a:xfrm>
          <a:prstGeom prst="rect">
            <a:avLst/>
          </a:prstGeom>
          <a:solidFill>
            <a:srgbClr val="EAF3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61" name="Lane 3 label – Model Risk audit team"/>
          <p:cNvGrpSpPr/>
          <p:nvPr/>
        </p:nvGrpSpPr>
        <p:grpSpPr>
          <a:xfrm>
            <a:off x="365760" y="3419856"/>
            <a:ext cx="1161288" cy="960120"/>
            <a:chOff x="365760" y="3419856"/>
            <a:chExt cx="1161288" cy="960120"/>
          </a:xfrm>
          <a:effectLst/>
        </p:grpSpPr>
        <p:sp>
          <p:nvSpPr>
            <p:cNvPr id="62" name="Lane 3 label background"/>
            <p:cNvSpPr/>
            <p:nvPr/>
          </p:nvSpPr>
          <p:spPr>
            <a:xfrm>
              <a:off x="365760" y="3419856"/>
              <a:ext cx="1161288" cy="960120"/>
            </a:xfrm>
            <a:prstGeom prst="rect">
              <a:avLst/>
            </a:prstGeom>
            <a:solidFill>
              <a:srgbClr val="1668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Lane 3 title"/>
            <p:cNvSpPr txBox="1"/>
            <p:nvPr/>
          </p:nvSpPr>
          <p:spPr>
            <a:xfrm>
              <a:off x="457200" y="3511296"/>
              <a:ext cx="982980" cy="283464"/>
            </a:xfrm>
            <a:prstGeom prst="rect">
              <a:avLst/>
            </a:prstGeom>
            <a:noFill/>
            <a:effectLst/>
          </p:spPr>
          <p:txBody>
            <a:bodyPr wrap="square" lIns="0" rIns="0" tIns="0" bIns="0" anchor="t">
              <a:noAutofit/>
            </a:bodyPr>
            <a:lstStyle/>
            <a:p>
              <a:pPr algn="l">
                <a:lnSpc>
                  <a:spcPct val="105000"/>
                </a:lnSpc>
                <a:spcBef>
                  <a:spcPts val="0"/>
                </a:spcBef>
                <a:spcAft>
                  <a:spcPts val="0"/>
                </a:spcAft>
              </a:pPr>
              <a:r>
                <a:rPr sz="1019" b="1">
                  <a:solidFill>
                    <a:srgbClr val="FFFFFF"/>
                  </a:solidFill>
                  <a:latin typeface="Arial"/>
                </a:rPr>
                <a:t>Model Risk</a:t>
              </a:r>
            </a:p>
            <a:p>
              <a:pPr algn="l">
                <a:lnSpc>
                  <a:spcPct val="105000"/>
                </a:lnSpc>
                <a:spcBef>
                  <a:spcPts val="0"/>
                </a:spcBef>
                <a:spcAft>
                  <a:spcPts val="0"/>
                </a:spcAft>
              </a:pPr>
              <a:r>
                <a:rPr sz="1019" b="1">
                  <a:solidFill>
                    <a:srgbClr val="FFFFFF"/>
                  </a:solidFill>
                  <a:latin typeface="Arial"/>
                </a:rPr>
                <a:t>audit team</a:t>
              </a:r>
            </a:p>
          </p:txBody>
        </p:sp>
        <p:sp>
          <p:nvSpPr>
            <p:cNvPr id="64" name="Lane 3 subtitle"/>
            <p:cNvSpPr txBox="1"/>
            <p:nvPr/>
          </p:nvSpPr>
          <p:spPr>
            <a:xfrm>
              <a:off x="457200" y="3835908"/>
              <a:ext cx="982980" cy="260603"/>
            </a:xfrm>
            <a:prstGeom prst="rect">
              <a:avLst/>
            </a:prstGeom>
            <a:noFill/>
            <a:effectLst/>
          </p:spPr>
          <p:txBody>
            <a:bodyPr wrap="square" lIns="0" rIns="0" tIns="0" bIns="0" anchor="t">
              <a:noAutofit/>
            </a:bodyPr>
            <a:lstStyle/>
            <a:p>
              <a:pPr algn="l">
                <a:lnSpc>
                  <a:spcPct val="104000"/>
                </a:lnSpc>
                <a:spcBef>
                  <a:spcPts val="0"/>
                </a:spcBef>
                <a:spcAft>
                  <a:spcPts val="0"/>
                </a:spcAft>
              </a:pPr>
              <a:r>
                <a:rPr sz="805" b="0">
                  <a:solidFill>
                    <a:srgbClr val="DCE8F2"/>
                  </a:solidFill>
                  <a:latin typeface="Arial"/>
                </a:rPr>
                <a:t>Review and</a:t>
              </a:r>
            </a:p>
            <a:p>
              <a:pPr algn="l">
                <a:lnSpc>
                  <a:spcPct val="104000"/>
                </a:lnSpc>
                <a:spcBef>
                  <a:spcPts val="0"/>
                </a:spcBef>
                <a:spcAft>
                  <a:spcPts val="0"/>
                </a:spcAft>
              </a:pPr>
              <a:r>
                <a:rPr sz="805" b="0">
                  <a:solidFill>
                    <a:srgbClr val="DCE8F2"/>
                  </a:solidFill>
                  <a:latin typeface="Arial"/>
                </a:rPr>
                <a:t>contribute</a:t>
              </a:r>
            </a:p>
          </p:txBody>
        </p:sp>
      </p:grpSp>
      <p:sp>
        <p:nvSpPr>
          <p:cNvPr id="65" name="Lane 4 background"/>
          <p:cNvSpPr/>
          <p:nvPr/>
        </p:nvSpPr>
        <p:spPr>
          <a:xfrm>
            <a:off x="1586484" y="4425696"/>
            <a:ext cx="10236708" cy="1335024"/>
          </a:xfrm>
          <a:prstGeom prst="rect">
            <a:avLst/>
          </a:prstGeom>
          <a:solidFill>
            <a:srgbClr val="F8FA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66" name="Lane 4 label – Platform CRM documents"/>
          <p:cNvGrpSpPr/>
          <p:nvPr/>
        </p:nvGrpSpPr>
        <p:grpSpPr>
          <a:xfrm>
            <a:off x="365760" y="4425696"/>
            <a:ext cx="1161288" cy="1335024"/>
            <a:chOff x="365760" y="4425696"/>
            <a:chExt cx="1161288" cy="1335024"/>
          </a:xfrm>
          <a:effectLst/>
        </p:grpSpPr>
        <p:sp>
          <p:nvSpPr>
            <p:cNvPr id="67" name="Lane 4 label background"/>
            <p:cNvSpPr/>
            <p:nvPr/>
          </p:nvSpPr>
          <p:spPr>
            <a:xfrm>
              <a:off x="365760" y="4425696"/>
              <a:ext cx="1161288" cy="1335024"/>
            </a:xfrm>
            <a:prstGeom prst="rect">
              <a:avLst/>
            </a:prstGeom>
            <a:solidFill>
              <a:srgbClr val="367FB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Lane 4 title"/>
            <p:cNvSpPr txBox="1"/>
            <p:nvPr/>
          </p:nvSpPr>
          <p:spPr>
            <a:xfrm>
              <a:off x="457200" y="4754880"/>
              <a:ext cx="982980" cy="283464"/>
            </a:xfrm>
            <a:prstGeom prst="rect">
              <a:avLst/>
            </a:prstGeom>
            <a:noFill/>
            <a:effectLst/>
          </p:spPr>
          <p:txBody>
            <a:bodyPr wrap="square" lIns="0" rIns="0" tIns="0" bIns="0" anchor="t">
              <a:noAutofit/>
            </a:bodyPr>
            <a:lstStyle/>
            <a:p>
              <a:pPr algn="l">
                <a:lnSpc>
                  <a:spcPct val="105000"/>
                </a:lnSpc>
                <a:spcBef>
                  <a:spcPts val="0"/>
                </a:spcBef>
                <a:spcAft>
                  <a:spcPts val="0"/>
                </a:spcAft>
              </a:pPr>
              <a:r>
                <a:rPr sz="1019" b="1">
                  <a:solidFill>
                    <a:srgbClr val="FFFFFF"/>
                  </a:solidFill>
                  <a:latin typeface="Arial"/>
                </a:rPr>
                <a:t>Platform CRM</a:t>
              </a:r>
            </a:p>
            <a:p>
              <a:pPr algn="l">
                <a:lnSpc>
                  <a:spcPct val="105000"/>
                </a:lnSpc>
                <a:spcBef>
                  <a:spcPts val="0"/>
                </a:spcBef>
                <a:spcAft>
                  <a:spcPts val="0"/>
                </a:spcAft>
              </a:pPr>
              <a:r>
                <a:rPr sz="1019" b="1">
                  <a:solidFill>
                    <a:srgbClr val="FFFFFF"/>
                  </a:solidFill>
                  <a:latin typeface="Arial"/>
                </a:rPr>
                <a:t>documents</a:t>
              </a:r>
            </a:p>
          </p:txBody>
        </p:sp>
        <p:sp>
          <p:nvSpPr>
            <p:cNvPr id="69" name="Lane 4 subtitle"/>
            <p:cNvSpPr txBox="1"/>
            <p:nvPr/>
          </p:nvSpPr>
          <p:spPr>
            <a:xfrm>
              <a:off x="457200" y="5079492"/>
              <a:ext cx="982980" cy="260603"/>
            </a:xfrm>
            <a:prstGeom prst="rect">
              <a:avLst/>
            </a:prstGeom>
            <a:noFill/>
            <a:effectLst/>
          </p:spPr>
          <p:txBody>
            <a:bodyPr wrap="square" lIns="0" rIns="0" tIns="0" bIns="0" anchor="t">
              <a:noAutofit/>
            </a:bodyPr>
            <a:lstStyle/>
            <a:p>
              <a:pPr algn="l">
                <a:lnSpc>
                  <a:spcPct val="104000"/>
                </a:lnSpc>
                <a:spcBef>
                  <a:spcPts val="0"/>
                </a:spcBef>
                <a:spcAft>
                  <a:spcPts val="0"/>
                </a:spcAft>
              </a:pPr>
              <a:r>
                <a:rPr sz="805" b="0">
                  <a:solidFill>
                    <a:srgbClr val="DCE8F2"/>
                  </a:solidFill>
                  <a:latin typeface="Arial"/>
                </a:rPr>
                <a:t>Input follows</a:t>
              </a:r>
            </a:p>
            <a:p>
              <a:pPr algn="l">
                <a:lnSpc>
                  <a:spcPct val="104000"/>
                </a:lnSpc>
                <a:spcBef>
                  <a:spcPts val="0"/>
                </a:spcBef>
                <a:spcAft>
                  <a:spcPts val="0"/>
                </a:spcAft>
              </a:pPr>
              <a:r>
                <a:rPr sz="805" b="0">
                  <a:solidFill>
                    <a:srgbClr val="DCE8F2"/>
                  </a:solidFill>
                  <a:latin typeface="Arial"/>
                </a:rPr>
                <a:t>AU coverage</a:t>
              </a:r>
            </a:p>
          </p:txBody>
        </p:sp>
      </p:grpSp>
      <p:sp>
        <p:nvSpPr>
          <p:cNvPr id="70" name="Lane 5 background"/>
          <p:cNvSpPr/>
          <p:nvPr/>
        </p:nvSpPr>
        <p:spPr>
          <a:xfrm>
            <a:off x="1586484" y="5806440"/>
            <a:ext cx="10236708" cy="548640"/>
          </a:xfrm>
          <a:prstGeom prst="rect">
            <a:avLst/>
          </a:prstGeom>
          <a:solidFill>
            <a:srgbClr val="F4F7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71" name="Lane 5 label – Output / governance"/>
          <p:cNvGrpSpPr/>
          <p:nvPr/>
        </p:nvGrpSpPr>
        <p:grpSpPr>
          <a:xfrm>
            <a:off x="365760" y="5806440"/>
            <a:ext cx="1161288" cy="548640"/>
            <a:chOff x="365760" y="5806440"/>
            <a:chExt cx="1161288" cy="548640"/>
          </a:xfrm>
          <a:effectLst/>
        </p:grpSpPr>
        <p:sp>
          <p:nvSpPr>
            <p:cNvPr id="72" name="Lane 5 label background"/>
            <p:cNvSpPr/>
            <p:nvPr/>
          </p:nvSpPr>
          <p:spPr>
            <a:xfrm>
              <a:off x="365760" y="5806440"/>
              <a:ext cx="1161288" cy="548640"/>
            </a:xfrm>
            <a:prstGeom prst="rect">
              <a:avLst/>
            </a:prstGeom>
            <a:solidFill>
              <a:srgbClr val="23466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Lane 5 title"/>
            <p:cNvSpPr txBox="1"/>
            <p:nvPr/>
          </p:nvSpPr>
          <p:spPr>
            <a:xfrm>
              <a:off x="457200" y="5884164"/>
              <a:ext cx="982980" cy="283464"/>
            </a:xfrm>
            <a:prstGeom prst="rect">
              <a:avLst/>
            </a:prstGeom>
            <a:noFill/>
            <a:effectLst/>
          </p:spPr>
          <p:txBody>
            <a:bodyPr wrap="square" lIns="0" rIns="0" tIns="0" bIns="0" anchor="t">
              <a:noAutofit/>
            </a:bodyPr>
            <a:lstStyle/>
            <a:p>
              <a:pPr algn="l">
                <a:lnSpc>
                  <a:spcPct val="105000"/>
                </a:lnSpc>
                <a:spcBef>
                  <a:spcPts val="0"/>
                </a:spcBef>
                <a:spcAft>
                  <a:spcPts val="0"/>
                </a:spcAft>
              </a:pPr>
              <a:r>
                <a:rPr sz="1019" b="1">
                  <a:solidFill>
                    <a:srgbClr val="FFFFFF"/>
                  </a:solidFill>
                  <a:latin typeface="Arial"/>
                </a:rPr>
                <a:t>Output /</a:t>
              </a:r>
            </a:p>
            <a:p>
              <a:pPr algn="l">
                <a:lnSpc>
                  <a:spcPct val="105000"/>
                </a:lnSpc>
                <a:spcBef>
                  <a:spcPts val="0"/>
                </a:spcBef>
                <a:spcAft>
                  <a:spcPts val="0"/>
                </a:spcAft>
              </a:pPr>
              <a:r>
                <a:rPr sz="1019" b="1">
                  <a:solidFill>
                    <a:srgbClr val="FFFFFF"/>
                  </a:solidFill>
                  <a:latin typeface="Arial"/>
                </a:rPr>
                <a:t>governance</a:t>
              </a:r>
            </a:p>
          </p:txBody>
        </p:sp>
      </p:grpSp>
      <p:grpSp>
        <p:nvGrpSpPr>
          <p:cNvPr id="74" name="01 – Generate pre-populated platform CRM packs"/>
          <p:cNvGrpSpPr/>
          <p:nvPr/>
        </p:nvGrpSpPr>
        <p:grpSpPr>
          <a:xfrm>
            <a:off x="1691640" y="1975104"/>
            <a:ext cx="3840480" cy="548640"/>
            <a:chOff x="1691640" y="1975104"/>
            <a:chExt cx="3840480" cy="548640"/>
          </a:xfrm>
          <a:effectLst/>
        </p:grpSpPr>
        <p:sp>
          <p:nvSpPr>
            <p:cNvPr id="75" name="Central data preparation card"/>
            <p:cNvSpPr/>
            <p:nvPr/>
          </p:nvSpPr>
          <p:spPr>
            <a:xfrm>
              <a:off x="1691640" y="1975104"/>
              <a:ext cx="3840480" cy="548640"/>
            </a:xfrm>
            <a:prstGeom prst="roundRect">
              <a:avLst>
                <a:gd name="adj" fmla="val 5500"/>
              </a:avLst>
            </a:prstGeom>
            <a:solidFill>
              <a:srgbClr val="FFFFFF"/>
            </a:solidFill>
            <a:ln w="8255">
              <a:solidFill>
                <a:srgbClr val="C6D5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Central preparation detail"/>
            <p:cNvSpPr txBox="1"/>
            <p:nvPr/>
          </p:nvSpPr>
          <p:spPr>
            <a:xfrm>
              <a:off x="1787652" y="2043684"/>
              <a:ext cx="3648456" cy="429768"/>
            </a:xfrm>
            <a:prstGeom prst="rect">
              <a:avLst/>
            </a:prstGeom>
            <a:noFill/>
            <a:effectLst/>
          </p:spPr>
          <p:txBody>
            <a:bodyPr wrap="square" lIns="0" rIns="0" tIns="0" bIns="0" anchor="t">
              <a:noAutofit/>
            </a:bodyPr>
            <a:lstStyle/>
            <a:p>
              <a:pPr algn="l">
                <a:lnSpc>
                  <a:spcPct val="106000"/>
                </a:lnSpc>
                <a:spcBef>
                  <a:spcPts val="0"/>
                </a:spcBef>
                <a:spcAft>
                  <a:spcPts val="0"/>
                </a:spcAft>
              </a:pPr>
              <a:r>
                <a:rPr sz="944" b="0">
                  <a:solidFill>
                    <a:srgbClr val="21384E"/>
                  </a:solidFill>
                  <a:latin typeface="Arial"/>
                </a:rPr>
                <a:t>Pull WorkDay, PRAM, ORE and MS/EIM evidence.</a:t>
              </a:r>
            </a:p>
            <a:p>
              <a:pPr algn="l">
                <a:lnSpc>
                  <a:spcPct val="106000"/>
                </a:lnSpc>
                <a:spcBef>
                  <a:spcPts val="0"/>
                </a:spcBef>
                <a:spcAft>
                  <a:spcPts val="0"/>
                </a:spcAft>
              </a:pPr>
              <a:r>
                <a:rPr sz="944" b="0">
                  <a:solidFill>
                    <a:srgbClr val="21384E"/>
                  </a:solidFill>
                  <a:latin typeface="Arial"/>
                </a:rPr>
                <a:t>Pre-populate platform / regional packs with an AI summary of executive movements and supporting evidence / logic.</a:t>
              </a:r>
            </a:p>
          </p:txBody>
        </p:sp>
      </p:grpSp>
      <p:sp>
        <p:nvSpPr>
          <p:cNvPr id="77" name="Shared evidence availability"/>
          <p:cNvSpPr txBox="1"/>
          <p:nvPr/>
        </p:nvSpPr>
        <p:spPr>
          <a:xfrm>
            <a:off x="5797296" y="2020824"/>
            <a:ext cx="5788152" cy="173736"/>
          </a:xfrm>
          <a:prstGeom prst="rect">
            <a:avLst/>
          </a:prstGeom>
          <a:noFill/>
          <a:effectLst/>
        </p:spPr>
        <p:txBody>
          <a:bodyPr wrap="square" lIns="0" rIns="0" tIns="0" bIns="0" anchor="t">
            <a:noAutofit/>
          </a:bodyPr>
          <a:lstStyle/>
          <a:p>
            <a:pPr algn="l">
              <a:lnSpc>
                <a:spcPct val="105000"/>
              </a:lnSpc>
              <a:spcBef>
                <a:spcPts val="0"/>
              </a:spcBef>
              <a:spcAft>
                <a:spcPts val="0"/>
              </a:spcAft>
            </a:pPr>
            <a:r>
              <a:rPr sz="944" b="0">
                <a:solidFill>
                  <a:srgbClr val="566B7E"/>
                </a:solidFill>
                <a:latin typeface="Arial"/>
              </a:rPr>
              <a:t>Shared evidence is available to both platform and Model Risk teams</a:t>
            </a:r>
          </a:p>
        </p:txBody>
      </p:sp>
      <p:cxnSp>
        <p:nvCxnSpPr>
          <p:cNvPr id="78" name="Shared evidence flow"/>
          <p:cNvCxnSpPr/>
          <p:nvPr/>
        </p:nvCxnSpPr>
        <p:spPr>
          <a:xfrm>
            <a:off x="5705856" y="2313432"/>
            <a:ext cx="5907024" cy="0"/>
          </a:xfrm>
          <a:prstGeom prst="line">
            <a:avLst/>
          </a:prstGeom>
          <a:ln w="13970">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Platform ownership principle"/>
          <p:cNvSpPr txBox="1"/>
          <p:nvPr/>
        </p:nvSpPr>
        <p:spPr>
          <a:xfrm>
            <a:off x="1792224" y="2811780"/>
            <a:ext cx="3310128" cy="310896"/>
          </a:xfrm>
          <a:prstGeom prst="rect">
            <a:avLst/>
          </a:prstGeom>
          <a:noFill/>
          <a:effectLst/>
        </p:spPr>
        <p:txBody>
          <a:bodyPr wrap="square" lIns="0" rIns="0" tIns="0" bIns="0" anchor="t">
            <a:noAutofit/>
          </a:bodyPr>
          <a:lstStyle/>
          <a:p>
            <a:pPr algn="l">
              <a:lnSpc>
                <a:spcPct val="112000"/>
              </a:lnSpc>
              <a:spcBef>
                <a:spcPts val="0"/>
              </a:spcBef>
              <a:spcAft>
                <a:spcPts val="0"/>
              </a:spcAft>
            </a:pPr>
            <a:r>
              <a:rPr sz="1010" b="0">
                <a:solidFill>
                  <a:srgbClr val="566B7E"/>
                </a:solidFill>
                <a:latin typeface="Arial"/>
              </a:rPr>
              <a:t>Platform teams own the shared baseline;</a:t>
            </a:r>
          </a:p>
          <a:p>
            <a:pPr algn="l">
              <a:lnSpc>
                <a:spcPct val="112000"/>
              </a:lnSpc>
              <a:spcBef>
                <a:spcPts val="0"/>
              </a:spcBef>
              <a:spcAft>
                <a:spcPts val="0"/>
              </a:spcAft>
            </a:pPr>
            <a:r>
              <a:rPr sz="1010" b="0">
                <a:solidFill>
                  <a:srgbClr val="566B7E"/>
                </a:solidFill>
                <a:latin typeface="Arial"/>
              </a:rPr>
              <a:t>Model Risk does not rebuild it.</a:t>
            </a:r>
          </a:p>
        </p:txBody>
      </p:sp>
      <p:grpSp>
        <p:nvGrpSpPr>
          <p:cNvPr id="80" name="04 – Platform validation"/>
          <p:cNvGrpSpPr/>
          <p:nvPr/>
        </p:nvGrpSpPr>
        <p:grpSpPr>
          <a:xfrm>
            <a:off x="5394960" y="2683764"/>
            <a:ext cx="3319272" cy="626364"/>
            <a:chOff x="5394960" y="2683764"/>
            <a:chExt cx="3319272" cy="626364"/>
          </a:xfrm>
          <a:effectLst/>
        </p:grpSpPr>
        <p:sp>
          <p:nvSpPr>
            <p:cNvPr id="81" name="04 – Platform validation background"/>
            <p:cNvSpPr/>
            <p:nvPr/>
          </p:nvSpPr>
          <p:spPr>
            <a:xfrm>
              <a:off x="5394960" y="2683764"/>
              <a:ext cx="3319272" cy="626364"/>
            </a:xfrm>
            <a:prstGeom prst="roundRect">
              <a:avLst>
                <a:gd name="adj" fmla="val 5500"/>
              </a:avLst>
            </a:prstGeom>
            <a:solidFill>
              <a:srgbClr val="FFFFFF"/>
            </a:solidFill>
            <a:ln w="8255">
              <a:solidFill>
                <a:srgbClr val="C6D5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04 – Platform validation heading"/>
            <p:cNvSpPr txBox="1"/>
            <p:nvPr/>
          </p:nvSpPr>
          <p:spPr>
            <a:xfrm>
              <a:off x="5490972" y="2752344"/>
              <a:ext cx="3127248" cy="182880"/>
            </a:xfrm>
            <a:prstGeom prst="rect">
              <a:avLst/>
            </a:prstGeom>
            <a:noFill/>
            <a:effectLst/>
          </p:spPr>
          <p:txBody>
            <a:bodyPr wrap="square" lIns="0" rIns="0" tIns="0" bIns="0" anchor="t">
              <a:noAutofit/>
            </a:bodyPr>
            <a:lstStyle/>
            <a:p>
              <a:pPr algn="l">
                <a:lnSpc>
                  <a:spcPct val="105000"/>
                </a:lnSpc>
                <a:spcBef>
                  <a:spcPts val="0"/>
                </a:spcBef>
                <a:spcAft>
                  <a:spcPts val="0"/>
                </a:spcAft>
              </a:pPr>
              <a:r>
                <a:rPr sz="990" b="1">
                  <a:solidFill>
                    <a:srgbClr val="12314F"/>
                  </a:solidFill>
                  <a:latin typeface="Arial"/>
                </a:rPr>
                <a:t>04  |  Validate shared platform content</a:t>
              </a:r>
            </a:p>
          </p:txBody>
        </p:sp>
        <p:sp>
          <p:nvSpPr>
            <p:cNvPr id="83" name="04 – Platform validation details"/>
            <p:cNvSpPr txBox="1"/>
            <p:nvPr/>
          </p:nvSpPr>
          <p:spPr>
            <a:xfrm>
              <a:off x="5490972" y="2926080"/>
              <a:ext cx="3127248" cy="342900"/>
            </a:xfrm>
            <a:prstGeom prst="rect">
              <a:avLst/>
            </a:prstGeom>
            <a:noFill/>
            <a:effectLst/>
          </p:spPr>
          <p:txBody>
            <a:bodyPr wrap="square" lIns="0" rIns="0" tIns="0" bIns="0" anchor="t">
              <a:noAutofit/>
            </a:bodyPr>
            <a:lstStyle/>
            <a:p>
              <a:pPr algn="l">
                <a:lnSpc>
                  <a:spcPct val="105000"/>
                </a:lnSpc>
                <a:spcBef>
                  <a:spcPts val="0"/>
                </a:spcBef>
                <a:spcAft>
                  <a:spcPts val="0"/>
                </a:spcAft>
              </a:pPr>
              <a:r>
                <a:rPr sz="944" b="0">
                  <a:solidFill>
                    <a:srgbClr val="21384E"/>
                  </a:solidFill>
                  <a:latin typeface="Arial"/>
                </a:rPr>
                <a:t>Confirm relevance, regional coverage and missing context; complete the platform-owned narrative.</a:t>
              </a:r>
            </a:p>
          </p:txBody>
        </p:sp>
      </p:grpSp>
      <p:grpSp>
        <p:nvGrpSpPr>
          <p:cNvPr id="84" name="07 – Platform review"/>
          <p:cNvGrpSpPr/>
          <p:nvPr/>
        </p:nvGrpSpPr>
        <p:grpSpPr>
          <a:xfrm>
            <a:off x="9290304" y="2683764"/>
            <a:ext cx="2423160" cy="626364"/>
            <a:chOff x="9290304" y="2683764"/>
            <a:chExt cx="2423160" cy="626364"/>
          </a:xfrm>
          <a:effectLst/>
        </p:grpSpPr>
        <p:sp>
          <p:nvSpPr>
            <p:cNvPr id="85" name="07 – Platform review background"/>
            <p:cNvSpPr/>
            <p:nvPr/>
          </p:nvSpPr>
          <p:spPr>
            <a:xfrm>
              <a:off x="9290304" y="2683764"/>
              <a:ext cx="2423160" cy="626364"/>
            </a:xfrm>
            <a:prstGeom prst="roundRect">
              <a:avLst>
                <a:gd name="adj" fmla="val 5500"/>
              </a:avLst>
            </a:prstGeom>
            <a:solidFill>
              <a:srgbClr val="FFFFFF"/>
            </a:solidFill>
            <a:ln w="8255">
              <a:solidFill>
                <a:srgbClr val="C6D5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07 – Platform review heading"/>
            <p:cNvSpPr txBox="1"/>
            <p:nvPr/>
          </p:nvSpPr>
          <p:spPr>
            <a:xfrm>
              <a:off x="9386316" y="2752344"/>
              <a:ext cx="2231136" cy="182880"/>
            </a:xfrm>
            <a:prstGeom prst="rect">
              <a:avLst/>
            </a:prstGeom>
            <a:noFill/>
            <a:effectLst/>
          </p:spPr>
          <p:txBody>
            <a:bodyPr wrap="square" lIns="0" rIns="0" tIns="0" bIns="0" anchor="t">
              <a:noAutofit/>
            </a:bodyPr>
            <a:lstStyle/>
            <a:p>
              <a:pPr algn="l">
                <a:lnSpc>
                  <a:spcPct val="105000"/>
                </a:lnSpc>
                <a:spcBef>
                  <a:spcPts val="0"/>
                </a:spcBef>
                <a:spcAft>
                  <a:spcPts val="0"/>
                </a:spcAft>
              </a:pPr>
              <a:r>
                <a:rPr sz="990" b="1">
                  <a:solidFill>
                    <a:srgbClr val="12314F"/>
                  </a:solidFill>
                  <a:latin typeface="Arial"/>
                </a:rPr>
                <a:t>07  |  Review Model Risk input</a:t>
              </a:r>
            </a:p>
          </p:txBody>
        </p:sp>
        <p:sp>
          <p:nvSpPr>
            <p:cNvPr id="87" name="07 – Platform review details"/>
            <p:cNvSpPr txBox="1"/>
            <p:nvPr/>
          </p:nvSpPr>
          <p:spPr>
            <a:xfrm>
              <a:off x="9386316" y="2926080"/>
              <a:ext cx="2231136" cy="342900"/>
            </a:xfrm>
            <a:prstGeom prst="rect">
              <a:avLst/>
            </a:prstGeom>
            <a:noFill/>
            <a:effectLst/>
          </p:spPr>
          <p:txBody>
            <a:bodyPr wrap="square" lIns="0" rIns="0" tIns="0" bIns="0" anchor="t">
              <a:noAutofit/>
            </a:bodyPr>
            <a:lstStyle/>
            <a:p>
              <a:pPr algn="l">
                <a:lnSpc>
                  <a:spcPct val="105000"/>
                </a:lnSpc>
                <a:spcBef>
                  <a:spcPts val="0"/>
                </a:spcBef>
                <a:spcAft>
                  <a:spcPts val="0"/>
                </a:spcAft>
              </a:pPr>
              <a:r>
                <a:rPr sz="944" b="0">
                  <a:solidFill>
                    <a:srgbClr val="21384E"/>
                  </a:solidFill>
                  <a:latin typeface="Arial"/>
                </a:rPr>
                <a:t>Resolve comments and confirm document readiness.</a:t>
              </a:r>
            </a:p>
          </p:txBody>
        </p:sp>
      </p:grpSp>
      <p:cxnSp>
        <p:nvCxnSpPr>
          <p:cNvPr id="88" name="Platform validation to final review"/>
          <p:cNvCxnSpPr/>
          <p:nvPr/>
        </p:nvCxnSpPr>
        <p:spPr>
          <a:xfrm>
            <a:off x="8750808" y="2998317"/>
            <a:ext cx="475488" cy="0"/>
          </a:xfrm>
          <a:prstGeom prst="line">
            <a:avLst/>
          </a:prstGeom>
          <a:ln w="13970">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grpSp>
        <p:nvGrpSpPr>
          <p:cNvPr id="89" name="02 – Model Risk coverage mapping"/>
          <p:cNvGrpSpPr/>
          <p:nvPr/>
        </p:nvGrpSpPr>
        <p:grpSpPr>
          <a:xfrm>
            <a:off x="1691640" y="3479292"/>
            <a:ext cx="2404872" cy="836676"/>
            <a:chOff x="1691640" y="3479292"/>
            <a:chExt cx="2404872" cy="836676"/>
          </a:xfrm>
          <a:effectLst/>
        </p:grpSpPr>
        <p:sp>
          <p:nvSpPr>
            <p:cNvPr id="90" name="02 – Model Risk coverage mapping background"/>
            <p:cNvSpPr/>
            <p:nvPr/>
          </p:nvSpPr>
          <p:spPr>
            <a:xfrm>
              <a:off x="1691640" y="3479292"/>
              <a:ext cx="2404872" cy="836676"/>
            </a:xfrm>
            <a:prstGeom prst="roundRect">
              <a:avLst>
                <a:gd name="adj" fmla="val 5500"/>
              </a:avLst>
            </a:prstGeom>
            <a:solidFill>
              <a:srgbClr val="FFFFFF"/>
            </a:solidFill>
            <a:ln w="8255">
              <a:solidFill>
                <a:srgbClr val="C6D5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02 – Model Risk coverage mapping heading"/>
            <p:cNvSpPr txBox="1"/>
            <p:nvPr/>
          </p:nvSpPr>
          <p:spPr>
            <a:xfrm>
              <a:off x="1787652" y="3547872"/>
              <a:ext cx="2212848" cy="182880"/>
            </a:xfrm>
            <a:prstGeom prst="rect">
              <a:avLst/>
            </a:prstGeom>
            <a:noFill/>
            <a:effectLst/>
          </p:spPr>
          <p:txBody>
            <a:bodyPr wrap="square" lIns="0" rIns="0" tIns="0" bIns="0" anchor="t">
              <a:noAutofit/>
            </a:bodyPr>
            <a:lstStyle/>
            <a:p>
              <a:pPr algn="l">
                <a:lnSpc>
                  <a:spcPct val="105000"/>
                </a:lnSpc>
                <a:spcBef>
                  <a:spcPts val="0"/>
                </a:spcBef>
                <a:spcAft>
                  <a:spcPts val="0"/>
                </a:spcAft>
              </a:pPr>
              <a:r>
                <a:rPr sz="990" b="1">
                  <a:solidFill>
                    <a:srgbClr val="12314F"/>
                  </a:solidFill>
                  <a:latin typeface="Arial"/>
                </a:rPr>
                <a:t>02  |  Map existing AU coverage</a:t>
              </a:r>
            </a:p>
          </p:txBody>
        </p:sp>
        <p:sp>
          <p:nvSpPr>
            <p:cNvPr id="92" name="02 – Model Risk coverage mapping details"/>
            <p:cNvSpPr txBox="1"/>
            <p:nvPr/>
          </p:nvSpPr>
          <p:spPr>
            <a:xfrm>
              <a:off x="1787652" y="3744468"/>
              <a:ext cx="2212848" cy="530352"/>
            </a:xfrm>
            <a:prstGeom prst="rect">
              <a:avLst/>
            </a:prstGeom>
            <a:noFill/>
            <a:effectLst/>
          </p:spPr>
          <p:txBody>
            <a:bodyPr wrap="square" lIns="0" rIns="0" tIns="0" bIns="0" anchor="t">
              <a:noAutofit/>
            </a:bodyPr>
            <a:lstStyle/>
            <a:p>
              <a:pPr algn="l">
                <a:lnSpc>
                  <a:spcPct val="105000"/>
                </a:lnSpc>
                <a:spcBef>
                  <a:spcPts val="0"/>
                </a:spcBef>
                <a:spcAft>
                  <a:spcPts val="0"/>
                </a:spcAft>
              </a:pPr>
              <a:r>
                <a:rPr sz="960" b="0">
                  <a:solidFill>
                    <a:srgbClr val="21384E"/>
                  </a:solidFill>
                  <a:latin typeface="Arial"/>
                </a:rPr>
                <a:t>Link AUs to platform CRM documents and relevant regional views. Review only platforms in scope.</a:t>
              </a:r>
            </a:p>
          </p:txBody>
        </p:sp>
      </p:grpSp>
      <p:grpSp>
        <p:nvGrpSpPr>
          <p:cNvPr id="93" name="03 – Model Risk ownership and hand-offs"/>
          <p:cNvGrpSpPr/>
          <p:nvPr/>
        </p:nvGrpSpPr>
        <p:grpSpPr>
          <a:xfrm>
            <a:off x="4206240" y="3479292"/>
            <a:ext cx="1609344" cy="836676"/>
            <a:chOff x="4206240" y="3479292"/>
            <a:chExt cx="1609344" cy="836676"/>
          </a:xfrm>
          <a:effectLst/>
        </p:grpSpPr>
        <p:sp>
          <p:nvSpPr>
            <p:cNvPr id="94" name="03 – Model Risk ownership and hand-offs background"/>
            <p:cNvSpPr/>
            <p:nvPr/>
          </p:nvSpPr>
          <p:spPr>
            <a:xfrm>
              <a:off x="4206240" y="3479292"/>
              <a:ext cx="1609344" cy="836676"/>
            </a:xfrm>
            <a:prstGeom prst="roundRect">
              <a:avLst>
                <a:gd name="adj" fmla="val 5500"/>
              </a:avLst>
            </a:prstGeom>
            <a:solidFill>
              <a:srgbClr val="FFFFFF"/>
            </a:solidFill>
            <a:ln w="8255">
              <a:solidFill>
                <a:srgbClr val="C6D5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03 – Model Risk ownership and hand-offs heading"/>
            <p:cNvSpPr txBox="1"/>
            <p:nvPr/>
          </p:nvSpPr>
          <p:spPr>
            <a:xfrm>
              <a:off x="4302252" y="3547872"/>
              <a:ext cx="1417320" cy="182880"/>
            </a:xfrm>
            <a:prstGeom prst="rect">
              <a:avLst/>
            </a:prstGeom>
            <a:noFill/>
            <a:effectLst/>
          </p:spPr>
          <p:txBody>
            <a:bodyPr wrap="square" lIns="0" rIns="0" tIns="0" bIns="0" anchor="t">
              <a:noAutofit/>
            </a:bodyPr>
            <a:lstStyle/>
            <a:p>
              <a:pPr algn="l">
                <a:lnSpc>
                  <a:spcPct val="105000"/>
                </a:lnSpc>
                <a:spcBef>
                  <a:spcPts val="0"/>
                </a:spcBef>
                <a:spcAft>
                  <a:spcPts val="0"/>
                </a:spcAft>
              </a:pPr>
              <a:r>
                <a:rPr sz="965" b="1">
                  <a:solidFill>
                    <a:srgbClr val="12314F"/>
                  </a:solidFill>
                  <a:latin typeface="Arial"/>
                </a:rPr>
                <a:t>03  |  Assign owners</a:t>
              </a:r>
            </a:p>
          </p:txBody>
        </p:sp>
        <p:sp>
          <p:nvSpPr>
            <p:cNvPr id="96" name="03 – Model Risk ownership and hand-offs details"/>
            <p:cNvSpPr txBox="1"/>
            <p:nvPr/>
          </p:nvSpPr>
          <p:spPr>
            <a:xfrm>
              <a:off x="4302252" y="3744468"/>
              <a:ext cx="1417320" cy="530352"/>
            </a:xfrm>
            <a:prstGeom prst="rect">
              <a:avLst/>
            </a:prstGeom>
            <a:noFill/>
            <a:effectLst/>
          </p:spPr>
          <p:txBody>
            <a:bodyPr wrap="square" lIns="0" rIns="0" tIns="0" bIns="0" anchor="t">
              <a:noAutofit/>
            </a:bodyPr>
            <a:lstStyle/>
            <a:p>
              <a:pPr algn="l">
                <a:lnSpc>
                  <a:spcPct val="105000"/>
                </a:lnSpc>
                <a:spcBef>
                  <a:spcPts val="0"/>
                </a:spcBef>
                <a:spcAft>
                  <a:spcPts val="0"/>
                </a:spcAft>
              </a:pPr>
              <a:r>
                <a:rPr sz="935" b="0">
                  <a:solidFill>
                    <a:srgbClr val="21384E"/>
                  </a:solidFill>
                  <a:latin typeface="Arial"/>
                </a:rPr>
                <a:t>Name one Model Risk contributor per platform. Agree editing hand-offs.</a:t>
              </a:r>
            </a:p>
          </p:txBody>
        </p:sp>
      </p:grpSp>
      <p:grpSp>
        <p:nvGrpSpPr>
          <p:cNvPr id="97" name="05 – Targeted Model Risk evidence review"/>
          <p:cNvGrpSpPr/>
          <p:nvPr/>
        </p:nvGrpSpPr>
        <p:grpSpPr>
          <a:xfrm>
            <a:off x="5925312" y="3479292"/>
            <a:ext cx="2761488" cy="836676"/>
            <a:chOff x="5925312" y="3479292"/>
            <a:chExt cx="2761488" cy="836676"/>
          </a:xfrm>
          <a:effectLst/>
        </p:grpSpPr>
        <p:sp>
          <p:nvSpPr>
            <p:cNvPr id="98" name="05 – Targeted Model Risk evidence review background"/>
            <p:cNvSpPr/>
            <p:nvPr/>
          </p:nvSpPr>
          <p:spPr>
            <a:xfrm>
              <a:off x="5925312" y="3479292"/>
              <a:ext cx="2761488" cy="836676"/>
            </a:xfrm>
            <a:prstGeom prst="roundRect">
              <a:avLst>
                <a:gd name="adj" fmla="val 5500"/>
              </a:avLst>
            </a:prstGeom>
            <a:solidFill>
              <a:srgbClr val="FFFFFF"/>
            </a:solidFill>
            <a:ln w="8255">
              <a:solidFill>
                <a:srgbClr val="C6D5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05 – Targeted Model Risk evidence review heading"/>
            <p:cNvSpPr txBox="1"/>
            <p:nvPr/>
          </p:nvSpPr>
          <p:spPr>
            <a:xfrm>
              <a:off x="6021324" y="3547872"/>
              <a:ext cx="2569464" cy="182880"/>
            </a:xfrm>
            <a:prstGeom prst="rect">
              <a:avLst/>
            </a:prstGeom>
            <a:noFill/>
            <a:effectLst/>
          </p:spPr>
          <p:txBody>
            <a:bodyPr wrap="square" lIns="0" rIns="0" tIns="0" bIns="0" anchor="t">
              <a:noAutofit/>
            </a:bodyPr>
            <a:lstStyle/>
            <a:p>
              <a:pPr algn="l">
                <a:lnSpc>
                  <a:spcPct val="105000"/>
                </a:lnSpc>
                <a:spcBef>
                  <a:spcPts val="0"/>
                </a:spcBef>
                <a:spcAft>
                  <a:spcPts val="0"/>
                </a:spcAft>
              </a:pPr>
              <a:r>
                <a:rPr sz="990" b="1">
                  <a:solidFill>
                    <a:srgbClr val="12314F"/>
                  </a:solidFill>
                  <a:latin typeface="Arial"/>
                </a:rPr>
                <a:t>05  |  Review, do not re-create</a:t>
              </a:r>
            </a:p>
          </p:txBody>
        </p:sp>
        <p:sp>
          <p:nvSpPr>
            <p:cNvPr id="100" name="05 – Targeted Model Risk evidence review details"/>
            <p:cNvSpPr txBox="1"/>
            <p:nvPr/>
          </p:nvSpPr>
          <p:spPr>
            <a:xfrm>
              <a:off x="6021324" y="3744468"/>
              <a:ext cx="2569464" cy="530352"/>
            </a:xfrm>
            <a:prstGeom prst="rect">
              <a:avLst/>
            </a:prstGeom>
            <a:noFill/>
            <a:effectLst/>
          </p:spPr>
          <p:txBody>
            <a:bodyPr wrap="square" lIns="0" rIns="0" tIns="0" bIns="0" anchor="t">
              <a:noAutofit/>
            </a:bodyPr>
            <a:lstStyle/>
            <a:p>
              <a:pPr algn="l">
                <a:lnSpc>
                  <a:spcPct val="105000"/>
                </a:lnSpc>
                <a:spcBef>
                  <a:spcPts val="0"/>
                </a:spcBef>
                <a:spcAft>
                  <a:spcPts val="0"/>
                </a:spcAft>
              </a:pPr>
              <a:r>
                <a:rPr sz="960" b="0">
                  <a:solidFill>
                    <a:srgbClr val="21384E"/>
                  </a:solidFill>
                  <a:latin typeface="Arial"/>
                </a:rPr>
                <a:t>Review model developments, issues and events in the pack. Use management input to close evidence gaps.</a:t>
              </a:r>
            </a:p>
          </p:txBody>
        </p:sp>
      </p:grpSp>
      <p:grpSp>
        <p:nvGrpSpPr>
          <p:cNvPr id="101" name="06–07 – Model Risk commentary and synthesis"/>
          <p:cNvGrpSpPr/>
          <p:nvPr/>
        </p:nvGrpSpPr>
        <p:grpSpPr>
          <a:xfrm>
            <a:off x="8805672" y="3479292"/>
            <a:ext cx="2907792" cy="836676"/>
            <a:chOff x="8805672" y="3479292"/>
            <a:chExt cx="2907792" cy="836676"/>
          </a:xfrm>
          <a:effectLst/>
        </p:grpSpPr>
        <p:sp>
          <p:nvSpPr>
            <p:cNvPr id="102" name="06–07 – Model Risk commentary and synthesis background"/>
            <p:cNvSpPr/>
            <p:nvPr/>
          </p:nvSpPr>
          <p:spPr>
            <a:xfrm>
              <a:off x="8805672" y="3479292"/>
              <a:ext cx="2907792" cy="836676"/>
            </a:xfrm>
            <a:prstGeom prst="roundRect">
              <a:avLst>
                <a:gd name="adj" fmla="val 5500"/>
              </a:avLst>
            </a:prstGeom>
            <a:solidFill>
              <a:srgbClr val="FFFFFF"/>
            </a:solidFill>
            <a:ln w="8255">
              <a:solidFill>
                <a:srgbClr val="C6D5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06–07 – Model Risk commentary and synthesis heading"/>
            <p:cNvSpPr txBox="1"/>
            <p:nvPr/>
          </p:nvSpPr>
          <p:spPr>
            <a:xfrm>
              <a:off x="8901684" y="3547872"/>
              <a:ext cx="2715768" cy="182880"/>
            </a:xfrm>
            <a:prstGeom prst="rect">
              <a:avLst/>
            </a:prstGeom>
            <a:noFill/>
            <a:effectLst/>
          </p:spPr>
          <p:txBody>
            <a:bodyPr wrap="square" lIns="0" rIns="0" tIns="0" bIns="0" anchor="t">
              <a:noAutofit/>
            </a:bodyPr>
            <a:lstStyle/>
            <a:p>
              <a:pPr algn="l">
                <a:lnSpc>
                  <a:spcPct val="105000"/>
                </a:lnSpc>
                <a:spcBef>
                  <a:spcPts val="0"/>
                </a:spcBef>
                <a:spcAft>
                  <a:spcPts val="0"/>
                </a:spcAft>
              </a:pPr>
              <a:r>
                <a:rPr sz="969" b="1">
                  <a:solidFill>
                    <a:srgbClr val="12314F"/>
                  </a:solidFill>
                  <a:latin typeface="Arial"/>
                </a:rPr>
                <a:t>06–07  |  Draft and cross-check input</a:t>
              </a:r>
            </a:p>
          </p:txBody>
        </p:sp>
        <p:sp>
          <p:nvSpPr>
            <p:cNvPr id="104" name="06–07 – Model Risk commentary and synthesis details"/>
            <p:cNvSpPr txBox="1"/>
            <p:nvPr/>
          </p:nvSpPr>
          <p:spPr>
            <a:xfrm>
              <a:off x="8901684" y="3744468"/>
              <a:ext cx="2715768" cy="530352"/>
            </a:xfrm>
            <a:prstGeom prst="rect">
              <a:avLst/>
            </a:prstGeom>
            <a:noFill/>
            <a:effectLst/>
          </p:spPr>
          <p:txBody>
            <a:bodyPr wrap="square" lIns="0" rIns="0" tIns="0" bIns="0" anchor="t">
              <a:noAutofit/>
            </a:bodyPr>
            <a:lstStyle/>
            <a:p>
              <a:pPr algn="l">
                <a:lnSpc>
                  <a:spcPct val="105000"/>
                </a:lnSpc>
                <a:spcBef>
                  <a:spcPts val="0"/>
                </a:spcBef>
                <a:spcAft>
                  <a:spcPts val="0"/>
                </a:spcAft>
              </a:pPr>
              <a:r>
                <a:rPr sz="960" b="0">
                  <a:solidFill>
                    <a:srgbClr val="21384E"/>
                  </a:solidFill>
                  <a:latin typeface="Arial"/>
                </a:rPr>
                <a:t>State platform implications and regional nuance. Compare themes across platforms; reuse evidence, not identical conclusions.</a:t>
              </a:r>
            </a:p>
          </p:txBody>
        </p:sp>
      </p:grpSp>
      <p:cxnSp>
        <p:nvCxnSpPr>
          <p:cNvPr id="105" name="Model Risk workflow connector"/>
          <p:cNvCxnSpPr/>
          <p:nvPr/>
        </p:nvCxnSpPr>
        <p:spPr>
          <a:xfrm>
            <a:off x="4114800" y="3903573"/>
            <a:ext cx="64008" cy="0"/>
          </a:xfrm>
          <a:prstGeom prst="line">
            <a:avLst/>
          </a:prstGeom>
          <a:ln w="13335">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06" name="Model Risk workflow connector"/>
          <p:cNvCxnSpPr/>
          <p:nvPr/>
        </p:nvCxnSpPr>
        <p:spPr>
          <a:xfrm>
            <a:off x="5833872" y="3903573"/>
            <a:ext cx="64008" cy="0"/>
          </a:xfrm>
          <a:prstGeom prst="line">
            <a:avLst/>
          </a:prstGeom>
          <a:ln w="13335">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07" name="Model Risk workflow connector"/>
          <p:cNvCxnSpPr/>
          <p:nvPr/>
        </p:nvCxnSpPr>
        <p:spPr>
          <a:xfrm>
            <a:off x="8705088" y="3903573"/>
            <a:ext cx="73152" cy="0"/>
          </a:xfrm>
          <a:prstGeom prst="line">
            <a:avLst/>
          </a:prstGeom>
          <a:ln w="13335">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08" name="Validated platform evidence into Model Risk review"/>
          <p:cNvCxnSpPr/>
          <p:nvPr/>
        </p:nvCxnSpPr>
        <p:spPr>
          <a:xfrm>
            <a:off x="7306056" y="3319272"/>
            <a:ext cx="0" cy="141732"/>
          </a:xfrm>
          <a:prstGeom prst="line">
            <a:avLst/>
          </a:prstGeom>
          <a:ln w="12700">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09" name="Model Risk contribution stem"/>
          <p:cNvCxnSpPr/>
          <p:nvPr/>
        </p:nvCxnSpPr>
        <p:spPr>
          <a:xfrm>
            <a:off x="10259568" y="4329684"/>
            <a:ext cx="0" cy="201168"/>
          </a:xfrm>
          <a:prstGeom prst="line">
            <a:avLst/>
          </a:prstGeom>
          <a:ln w="17145">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10" name="One-to-many platform contribution bus"/>
          <p:cNvCxnSpPr/>
          <p:nvPr/>
        </p:nvCxnSpPr>
        <p:spPr>
          <a:xfrm>
            <a:off x="2368296" y="4530852"/>
            <a:ext cx="8668512" cy="0"/>
          </a:xfrm>
          <a:prstGeom prst="line">
            <a:avLst/>
          </a:prstGeom>
          <a:ln w="17145">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11" name="Contribution to Capital Markets CRM"/>
          <p:cNvCxnSpPr/>
          <p:nvPr/>
        </p:nvCxnSpPr>
        <p:spPr>
          <a:xfrm>
            <a:off x="2368296" y="4530852"/>
            <a:ext cx="0" cy="128016"/>
          </a:xfrm>
          <a:prstGeom prst="line">
            <a:avLst/>
          </a:prstGeom>
          <a:ln w="12700">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grpSp>
        <p:nvGrpSpPr>
          <p:cNvPr id="112" name="Capital Markets CRM document – editable group"/>
          <p:cNvGrpSpPr/>
          <p:nvPr/>
        </p:nvGrpSpPr>
        <p:grpSpPr>
          <a:xfrm>
            <a:off x="1691640" y="4663440"/>
            <a:ext cx="1353312" cy="658368"/>
            <a:chOff x="1691640" y="4663440"/>
            <a:chExt cx="1353312" cy="658368"/>
          </a:xfrm>
          <a:effectLst/>
        </p:grpSpPr>
        <p:sp>
          <p:nvSpPr>
            <p:cNvPr id="113" name="Capital Markets document outline"/>
            <p:cNvSpPr/>
            <p:nvPr/>
          </p:nvSpPr>
          <p:spPr>
            <a:xfrm>
              <a:off x="1691640" y="4663440"/>
              <a:ext cx="1353312" cy="658368"/>
            </a:xfrm>
            <a:prstGeom prst="roundRect">
              <a:avLst>
                <a:gd name="adj" fmla="val 5500"/>
              </a:avLst>
            </a:prstGeom>
            <a:solidFill>
              <a:srgbClr val="FFFFFF"/>
            </a:solidFill>
            <a:ln w="8890">
              <a:solidFill>
                <a:srgbClr val="C6D5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4" name="Capital Markets document symbol"/>
            <p:cNvSpPr/>
            <p:nvPr/>
          </p:nvSpPr>
          <p:spPr>
            <a:xfrm>
              <a:off x="1778508" y="4750308"/>
              <a:ext cx="128016" cy="169164"/>
            </a:xfrm>
            <a:prstGeom prst="rect">
              <a:avLst/>
            </a:prstGeom>
            <a:solidFill>
              <a:srgbClr val="FFFFFF"/>
            </a:solidFill>
            <a:ln w="8255">
              <a:solidFill>
                <a:srgbClr val="1668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5" name="Capital Markets document rule"/>
            <p:cNvCxnSpPr/>
            <p:nvPr/>
          </p:nvCxnSpPr>
          <p:spPr>
            <a:xfrm>
              <a:off x="1801368" y="4800600"/>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16" name="Capital Markets document rule"/>
            <p:cNvCxnSpPr/>
            <p:nvPr/>
          </p:nvCxnSpPr>
          <p:spPr>
            <a:xfrm>
              <a:off x="1801368" y="4837176"/>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17" name="Capital Markets document rule"/>
            <p:cNvCxnSpPr/>
            <p:nvPr/>
          </p:nvCxnSpPr>
          <p:spPr>
            <a:xfrm>
              <a:off x="1801368" y="4873752"/>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sp>
          <p:nvSpPr>
            <p:cNvPr id="118" name="Capital Markets document title"/>
            <p:cNvSpPr txBox="1"/>
            <p:nvPr/>
          </p:nvSpPr>
          <p:spPr>
            <a:xfrm>
              <a:off x="1956816" y="4741164"/>
              <a:ext cx="982980" cy="274320"/>
            </a:xfrm>
            <a:prstGeom prst="rect">
              <a:avLst/>
            </a:prstGeom>
            <a:noFill/>
            <a:effectLst/>
          </p:spPr>
          <p:txBody>
            <a:bodyPr wrap="square" lIns="0" rIns="0" tIns="0" bIns="0" anchor="t">
              <a:noAutofit/>
            </a:bodyPr>
            <a:lstStyle/>
            <a:p>
              <a:pPr algn="l">
                <a:lnSpc>
                  <a:spcPct val="103000"/>
                </a:lnSpc>
                <a:spcBef>
                  <a:spcPts val="0"/>
                </a:spcBef>
                <a:spcAft>
                  <a:spcPts val="0"/>
                </a:spcAft>
              </a:pPr>
              <a:r>
                <a:rPr sz="1010" b="1">
                  <a:solidFill>
                    <a:srgbClr val="12314F"/>
                  </a:solidFill>
                  <a:latin typeface="Arial"/>
                </a:rPr>
                <a:t>Capital</a:t>
              </a:r>
            </a:p>
            <a:p>
              <a:pPr algn="l">
                <a:lnSpc>
                  <a:spcPct val="103000"/>
                </a:lnSpc>
                <a:spcBef>
                  <a:spcPts val="0"/>
                </a:spcBef>
                <a:spcAft>
                  <a:spcPts val="0"/>
                </a:spcAft>
              </a:pPr>
              <a:r>
                <a:rPr sz="1010" b="1">
                  <a:solidFill>
                    <a:srgbClr val="12314F"/>
                  </a:solidFill>
                  <a:latin typeface="Arial"/>
                </a:rPr>
                <a:t>Markets</a:t>
              </a:r>
            </a:p>
          </p:txBody>
        </p:sp>
        <p:sp>
          <p:nvSpPr>
            <p:cNvPr id="119" name="Capital Markets Model Risk contribution field"/>
            <p:cNvSpPr/>
            <p:nvPr/>
          </p:nvSpPr>
          <p:spPr>
            <a:xfrm>
              <a:off x="1755648" y="5061204"/>
              <a:ext cx="1225296" cy="196596"/>
            </a:xfrm>
            <a:prstGeom prst="rect">
              <a:avLst/>
            </a:prstGeom>
            <a:solidFill>
              <a:srgbClr val="EAF3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0" name="Capital Markets Model Risk contribution field label"/>
            <p:cNvSpPr txBox="1"/>
            <p:nvPr/>
          </p:nvSpPr>
          <p:spPr>
            <a:xfrm>
              <a:off x="1787652" y="5089550"/>
              <a:ext cx="1161288" cy="141732"/>
            </a:xfrm>
            <a:prstGeom prst="rect">
              <a:avLst/>
            </a:prstGeom>
            <a:noFill/>
            <a:effectLst/>
          </p:spPr>
          <p:txBody>
            <a:bodyPr wrap="square" lIns="0" rIns="0" tIns="0" bIns="0" anchor="t">
              <a:noAutofit/>
            </a:bodyPr>
            <a:lstStyle/>
            <a:p>
              <a:pPr algn="ctr">
                <a:lnSpc>
                  <a:spcPct val="105000"/>
                </a:lnSpc>
                <a:spcBef>
                  <a:spcPts val="0"/>
                </a:spcBef>
                <a:spcAft>
                  <a:spcPts val="0"/>
                </a:spcAft>
              </a:pPr>
              <a:r>
                <a:rPr sz="955" b="1">
                  <a:solidFill>
                    <a:srgbClr val="1668AD"/>
                  </a:solidFill>
                  <a:latin typeface="Arial"/>
                </a:rPr>
                <a:t>Model Risk input</a:t>
              </a:r>
            </a:p>
          </p:txBody>
        </p:sp>
      </p:grpSp>
      <p:cxnSp>
        <p:nvCxnSpPr>
          <p:cNvPr id="121" name="Contribution to Personal Banking CRM"/>
          <p:cNvCxnSpPr/>
          <p:nvPr/>
        </p:nvCxnSpPr>
        <p:spPr>
          <a:xfrm>
            <a:off x="3813048" y="4530852"/>
            <a:ext cx="0" cy="128016"/>
          </a:xfrm>
          <a:prstGeom prst="line">
            <a:avLst/>
          </a:prstGeom>
          <a:ln w="12700">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grpSp>
        <p:nvGrpSpPr>
          <p:cNvPr id="122" name="Personal Banking CRM document – editable group"/>
          <p:cNvGrpSpPr/>
          <p:nvPr/>
        </p:nvGrpSpPr>
        <p:grpSpPr>
          <a:xfrm>
            <a:off x="3136392" y="4663440"/>
            <a:ext cx="1353312" cy="658368"/>
            <a:chOff x="3136392" y="4663440"/>
            <a:chExt cx="1353312" cy="658368"/>
          </a:xfrm>
          <a:effectLst/>
        </p:grpSpPr>
        <p:sp>
          <p:nvSpPr>
            <p:cNvPr id="123" name="Personal Banking document outline"/>
            <p:cNvSpPr/>
            <p:nvPr/>
          </p:nvSpPr>
          <p:spPr>
            <a:xfrm>
              <a:off x="3136392" y="4663440"/>
              <a:ext cx="1353312" cy="658368"/>
            </a:xfrm>
            <a:prstGeom prst="roundRect">
              <a:avLst>
                <a:gd name="adj" fmla="val 5500"/>
              </a:avLst>
            </a:prstGeom>
            <a:solidFill>
              <a:srgbClr val="FFFFFF"/>
            </a:solidFill>
            <a:ln w="8890">
              <a:solidFill>
                <a:srgbClr val="C6D5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4" name="Personal Banking document symbol"/>
            <p:cNvSpPr/>
            <p:nvPr/>
          </p:nvSpPr>
          <p:spPr>
            <a:xfrm>
              <a:off x="3223260" y="4750308"/>
              <a:ext cx="128016" cy="169164"/>
            </a:xfrm>
            <a:prstGeom prst="rect">
              <a:avLst/>
            </a:prstGeom>
            <a:solidFill>
              <a:srgbClr val="FFFFFF"/>
            </a:solidFill>
            <a:ln w="8255">
              <a:solidFill>
                <a:srgbClr val="1668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5" name="Personal Banking document rule"/>
            <p:cNvCxnSpPr/>
            <p:nvPr/>
          </p:nvCxnSpPr>
          <p:spPr>
            <a:xfrm>
              <a:off x="3246120" y="4800600"/>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26" name="Personal Banking document rule"/>
            <p:cNvCxnSpPr/>
            <p:nvPr/>
          </p:nvCxnSpPr>
          <p:spPr>
            <a:xfrm>
              <a:off x="3246120" y="4837176"/>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27" name="Personal Banking document rule"/>
            <p:cNvCxnSpPr/>
            <p:nvPr/>
          </p:nvCxnSpPr>
          <p:spPr>
            <a:xfrm>
              <a:off x="3246120" y="4873752"/>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sp>
          <p:nvSpPr>
            <p:cNvPr id="128" name="Personal Banking document title"/>
            <p:cNvSpPr txBox="1"/>
            <p:nvPr/>
          </p:nvSpPr>
          <p:spPr>
            <a:xfrm>
              <a:off x="3401568" y="4741164"/>
              <a:ext cx="982980" cy="274320"/>
            </a:xfrm>
            <a:prstGeom prst="rect">
              <a:avLst/>
            </a:prstGeom>
            <a:noFill/>
            <a:effectLst/>
          </p:spPr>
          <p:txBody>
            <a:bodyPr wrap="square" lIns="0" rIns="0" tIns="0" bIns="0" anchor="t">
              <a:noAutofit/>
            </a:bodyPr>
            <a:lstStyle/>
            <a:p>
              <a:pPr algn="l">
                <a:lnSpc>
                  <a:spcPct val="103000"/>
                </a:lnSpc>
                <a:spcBef>
                  <a:spcPts val="0"/>
                </a:spcBef>
                <a:spcAft>
                  <a:spcPts val="0"/>
                </a:spcAft>
              </a:pPr>
              <a:r>
                <a:rPr sz="1010" b="1">
                  <a:solidFill>
                    <a:srgbClr val="12314F"/>
                  </a:solidFill>
                  <a:latin typeface="Arial"/>
                </a:rPr>
                <a:t>Personal</a:t>
              </a:r>
            </a:p>
            <a:p>
              <a:pPr algn="l">
                <a:lnSpc>
                  <a:spcPct val="103000"/>
                </a:lnSpc>
                <a:spcBef>
                  <a:spcPts val="0"/>
                </a:spcBef>
                <a:spcAft>
                  <a:spcPts val="0"/>
                </a:spcAft>
              </a:pPr>
              <a:r>
                <a:rPr sz="1010" b="1">
                  <a:solidFill>
                    <a:srgbClr val="12314F"/>
                  </a:solidFill>
                  <a:latin typeface="Arial"/>
                </a:rPr>
                <a:t>Banking</a:t>
              </a:r>
            </a:p>
          </p:txBody>
        </p:sp>
        <p:sp>
          <p:nvSpPr>
            <p:cNvPr id="129" name="Personal Banking Model Risk contribution field"/>
            <p:cNvSpPr/>
            <p:nvPr/>
          </p:nvSpPr>
          <p:spPr>
            <a:xfrm>
              <a:off x="3200400" y="5061204"/>
              <a:ext cx="1225296" cy="196596"/>
            </a:xfrm>
            <a:prstGeom prst="rect">
              <a:avLst/>
            </a:prstGeom>
            <a:solidFill>
              <a:srgbClr val="EAF3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Personal Banking Model Risk contribution field label"/>
            <p:cNvSpPr txBox="1"/>
            <p:nvPr/>
          </p:nvSpPr>
          <p:spPr>
            <a:xfrm>
              <a:off x="3232404" y="5089550"/>
              <a:ext cx="1161288" cy="141732"/>
            </a:xfrm>
            <a:prstGeom prst="rect">
              <a:avLst/>
            </a:prstGeom>
            <a:noFill/>
            <a:effectLst/>
          </p:spPr>
          <p:txBody>
            <a:bodyPr wrap="square" lIns="0" rIns="0" tIns="0" bIns="0" anchor="t">
              <a:noAutofit/>
            </a:bodyPr>
            <a:lstStyle/>
            <a:p>
              <a:pPr algn="ctr">
                <a:lnSpc>
                  <a:spcPct val="105000"/>
                </a:lnSpc>
                <a:spcBef>
                  <a:spcPts val="0"/>
                </a:spcBef>
                <a:spcAft>
                  <a:spcPts val="0"/>
                </a:spcAft>
              </a:pPr>
              <a:r>
                <a:rPr sz="955" b="1">
                  <a:solidFill>
                    <a:srgbClr val="1668AD"/>
                  </a:solidFill>
                  <a:latin typeface="Arial"/>
                </a:rPr>
                <a:t>Model Risk input</a:t>
              </a:r>
            </a:p>
          </p:txBody>
        </p:sp>
      </p:grpSp>
      <p:cxnSp>
        <p:nvCxnSpPr>
          <p:cNvPr id="131" name="Contribution to Commercial Banking CRM"/>
          <p:cNvCxnSpPr/>
          <p:nvPr/>
        </p:nvCxnSpPr>
        <p:spPr>
          <a:xfrm>
            <a:off x="5257800" y="4530852"/>
            <a:ext cx="0" cy="128016"/>
          </a:xfrm>
          <a:prstGeom prst="line">
            <a:avLst/>
          </a:prstGeom>
          <a:ln w="12700">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grpSp>
        <p:nvGrpSpPr>
          <p:cNvPr id="132" name="Commercial Banking CRM document – editable group"/>
          <p:cNvGrpSpPr/>
          <p:nvPr/>
        </p:nvGrpSpPr>
        <p:grpSpPr>
          <a:xfrm>
            <a:off x="4581144" y="4663440"/>
            <a:ext cx="1353312" cy="658368"/>
            <a:chOff x="4581144" y="4663440"/>
            <a:chExt cx="1353312" cy="658368"/>
          </a:xfrm>
          <a:effectLst/>
        </p:grpSpPr>
        <p:sp>
          <p:nvSpPr>
            <p:cNvPr id="133" name="Commercial Banking document outline"/>
            <p:cNvSpPr/>
            <p:nvPr/>
          </p:nvSpPr>
          <p:spPr>
            <a:xfrm>
              <a:off x="4581144" y="4663440"/>
              <a:ext cx="1353312" cy="658368"/>
            </a:xfrm>
            <a:prstGeom prst="roundRect">
              <a:avLst>
                <a:gd name="adj" fmla="val 5500"/>
              </a:avLst>
            </a:prstGeom>
            <a:solidFill>
              <a:srgbClr val="FFFFFF"/>
            </a:solidFill>
            <a:ln w="8890">
              <a:solidFill>
                <a:srgbClr val="C6D5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Commercial Banking document symbol"/>
            <p:cNvSpPr/>
            <p:nvPr/>
          </p:nvSpPr>
          <p:spPr>
            <a:xfrm>
              <a:off x="4668012" y="4750308"/>
              <a:ext cx="128016" cy="169164"/>
            </a:xfrm>
            <a:prstGeom prst="rect">
              <a:avLst/>
            </a:prstGeom>
            <a:solidFill>
              <a:srgbClr val="FFFFFF"/>
            </a:solidFill>
            <a:ln w="8255">
              <a:solidFill>
                <a:srgbClr val="1668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5" name="Commercial Banking document rule"/>
            <p:cNvCxnSpPr/>
            <p:nvPr/>
          </p:nvCxnSpPr>
          <p:spPr>
            <a:xfrm>
              <a:off x="4690872" y="4800600"/>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36" name="Commercial Banking document rule"/>
            <p:cNvCxnSpPr/>
            <p:nvPr/>
          </p:nvCxnSpPr>
          <p:spPr>
            <a:xfrm>
              <a:off x="4690872" y="4837176"/>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37" name="Commercial Banking document rule"/>
            <p:cNvCxnSpPr/>
            <p:nvPr/>
          </p:nvCxnSpPr>
          <p:spPr>
            <a:xfrm>
              <a:off x="4690872" y="4873752"/>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sp>
          <p:nvSpPr>
            <p:cNvPr id="138" name="Commercial Banking document title"/>
            <p:cNvSpPr txBox="1"/>
            <p:nvPr/>
          </p:nvSpPr>
          <p:spPr>
            <a:xfrm>
              <a:off x="4846320" y="4741164"/>
              <a:ext cx="982980" cy="274320"/>
            </a:xfrm>
            <a:prstGeom prst="rect">
              <a:avLst/>
            </a:prstGeom>
            <a:noFill/>
            <a:effectLst/>
          </p:spPr>
          <p:txBody>
            <a:bodyPr wrap="square" lIns="0" rIns="0" tIns="0" bIns="0" anchor="t">
              <a:noAutofit/>
            </a:bodyPr>
            <a:lstStyle/>
            <a:p>
              <a:pPr algn="l">
                <a:lnSpc>
                  <a:spcPct val="103000"/>
                </a:lnSpc>
                <a:spcBef>
                  <a:spcPts val="0"/>
                </a:spcBef>
                <a:spcAft>
                  <a:spcPts val="0"/>
                </a:spcAft>
              </a:pPr>
              <a:r>
                <a:rPr sz="1010" b="1">
                  <a:solidFill>
                    <a:srgbClr val="12314F"/>
                  </a:solidFill>
                  <a:latin typeface="Arial"/>
                </a:rPr>
                <a:t>Commercial</a:t>
              </a:r>
            </a:p>
            <a:p>
              <a:pPr algn="l">
                <a:lnSpc>
                  <a:spcPct val="103000"/>
                </a:lnSpc>
                <a:spcBef>
                  <a:spcPts val="0"/>
                </a:spcBef>
                <a:spcAft>
                  <a:spcPts val="0"/>
                </a:spcAft>
              </a:pPr>
              <a:r>
                <a:rPr sz="1010" b="1">
                  <a:solidFill>
                    <a:srgbClr val="12314F"/>
                  </a:solidFill>
                  <a:latin typeface="Arial"/>
                </a:rPr>
                <a:t>Banking</a:t>
              </a:r>
            </a:p>
          </p:txBody>
        </p:sp>
        <p:sp>
          <p:nvSpPr>
            <p:cNvPr id="139" name="Commercial Banking Model Risk contribution field"/>
            <p:cNvSpPr/>
            <p:nvPr/>
          </p:nvSpPr>
          <p:spPr>
            <a:xfrm>
              <a:off x="4645152" y="5061204"/>
              <a:ext cx="1225296" cy="196596"/>
            </a:xfrm>
            <a:prstGeom prst="rect">
              <a:avLst/>
            </a:prstGeom>
            <a:solidFill>
              <a:srgbClr val="EAF3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0" name="Commercial Banking Model Risk contribution field label"/>
            <p:cNvSpPr txBox="1"/>
            <p:nvPr/>
          </p:nvSpPr>
          <p:spPr>
            <a:xfrm>
              <a:off x="4677156" y="5089550"/>
              <a:ext cx="1161288" cy="141732"/>
            </a:xfrm>
            <a:prstGeom prst="rect">
              <a:avLst/>
            </a:prstGeom>
            <a:noFill/>
            <a:effectLst/>
          </p:spPr>
          <p:txBody>
            <a:bodyPr wrap="square" lIns="0" rIns="0" tIns="0" bIns="0" anchor="t">
              <a:noAutofit/>
            </a:bodyPr>
            <a:lstStyle/>
            <a:p>
              <a:pPr algn="ctr">
                <a:lnSpc>
                  <a:spcPct val="105000"/>
                </a:lnSpc>
                <a:spcBef>
                  <a:spcPts val="0"/>
                </a:spcBef>
                <a:spcAft>
                  <a:spcPts val="0"/>
                </a:spcAft>
              </a:pPr>
              <a:r>
                <a:rPr sz="955" b="1">
                  <a:solidFill>
                    <a:srgbClr val="1668AD"/>
                  </a:solidFill>
                  <a:latin typeface="Arial"/>
                </a:rPr>
                <a:t>Model Risk input</a:t>
              </a:r>
            </a:p>
          </p:txBody>
        </p:sp>
      </p:grpSp>
      <p:cxnSp>
        <p:nvCxnSpPr>
          <p:cNvPr id="141" name="Contribution to Wealth Management CRM"/>
          <p:cNvCxnSpPr/>
          <p:nvPr/>
        </p:nvCxnSpPr>
        <p:spPr>
          <a:xfrm>
            <a:off x="6702552" y="4530852"/>
            <a:ext cx="0" cy="128016"/>
          </a:xfrm>
          <a:prstGeom prst="line">
            <a:avLst/>
          </a:prstGeom>
          <a:ln w="12700">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grpSp>
        <p:nvGrpSpPr>
          <p:cNvPr id="142" name="Wealth Management CRM document – editable group"/>
          <p:cNvGrpSpPr/>
          <p:nvPr/>
        </p:nvGrpSpPr>
        <p:grpSpPr>
          <a:xfrm>
            <a:off x="6025896" y="4663440"/>
            <a:ext cx="1353312" cy="658368"/>
            <a:chOff x="6025896" y="4663440"/>
            <a:chExt cx="1353312" cy="658368"/>
          </a:xfrm>
          <a:effectLst/>
        </p:grpSpPr>
        <p:sp>
          <p:nvSpPr>
            <p:cNvPr id="143" name="Wealth Management document outline"/>
            <p:cNvSpPr/>
            <p:nvPr/>
          </p:nvSpPr>
          <p:spPr>
            <a:xfrm>
              <a:off x="6025896" y="4663440"/>
              <a:ext cx="1353312" cy="658368"/>
            </a:xfrm>
            <a:prstGeom prst="roundRect">
              <a:avLst>
                <a:gd name="adj" fmla="val 5500"/>
              </a:avLst>
            </a:prstGeom>
            <a:solidFill>
              <a:srgbClr val="FFFFFF"/>
            </a:solidFill>
            <a:ln w="8890">
              <a:solidFill>
                <a:srgbClr val="C6D5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4" name="Wealth Management document symbol"/>
            <p:cNvSpPr/>
            <p:nvPr/>
          </p:nvSpPr>
          <p:spPr>
            <a:xfrm>
              <a:off x="6112764" y="4750308"/>
              <a:ext cx="128016" cy="169164"/>
            </a:xfrm>
            <a:prstGeom prst="rect">
              <a:avLst/>
            </a:prstGeom>
            <a:solidFill>
              <a:srgbClr val="FFFFFF"/>
            </a:solidFill>
            <a:ln w="8255">
              <a:solidFill>
                <a:srgbClr val="1668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5" name="Wealth Management document rule"/>
            <p:cNvCxnSpPr/>
            <p:nvPr/>
          </p:nvCxnSpPr>
          <p:spPr>
            <a:xfrm>
              <a:off x="6135624" y="4800600"/>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46" name="Wealth Management document rule"/>
            <p:cNvCxnSpPr/>
            <p:nvPr/>
          </p:nvCxnSpPr>
          <p:spPr>
            <a:xfrm>
              <a:off x="6135624" y="4837176"/>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47" name="Wealth Management document rule"/>
            <p:cNvCxnSpPr/>
            <p:nvPr/>
          </p:nvCxnSpPr>
          <p:spPr>
            <a:xfrm>
              <a:off x="6135624" y="4873752"/>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sp>
          <p:nvSpPr>
            <p:cNvPr id="148" name="Wealth Management document title"/>
            <p:cNvSpPr txBox="1"/>
            <p:nvPr/>
          </p:nvSpPr>
          <p:spPr>
            <a:xfrm>
              <a:off x="6291072" y="4741164"/>
              <a:ext cx="982980" cy="274320"/>
            </a:xfrm>
            <a:prstGeom prst="rect">
              <a:avLst/>
            </a:prstGeom>
            <a:noFill/>
            <a:effectLst/>
          </p:spPr>
          <p:txBody>
            <a:bodyPr wrap="square" lIns="0" rIns="0" tIns="0" bIns="0" anchor="t">
              <a:noAutofit/>
            </a:bodyPr>
            <a:lstStyle/>
            <a:p>
              <a:pPr algn="l">
                <a:lnSpc>
                  <a:spcPct val="103000"/>
                </a:lnSpc>
                <a:spcBef>
                  <a:spcPts val="0"/>
                </a:spcBef>
                <a:spcAft>
                  <a:spcPts val="0"/>
                </a:spcAft>
              </a:pPr>
              <a:r>
                <a:rPr sz="1010" b="1">
                  <a:solidFill>
                    <a:srgbClr val="12314F"/>
                  </a:solidFill>
                  <a:latin typeface="Arial"/>
                </a:rPr>
                <a:t>Wealth</a:t>
              </a:r>
            </a:p>
            <a:p>
              <a:pPr algn="l">
                <a:lnSpc>
                  <a:spcPct val="103000"/>
                </a:lnSpc>
                <a:spcBef>
                  <a:spcPts val="0"/>
                </a:spcBef>
                <a:spcAft>
                  <a:spcPts val="0"/>
                </a:spcAft>
              </a:pPr>
              <a:r>
                <a:rPr sz="1010" b="1">
                  <a:solidFill>
                    <a:srgbClr val="12314F"/>
                  </a:solidFill>
                  <a:latin typeface="Arial"/>
                </a:rPr>
                <a:t>Management</a:t>
              </a:r>
            </a:p>
          </p:txBody>
        </p:sp>
        <p:sp>
          <p:nvSpPr>
            <p:cNvPr id="149" name="Wealth Management Model Risk contribution field"/>
            <p:cNvSpPr/>
            <p:nvPr/>
          </p:nvSpPr>
          <p:spPr>
            <a:xfrm>
              <a:off x="6089904" y="5061204"/>
              <a:ext cx="1225296" cy="196596"/>
            </a:xfrm>
            <a:prstGeom prst="rect">
              <a:avLst/>
            </a:prstGeom>
            <a:solidFill>
              <a:srgbClr val="EAF3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0" name="Wealth Management Model Risk contribution field label"/>
            <p:cNvSpPr txBox="1"/>
            <p:nvPr/>
          </p:nvSpPr>
          <p:spPr>
            <a:xfrm>
              <a:off x="6121908" y="5089550"/>
              <a:ext cx="1161288" cy="141732"/>
            </a:xfrm>
            <a:prstGeom prst="rect">
              <a:avLst/>
            </a:prstGeom>
            <a:noFill/>
            <a:effectLst/>
          </p:spPr>
          <p:txBody>
            <a:bodyPr wrap="square" lIns="0" rIns="0" tIns="0" bIns="0" anchor="t">
              <a:noAutofit/>
            </a:bodyPr>
            <a:lstStyle/>
            <a:p>
              <a:pPr algn="ctr">
                <a:lnSpc>
                  <a:spcPct val="105000"/>
                </a:lnSpc>
                <a:spcBef>
                  <a:spcPts val="0"/>
                </a:spcBef>
                <a:spcAft>
                  <a:spcPts val="0"/>
                </a:spcAft>
              </a:pPr>
              <a:r>
                <a:rPr sz="955" b="1">
                  <a:solidFill>
                    <a:srgbClr val="1668AD"/>
                  </a:solidFill>
                  <a:latin typeface="Arial"/>
                </a:rPr>
                <a:t>Model Risk input</a:t>
              </a:r>
            </a:p>
          </p:txBody>
        </p:sp>
      </p:grpSp>
      <p:cxnSp>
        <p:nvCxnSpPr>
          <p:cNvPr id="151" name="Contribution to GRM CRM"/>
          <p:cNvCxnSpPr/>
          <p:nvPr/>
        </p:nvCxnSpPr>
        <p:spPr>
          <a:xfrm>
            <a:off x="8147304" y="4530852"/>
            <a:ext cx="0" cy="128016"/>
          </a:xfrm>
          <a:prstGeom prst="line">
            <a:avLst/>
          </a:prstGeom>
          <a:ln w="12700">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grpSp>
        <p:nvGrpSpPr>
          <p:cNvPr id="152" name="GRM CRM document – editable group"/>
          <p:cNvGrpSpPr/>
          <p:nvPr/>
        </p:nvGrpSpPr>
        <p:grpSpPr>
          <a:xfrm>
            <a:off x="7470648" y="4663440"/>
            <a:ext cx="1353312" cy="658368"/>
            <a:chOff x="7470648" y="4663440"/>
            <a:chExt cx="1353312" cy="658368"/>
          </a:xfrm>
          <a:effectLst/>
        </p:grpSpPr>
        <p:sp>
          <p:nvSpPr>
            <p:cNvPr id="153" name="GRM document outline"/>
            <p:cNvSpPr/>
            <p:nvPr/>
          </p:nvSpPr>
          <p:spPr>
            <a:xfrm>
              <a:off x="7470648" y="4663440"/>
              <a:ext cx="1353312" cy="658368"/>
            </a:xfrm>
            <a:prstGeom prst="roundRect">
              <a:avLst>
                <a:gd name="adj" fmla="val 5500"/>
              </a:avLst>
            </a:prstGeom>
            <a:solidFill>
              <a:srgbClr val="FFFFFF"/>
            </a:solidFill>
            <a:ln w="8890">
              <a:solidFill>
                <a:srgbClr val="C6D5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4" name="GRM document symbol"/>
            <p:cNvSpPr/>
            <p:nvPr/>
          </p:nvSpPr>
          <p:spPr>
            <a:xfrm>
              <a:off x="7557516" y="4750308"/>
              <a:ext cx="128016" cy="169164"/>
            </a:xfrm>
            <a:prstGeom prst="rect">
              <a:avLst/>
            </a:prstGeom>
            <a:solidFill>
              <a:srgbClr val="FFFFFF"/>
            </a:solidFill>
            <a:ln w="8255">
              <a:solidFill>
                <a:srgbClr val="1668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5" name="GRM document rule"/>
            <p:cNvCxnSpPr/>
            <p:nvPr/>
          </p:nvCxnSpPr>
          <p:spPr>
            <a:xfrm>
              <a:off x="7580375" y="4800600"/>
              <a:ext cx="82297"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56" name="GRM document rule"/>
            <p:cNvCxnSpPr/>
            <p:nvPr/>
          </p:nvCxnSpPr>
          <p:spPr>
            <a:xfrm>
              <a:off x="7580375" y="4837176"/>
              <a:ext cx="82297"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57" name="GRM document rule"/>
            <p:cNvCxnSpPr/>
            <p:nvPr/>
          </p:nvCxnSpPr>
          <p:spPr>
            <a:xfrm>
              <a:off x="7580375" y="4873752"/>
              <a:ext cx="82297"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sp>
          <p:nvSpPr>
            <p:cNvPr id="158" name="GRM document title"/>
            <p:cNvSpPr txBox="1"/>
            <p:nvPr/>
          </p:nvSpPr>
          <p:spPr>
            <a:xfrm>
              <a:off x="7735823" y="4741164"/>
              <a:ext cx="982980" cy="274320"/>
            </a:xfrm>
            <a:prstGeom prst="rect">
              <a:avLst/>
            </a:prstGeom>
            <a:noFill/>
            <a:effectLst/>
          </p:spPr>
          <p:txBody>
            <a:bodyPr wrap="square" lIns="0" rIns="0" tIns="0" bIns="0" anchor="t">
              <a:noAutofit/>
            </a:bodyPr>
            <a:lstStyle/>
            <a:p>
              <a:pPr algn="l">
                <a:lnSpc>
                  <a:spcPct val="103000"/>
                </a:lnSpc>
                <a:spcBef>
                  <a:spcPts val="0"/>
                </a:spcBef>
                <a:spcAft>
                  <a:spcPts val="0"/>
                </a:spcAft>
              </a:pPr>
              <a:r>
                <a:rPr sz="1010" b="1">
                  <a:solidFill>
                    <a:srgbClr val="12314F"/>
                  </a:solidFill>
                  <a:latin typeface="Arial"/>
                </a:rPr>
                <a:t>GRM</a:t>
              </a:r>
            </a:p>
          </p:txBody>
        </p:sp>
        <p:sp>
          <p:nvSpPr>
            <p:cNvPr id="159" name="GRM Model Risk contribution field"/>
            <p:cNvSpPr/>
            <p:nvPr/>
          </p:nvSpPr>
          <p:spPr>
            <a:xfrm>
              <a:off x="7534656" y="5061204"/>
              <a:ext cx="1225296" cy="196596"/>
            </a:xfrm>
            <a:prstGeom prst="rect">
              <a:avLst/>
            </a:prstGeom>
            <a:solidFill>
              <a:srgbClr val="EAF3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0" name="GRM Model Risk contribution field label"/>
            <p:cNvSpPr txBox="1"/>
            <p:nvPr/>
          </p:nvSpPr>
          <p:spPr>
            <a:xfrm>
              <a:off x="7566660" y="5089550"/>
              <a:ext cx="1161288" cy="141732"/>
            </a:xfrm>
            <a:prstGeom prst="rect">
              <a:avLst/>
            </a:prstGeom>
            <a:noFill/>
            <a:effectLst/>
          </p:spPr>
          <p:txBody>
            <a:bodyPr wrap="square" lIns="0" rIns="0" tIns="0" bIns="0" anchor="t">
              <a:noAutofit/>
            </a:bodyPr>
            <a:lstStyle/>
            <a:p>
              <a:pPr algn="ctr">
                <a:lnSpc>
                  <a:spcPct val="105000"/>
                </a:lnSpc>
                <a:spcBef>
                  <a:spcPts val="0"/>
                </a:spcBef>
                <a:spcAft>
                  <a:spcPts val="0"/>
                </a:spcAft>
              </a:pPr>
              <a:r>
                <a:rPr sz="955" b="1">
                  <a:solidFill>
                    <a:srgbClr val="1668AD"/>
                  </a:solidFill>
                  <a:latin typeface="Arial"/>
                </a:rPr>
                <a:t>Model Risk input</a:t>
              </a:r>
            </a:p>
          </p:txBody>
        </p:sp>
      </p:grpSp>
      <p:cxnSp>
        <p:nvCxnSpPr>
          <p:cNvPr id="161" name="Contribution to Insurance CRM"/>
          <p:cNvCxnSpPr/>
          <p:nvPr/>
        </p:nvCxnSpPr>
        <p:spPr>
          <a:xfrm>
            <a:off x="9592056" y="4530852"/>
            <a:ext cx="0" cy="128016"/>
          </a:xfrm>
          <a:prstGeom prst="line">
            <a:avLst/>
          </a:prstGeom>
          <a:ln w="12700">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grpSp>
        <p:nvGrpSpPr>
          <p:cNvPr id="162" name="Insurance CRM document – editable group"/>
          <p:cNvGrpSpPr/>
          <p:nvPr/>
        </p:nvGrpSpPr>
        <p:grpSpPr>
          <a:xfrm>
            <a:off x="8915400" y="4663440"/>
            <a:ext cx="1353312" cy="658368"/>
            <a:chOff x="8915400" y="4663440"/>
            <a:chExt cx="1353312" cy="658368"/>
          </a:xfrm>
          <a:effectLst/>
        </p:grpSpPr>
        <p:sp>
          <p:nvSpPr>
            <p:cNvPr id="163" name="Insurance document outline"/>
            <p:cNvSpPr/>
            <p:nvPr/>
          </p:nvSpPr>
          <p:spPr>
            <a:xfrm>
              <a:off x="8915400" y="4663440"/>
              <a:ext cx="1353312" cy="658368"/>
            </a:xfrm>
            <a:prstGeom prst="roundRect">
              <a:avLst>
                <a:gd name="adj" fmla="val 5500"/>
              </a:avLst>
            </a:prstGeom>
            <a:solidFill>
              <a:srgbClr val="FFFFFF"/>
            </a:solidFill>
            <a:ln w="8890">
              <a:solidFill>
                <a:srgbClr val="C6D5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4" name="Insurance document symbol"/>
            <p:cNvSpPr/>
            <p:nvPr/>
          </p:nvSpPr>
          <p:spPr>
            <a:xfrm>
              <a:off x="9002268" y="4750308"/>
              <a:ext cx="128016" cy="169164"/>
            </a:xfrm>
            <a:prstGeom prst="rect">
              <a:avLst/>
            </a:prstGeom>
            <a:solidFill>
              <a:srgbClr val="FFFFFF"/>
            </a:solidFill>
            <a:ln w="8255">
              <a:solidFill>
                <a:srgbClr val="1668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5" name="Insurance document rule"/>
            <p:cNvCxnSpPr/>
            <p:nvPr/>
          </p:nvCxnSpPr>
          <p:spPr>
            <a:xfrm>
              <a:off x="9025128" y="4800600"/>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66" name="Insurance document rule"/>
            <p:cNvCxnSpPr/>
            <p:nvPr/>
          </p:nvCxnSpPr>
          <p:spPr>
            <a:xfrm>
              <a:off x="9025128" y="4837176"/>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67" name="Insurance document rule"/>
            <p:cNvCxnSpPr/>
            <p:nvPr/>
          </p:nvCxnSpPr>
          <p:spPr>
            <a:xfrm>
              <a:off x="9025128" y="4873752"/>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sp>
          <p:nvSpPr>
            <p:cNvPr id="168" name="Insurance document title"/>
            <p:cNvSpPr txBox="1"/>
            <p:nvPr/>
          </p:nvSpPr>
          <p:spPr>
            <a:xfrm>
              <a:off x="9180576" y="4741164"/>
              <a:ext cx="982980" cy="274320"/>
            </a:xfrm>
            <a:prstGeom prst="rect">
              <a:avLst/>
            </a:prstGeom>
            <a:noFill/>
            <a:effectLst/>
          </p:spPr>
          <p:txBody>
            <a:bodyPr wrap="square" lIns="0" rIns="0" tIns="0" bIns="0" anchor="t">
              <a:noAutofit/>
            </a:bodyPr>
            <a:lstStyle/>
            <a:p>
              <a:pPr algn="l">
                <a:lnSpc>
                  <a:spcPct val="103000"/>
                </a:lnSpc>
                <a:spcBef>
                  <a:spcPts val="0"/>
                </a:spcBef>
                <a:spcAft>
                  <a:spcPts val="0"/>
                </a:spcAft>
              </a:pPr>
              <a:r>
                <a:rPr sz="1010" b="1">
                  <a:solidFill>
                    <a:srgbClr val="12314F"/>
                  </a:solidFill>
                  <a:latin typeface="Arial"/>
                </a:rPr>
                <a:t>Insurance</a:t>
              </a:r>
            </a:p>
          </p:txBody>
        </p:sp>
        <p:sp>
          <p:nvSpPr>
            <p:cNvPr id="169" name="Insurance Model Risk contribution field"/>
            <p:cNvSpPr/>
            <p:nvPr/>
          </p:nvSpPr>
          <p:spPr>
            <a:xfrm>
              <a:off x="8979408" y="5061204"/>
              <a:ext cx="1225296" cy="196596"/>
            </a:xfrm>
            <a:prstGeom prst="rect">
              <a:avLst/>
            </a:prstGeom>
            <a:solidFill>
              <a:srgbClr val="EAF3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0" name="Insurance Model Risk contribution field label"/>
            <p:cNvSpPr txBox="1"/>
            <p:nvPr/>
          </p:nvSpPr>
          <p:spPr>
            <a:xfrm>
              <a:off x="9011412" y="5089550"/>
              <a:ext cx="1161288" cy="141732"/>
            </a:xfrm>
            <a:prstGeom prst="rect">
              <a:avLst/>
            </a:prstGeom>
            <a:noFill/>
            <a:effectLst/>
          </p:spPr>
          <p:txBody>
            <a:bodyPr wrap="square" lIns="0" rIns="0" tIns="0" bIns="0" anchor="t">
              <a:noAutofit/>
            </a:bodyPr>
            <a:lstStyle/>
            <a:p>
              <a:pPr algn="ctr">
                <a:lnSpc>
                  <a:spcPct val="105000"/>
                </a:lnSpc>
                <a:spcBef>
                  <a:spcPts val="0"/>
                </a:spcBef>
                <a:spcAft>
                  <a:spcPts val="0"/>
                </a:spcAft>
              </a:pPr>
              <a:r>
                <a:rPr sz="955" b="1">
                  <a:solidFill>
                    <a:srgbClr val="1668AD"/>
                  </a:solidFill>
                  <a:latin typeface="Arial"/>
                </a:rPr>
                <a:t>Model Risk input</a:t>
              </a:r>
            </a:p>
          </p:txBody>
        </p:sp>
      </p:grpSp>
      <p:cxnSp>
        <p:nvCxnSpPr>
          <p:cNvPr id="171" name="Contribution to CNB CRM"/>
          <p:cNvCxnSpPr/>
          <p:nvPr/>
        </p:nvCxnSpPr>
        <p:spPr>
          <a:xfrm>
            <a:off x="11036808" y="4530852"/>
            <a:ext cx="0" cy="128016"/>
          </a:xfrm>
          <a:prstGeom prst="line">
            <a:avLst/>
          </a:prstGeom>
          <a:ln w="12700">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grpSp>
        <p:nvGrpSpPr>
          <p:cNvPr id="172" name="CNB CRM document – editable group"/>
          <p:cNvGrpSpPr/>
          <p:nvPr/>
        </p:nvGrpSpPr>
        <p:grpSpPr>
          <a:xfrm>
            <a:off x="10360152" y="4663440"/>
            <a:ext cx="1353312" cy="658368"/>
            <a:chOff x="10360152" y="4663440"/>
            <a:chExt cx="1353312" cy="658368"/>
          </a:xfrm>
          <a:effectLst/>
        </p:grpSpPr>
        <p:sp>
          <p:nvSpPr>
            <p:cNvPr id="173" name="CNB document outline"/>
            <p:cNvSpPr/>
            <p:nvPr/>
          </p:nvSpPr>
          <p:spPr>
            <a:xfrm>
              <a:off x="10360152" y="4663440"/>
              <a:ext cx="1353312" cy="658368"/>
            </a:xfrm>
            <a:prstGeom prst="roundRect">
              <a:avLst>
                <a:gd name="adj" fmla="val 5500"/>
              </a:avLst>
            </a:prstGeom>
            <a:solidFill>
              <a:srgbClr val="FFFFFF"/>
            </a:solidFill>
            <a:ln w="8890">
              <a:solidFill>
                <a:srgbClr val="C6D5E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4" name="CNB document symbol"/>
            <p:cNvSpPr/>
            <p:nvPr/>
          </p:nvSpPr>
          <p:spPr>
            <a:xfrm>
              <a:off x="10447020" y="4750308"/>
              <a:ext cx="128016" cy="169164"/>
            </a:xfrm>
            <a:prstGeom prst="rect">
              <a:avLst/>
            </a:prstGeom>
            <a:solidFill>
              <a:srgbClr val="FFFFFF"/>
            </a:solidFill>
            <a:ln w="8255">
              <a:solidFill>
                <a:srgbClr val="1668AD"/>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5" name="CNB document rule"/>
            <p:cNvCxnSpPr/>
            <p:nvPr/>
          </p:nvCxnSpPr>
          <p:spPr>
            <a:xfrm>
              <a:off x="10469880" y="4800600"/>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76" name="CNB document rule"/>
            <p:cNvCxnSpPr/>
            <p:nvPr/>
          </p:nvCxnSpPr>
          <p:spPr>
            <a:xfrm>
              <a:off x="10469880" y="4837176"/>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cxnSp>
          <p:nvCxnSpPr>
            <p:cNvPr id="177" name="CNB document rule"/>
            <p:cNvCxnSpPr/>
            <p:nvPr/>
          </p:nvCxnSpPr>
          <p:spPr>
            <a:xfrm>
              <a:off x="10469880" y="4873752"/>
              <a:ext cx="82296" cy="0"/>
            </a:xfrm>
            <a:prstGeom prst="line">
              <a:avLst/>
            </a:prstGeom>
            <a:ln w="6350">
              <a:solidFill>
                <a:srgbClr val="1668AD"/>
              </a:solidFill>
            </a:ln>
            <a:effectLst/>
          </p:spPr>
          <p:style>
            <a:lnRef idx="2">
              <a:schemeClr val="accent1"/>
            </a:lnRef>
            <a:fillRef idx="0">
              <a:schemeClr val="accent1"/>
            </a:fillRef>
            <a:effectRef idx="0">
              <a:schemeClr val="accent1"/>
            </a:effectRef>
            <a:fontRef idx="minor">
              <a:schemeClr val="tx1"/>
            </a:fontRef>
          </p:style>
        </p:cxnSp>
        <p:sp>
          <p:nvSpPr>
            <p:cNvPr id="178" name="CNB document title"/>
            <p:cNvSpPr txBox="1"/>
            <p:nvPr/>
          </p:nvSpPr>
          <p:spPr>
            <a:xfrm>
              <a:off x="10625328" y="4741164"/>
              <a:ext cx="982980" cy="274320"/>
            </a:xfrm>
            <a:prstGeom prst="rect">
              <a:avLst/>
            </a:prstGeom>
            <a:noFill/>
            <a:effectLst/>
          </p:spPr>
          <p:txBody>
            <a:bodyPr wrap="square" lIns="0" rIns="0" tIns="0" bIns="0" anchor="t">
              <a:noAutofit/>
            </a:bodyPr>
            <a:lstStyle/>
            <a:p>
              <a:pPr algn="l">
                <a:lnSpc>
                  <a:spcPct val="103000"/>
                </a:lnSpc>
                <a:spcBef>
                  <a:spcPts val="0"/>
                </a:spcBef>
                <a:spcAft>
                  <a:spcPts val="0"/>
                </a:spcAft>
              </a:pPr>
              <a:r>
                <a:rPr sz="1010" b="1">
                  <a:solidFill>
                    <a:srgbClr val="12314F"/>
                  </a:solidFill>
                  <a:latin typeface="Arial"/>
                </a:rPr>
                <a:t>CNB</a:t>
              </a:r>
            </a:p>
          </p:txBody>
        </p:sp>
        <p:sp>
          <p:nvSpPr>
            <p:cNvPr id="179" name="CNB Model Risk contribution field"/>
            <p:cNvSpPr/>
            <p:nvPr/>
          </p:nvSpPr>
          <p:spPr>
            <a:xfrm>
              <a:off x="10424160" y="5061204"/>
              <a:ext cx="1225296" cy="196596"/>
            </a:xfrm>
            <a:prstGeom prst="rect">
              <a:avLst/>
            </a:prstGeom>
            <a:solidFill>
              <a:srgbClr val="EAF3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0" name="CNB Model Risk contribution field label"/>
            <p:cNvSpPr txBox="1"/>
            <p:nvPr/>
          </p:nvSpPr>
          <p:spPr>
            <a:xfrm>
              <a:off x="10456164" y="5089550"/>
              <a:ext cx="1161288" cy="141732"/>
            </a:xfrm>
            <a:prstGeom prst="rect">
              <a:avLst/>
            </a:prstGeom>
            <a:noFill/>
            <a:effectLst/>
          </p:spPr>
          <p:txBody>
            <a:bodyPr wrap="square" lIns="0" rIns="0" tIns="0" bIns="0" anchor="t">
              <a:noAutofit/>
            </a:bodyPr>
            <a:lstStyle/>
            <a:p>
              <a:pPr algn="ctr">
                <a:lnSpc>
                  <a:spcPct val="105000"/>
                </a:lnSpc>
                <a:spcBef>
                  <a:spcPts val="0"/>
                </a:spcBef>
                <a:spcAft>
                  <a:spcPts val="0"/>
                </a:spcAft>
              </a:pPr>
              <a:r>
                <a:rPr sz="955" b="1">
                  <a:solidFill>
                    <a:srgbClr val="1668AD"/>
                  </a:solidFill>
                  <a:latin typeface="Arial"/>
                </a:rPr>
                <a:t>Model Risk input</a:t>
              </a:r>
            </a:p>
          </p:txBody>
        </p:sp>
      </p:grpSp>
      <p:sp>
        <p:nvSpPr>
          <p:cNvPr id="181" name="Standard Model Risk contribution fields"/>
          <p:cNvSpPr txBox="1"/>
          <p:nvPr/>
        </p:nvSpPr>
        <p:spPr>
          <a:xfrm>
            <a:off x="1737360" y="5431536"/>
            <a:ext cx="9966960" cy="173736"/>
          </a:xfrm>
          <a:prstGeom prst="rect">
            <a:avLst/>
          </a:prstGeom>
          <a:noFill/>
          <a:effectLst/>
        </p:spPr>
        <p:txBody>
          <a:bodyPr wrap="square" lIns="0" rIns="0" tIns="0" bIns="0" anchor="t">
            <a:noAutofit/>
          </a:bodyPr>
          <a:lstStyle/>
          <a:p>
            <a:pPr algn="l">
              <a:lnSpc>
                <a:spcPct val="105000"/>
              </a:lnSpc>
              <a:spcBef>
                <a:spcPts val="0"/>
              </a:spcBef>
              <a:spcAft>
                <a:spcPts val="0"/>
              </a:spcAft>
            </a:pPr>
            <a:r>
              <a:rPr sz="950" b="0">
                <a:solidFill>
                  <a:srgbClr val="12314F"/>
                </a:solidFill>
                <a:latin typeface="Arial"/>
              </a:rPr>
              <a:t>Common fields: changes / issues · platform impact · regional nuance · evidence links · “No material update”, where applicable</a:t>
            </a:r>
          </a:p>
        </p:txBody>
      </p:sp>
      <p:sp>
        <p:nvSpPr>
          <p:cNvPr id="182" name="Platform mapping qualification"/>
          <p:cNvSpPr txBox="1"/>
          <p:nvPr/>
        </p:nvSpPr>
        <p:spPr>
          <a:xfrm>
            <a:off x="1737360" y="5600700"/>
            <a:ext cx="9966960" cy="128016"/>
          </a:xfrm>
          <a:prstGeom prst="rect">
            <a:avLst/>
          </a:prstGeom>
          <a:noFill/>
          <a:effectLst/>
        </p:spPr>
        <p:txBody>
          <a:bodyPr wrap="square" lIns="0" rIns="0" tIns="0" bIns="0" anchor="t">
            <a:noAutofit/>
          </a:bodyPr>
          <a:lstStyle/>
          <a:p>
            <a:pPr algn="l">
              <a:lnSpc>
                <a:spcPct val="105000"/>
              </a:lnSpc>
              <a:spcBef>
                <a:spcPts val="0"/>
              </a:spcBef>
              <a:spcAft>
                <a:spcPts val="0"/>
              </a:spcAft>
            </a:pPr>
            <a:r>
              <a:rPr sz="819" b="0">
                <a:solidFill>
                  <a:srgbClr val="566B7E"/>
                </a:solidFill>
                <a:latin typeface="Arial"/>
              </a:rPr>
              <a:t>Illustrative platform set; exact documents and regional views follow confirmed Model Risk AU coverage.</a:t>
            </a:r>
          </a:p>
        </p:txBody>
      </p:sp>
      <p:grpSp>
        <p:nvGrpSpPr>
          <p:cNvPr id="183" name="08 – Completion hand-off 1"/>
          <p:cNvGrpSpPr/>
          <p:nvPr/>
        </p:nvGrpSpPr>
        <p:grpSpPr>
          <a:xfrm>
            <a:off x="1746504" y="5907024"/>
            <a:ext cx="2999232" cy="356616"/>
            <a:chOff x="1746504" y="5907024"/>
            <a:chExt cx="2999232" cy="356616"/>
          </a:xfrm>
          <a:effectLst/>
        </p:grpSpPr>
        <p:sp>
          <p:nvSpPr>
            <p:cNvPr id="184" name="Completion 1 heading"/>
            <p:cNvSpPr txBox="1"/>
            <p:nvPr/>
          </p:nvSpPr>
          <p:spPr>
            <a:xfrm>
              <a:off x="1746504" y="5907024"/>
              <a:ext cx="2999232" cy="164592"/>
            </a:xfrm>
            <a:prstGeom prst="rect">
              <a:avLst/>
            </a:prstGeom>
            <a:noFill/>
            <a:effectLst/>
          </p:spPr>
          <p:txBody>
            <a:bodyPr wrap="square" lIns="0" rIns="0" tIns="0" bIns="0" anchor="t">
              <a:noAutofit/>
            </a:bodyPr>
            <a:lstStyle/>
            <a:p>
              <a:pPr algn="l">
                <a:lnSpc>
                  <a:spcPct val="105000"/>
                </a:lnSpc>
                <a:spcBef>
                  <a:spcPts val="0"/>
                </a:spcBef>
                <a:spcAft>
                  <a:spcPts val="0"/>
                </a:spcAft>
              </a:pPr>
              <a:r>
                <a:rPr sz="960" b="1">
                  <a:solidFill>
                    <a:srgbClr val="12314F"/>
                  </a:solidFill>
                  <a:latin typeface="Arial"/>
                </a:rPr>
                <a:t>Model Risk confirms its contribution</a:t>
              </a:r>
            </a:p>
          </p:txBody>
        </p:sp>
        <p:sp>
          <p:nvSpPr>
            <p:cNvPr id="185" name="Completion 1 detail"/>
            <p:cNvSpPr txBox="1"/>
            <p:nvPr/>
          </p:nvSpPr>
          <p:spPr>
            <a:xfrm>
              <a:off x="1746504" y="6108192"/>
              <a:ext cx="2999232" cy="155448"/>
            </a:xfrm>
            <a:prstGeom prst="rect">
              <a:avLst/>
            </a:prstGeom>
            <a:noFill/>
            <a:effectLst/>
          </p:spPr>
          <p:txBody>
            <a:bodyPr wrap="square" lIns="0" rIns="0" tIns="0" bIns="0" anchor="t">
              <a:noAutofit/>
            </a:bodyPr>
            <a:lstStyle/>
            <a:p>
              <a:pPr algn="l">
                <a:lnSpc>
                  <a:spcPct val="105000"/>
                </a:lnSpc>
                <a:spcBef>
                  <a:spcPts val="0"/>
                </a:spcBef>
                <a:spcAft>
                  <a:spcPts val="0"/>
                </a:spcAft>
              </a:pPr>
              <a:r>
                <a:rPr sz="905" b="0">
                  <a:solidFill>
                    <a:srgbClr val="21384E"/>
                  </a:solidFill>
                  <a:latin typeface="Arial"/>
                </a:rPr>
                <a:t>Evidence and regional implications checked.</a:t>
              </a:r>
            </a:p>
          </p:txBody>
        </p:sp>
      </p:grpSp>
      <p:grpSp>
        <p:nvGrpSpPr>
          <p:cNvPr id="186" name="08 – Completion hand-off 2"/>
          <p:cNvGrpSpPr/>
          <p:nvPr/>
        </p:nvGrpSpPr>
        <p:grpSpPr>
          <a:xfrm>
            <a:off x="5120640" y="5907024"/>
            <a:ext cx="2999232" cy="356616"/>
            <a:chOff x="5120640" y="5907024"/>
            <a:chExt cx="2999232" cy="356616"/>
          </a:xfrm>
          <a:effectLst/>
        </p:grpSpPr>
        <p:sp>
          <p:nvSpPr>
            <p:cNvPr id="187" name="Completion 2 heading"/>
            <p:cNvSpPr txBox="1"/>
            <p:nvPr/>
          </p:nvSpPr>
          <p:spPr>
            <a:xfrm>
              <a:off x="5120640" y="5907024"/>
              <a:ext cx="2999232" cy="164592"/>
            </a:xfrm>
            <a:prstGeom prst="rect">
              <a:avLst/>
            </a:prstGeom>
            <a:noFill/>
            <a:effectLst/>
          </p:spPr>
          <p:txBody>
            <a:bodyPr wrap="square" lIns="0" rIns="0" tIns="0" bIns="0" anchor="t">
              <a:noAutofit/>
            </a:bodyPr>
            <a:lstStyle/>
            <a:p>
              <a:pPr algn="l">
                <a:lnSpc>
                  <a:spcPct val="105000"/>
                </a:lnSpc>
                <a:spcBef>
                  <a:spcPts val="0"/>
                </a:spcBef>
                <a:spcAft>
                  <a:spcPts val="0"/>
                </a:spcAft>
              </a:pPr>
              <a:r>
                <a:rPr sz="960" b="1">
                  <a:solidFill>
                    <a:srgbClr val="12314F"/>
                  </a:solidFill>
                  <a:latin typeface="Arial"/>
                </a:rPr>
                <a:t>Platform team resolves final comments</a:t>
              </a:r>
            </a:p>
          </p:txBody>
        </p:sp>
        <p:sp>
          <p:nvSpPr>
            <p:cNvPr id="188" name="Completion 2 detail"/>
            <p:cNvSpPr txBox="1"/>
            <p:nvPr/>
          </p:nvSpPr>
          <p:spPr>
            <a:xfrm>
              <a:off x="5120640" y="6108192"/>
              <a:ext cx="2999232" cy="155448"/>
            </a:xfrm>
            <a:prstGeom prst="rect">
              <a:avLst/>
            </a:prstGeom>
            <a:noFill/>
            <a:effectLst/>
          </p:spPr>
          <p:txBody>
            <a:bodyPr wrap="square" lIns="0" rIns="0" tIns="0" bIns="0" anchor="t">
              <a:noAutofit/>
            </a:bodyPr>
            <a:lstStyle/>
            <a:p>
              <a:pPr algn="l">
                <a:lnSpc>
                  <a:spcPct val="105000"/>
                </a:lnSpc>
                <a:spcBef>
                  <a:spcPts val="0"/>
                </a:spcBef>
                <a:spcAft>
                  <a:spcPts val="0"/>
                </a:spcAft>
              </a:pPr>
              <a:r>
                <a:rPr sz="905" b="0">
                  <a:solidFill>
                    <a:srgbClr val="21384E"/>
                  </a:solidFill>
                  <a:latin typeface="Arial"/>
                </a:rPr>
                <a:t>Common themes retain platform-specific context.</a:t>
              </a:r>
            </a:p>
          </p:txBody>
        </p:sp>
      </p:grpSp>
      <p:grpSp>
        <p:nvGrpSpPr>
          <p:cNvPr id="189" name="08 – Completion hand-off 3"/>
          <p:cNvGrpSpPr/>
          <p:nvPr/>
        </p:nvGrpSpPr>
        <p:grpSpPr>
          <a:xfrm>
            <a:off x="8494776" y="5907024"/>
            <a:ext cx="3163824" cy="356616"/>
            <a:chOff x="8494776" y="5907024"/>
            <a:chExt cx="3163824" cy="356616"/>
          </a:xfrm>
          <a:effectLst/>
        </p:grpSpPr>
        <p:sp>
          <p:nvSpPr>
            <p:cNvPr id="190" name="Completion 3 heading"/>
            <p:cNvSpPr txBox="1"/>
            <p:nvPr/>
          </p:nvSpPr>
          <p:spPr>
            <a:xfrm>
              <a:off x="8494776" y="5907024"/>
              <a:ext cx="3163824" cy="164592"/>
            </a:xfrm>
            <a:prstGeom prst="rect">
              <a:avLst/>
            </a:prstGeom>
            <a:noFill/>
            <a:effectLst/>
          </p:spPr>
          <p:txBody>
            <a:bodyPr wrap="square" lIns="0" rIns="0" tIns="0" bIns="0" anchor="t">
              <a:noAutofit/>
            </a:bodyPr>
            <a:lstStyle/>
            <a:p>
              <a:pPr algn="l">
                <a:lnSpc>
                  <a:spcPct val="105000"/>
                </a:lnSpc>
                <a:spcBef>
                  <a:spcPts val="0"/>
                </a:spcBef>
                <a:spcAft>
                  <a:spcPts val="0"/>
                </a:spcAft>
              </a:pPr>
              <a:r>
                <a:rPr sz="960" b="1">
                  <a:solidFill>
                    <a:srgbClr val="12314F"/>
                  </a:solidFill>
                  <a:latin typeface="Arial"/>
                </a:rPr>
                <a:t>Platform owner signs off and submits</a:t>
              </a:r>
            </a:p>
          </p:txBody>
        </p:sp>
        <p:sp>
          <p:nvSpPr>
            <p:cNvPr id="191" name="Completion 3 detail"/>
            <p:cNvSpPr txBox="1"/>
            <p:nvPr/>
          </p:nvSpPr>
          <p:spPr>
            <a:xfrm>
              <a:off x="8494776" y="6108192"/>
              <a:ext cx="3163824" cy="155448"/>
            </a:xfrm>
            <a:prstGeom prst="rect">
              <a:avLst/>
            </a:prstGeom>
            <a:noFill/>
            <a:effectLst/>
          </p:spPr>
          <p:txBody>
            <a:bodyPr wrap="square" lIns="0" rIns="0" tIns="0" bIns="0" anchor="t">
              <a:noAutofit/>
            </a:bodyPr>
            <a:lstStyle/>
            <a:p>
              <a:pPr algn="l">
                <a:lnSpc>
                  <a:spcPct val="105000"/>
                </a:lnSpc>
                <a:spcBef>
                  <a:spcPts val="0"/>
                </a:spcBef>
                <a:spcAft>
                  <a:spcPts val="0"/>
                </a:spcAft>
              </a:pPr>
              <a:r>
                <a:rPr sz="905" b="0">
                  <a:solidFill>
                    <a:srgbClr val="21384E"/>
                  </a:solidFill>
                  <a:latin typeface="Arial"/>
                </a:rPr>
                <a:t>Final pack includes Model Risk input and appendix.</a:t>
              </a:r>
            </a:p>
          </p:txBody>
        </p:sp>
      </p:grpSp>
      <p:cxnSp>
        <p:nvCxnSpPr>
          <p:cNvPr id="192" name="Completion hand-off connector"/>
          <p:cNvCxnSpPr/>
          <p:nvPr/>
        </p:nvCxnSpPr>
        <p:spPr>
          <a:xfrm>
            <a:off x="4846320" y="6080760"/>
            <a:ext cx="164592" cy="0"/>
          </a:xfrm>
          <a:prstGeom prst="line">
            <a:avLst/>
          </a:prstGeom>
          <a:ln w="13970">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193" name="Completion hand-off connector"/>
          <p:cNvCxnSpPr/>
          <p:nvPr/>
        </p:nvCxnSpPr>
        <p:spPr>
          <a:xfrm>
            <a:off x="8220456" y="6080760"/>
            <a:ext cx="164592" cy="0"/>
          </a:xfrm>
          <a:prstGeom prst="line">
            <a:avLst/>
          </a:prstGeom>
          <a:ln w="13970">
            <a:solidFill>
              <a:srgbClr val="1668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4" name="User experience benefits background"/>
          <p:cNvSpPr/>
          <p:nvPr/>
        </p:nvSpPr>
        <p:spPr>
          <a:xfrm>
            <a:off x="365760" y="6473952"/>
            <a:ext cx="11457432" cy="224028"/>
          </a:xfrm>
          <a:prstGeom prst="rect">
            <a:avLst/>
          </a:prstGeom>
          <a:solidFill>
            <a:srgbClr val="EAF3F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5" name="User experience label"/>
          <p:cNvSpPr txBox="1"/>
          <p:nvPr/>
        </p:nvSpPr>
        <p:spPr>
          <a:xfrm>
            <a:off x="493776" y="6515100"/>
            <a:ext cx="1517904" cy="137160"/>
          </a:xfrm>
          <a:prstGeom prst="rect">
            <a:avLst/>
          </a:prstGeom>
          <a:noFill/>
          <a:effectLst/>
        </p:spPr>
        <p:txBody>
          <a:bodyPr wrap="square" lIns="0" rIns="0" tIns="0" bIns="0" anchor="t">
            <a:noAutofit/>
          </a:bodyPr>
          <a:lstStyle/>
          <a:p>
            <a:pPr algn="l">
              <a:lnSpc>
                <a:spcPct val="105000"/>
              </a:lnSpc>
              <a:spcBef>
                <a:spcPts val="0"/>
              </a:spcBef>
              <a:spcAft>
                <a:spcPts val="0"/>
              </a:spcAft>
            </a:pPr>
            <a:r>
              <a:rPr sz="880" b="1">
                <a:solidFill>
                  <a:srgbClr val="12314F"/>
                </a:solidFill>
                <a:latin typeface="Arial"/>
              </a:rPr>
              <a:t>USER EXPERIENCE</a:t>
            </a:r>
          </a:p>
        </p:txBody>
      </p:sp>
      <p:sp>
        <p:nvSpPr>
          <p:cNvPr id="196" name="UX benefit 1"/>
          <p:cNvSpPr txBox="1"/>
          <p:nvPr/>
        </p:nvSpPr>
        <p:spPr>
          <a:xfrm>
            <a:off x="2148840" y="6515100"/>
            <a:ext cx="2304288" cy="137160"/>
          </a:xfrm>
          <a:prstGeom prst="rect">
            <a:avLst/>
          </a:prstGeom>
          <a:noFill/>
          <a:effectLst/>
        </p:spPr>
        <p:txBody>
          <a:bodyPr wrap="square" lIns="0" rIns="0" tIns="0" bIns="0" anchor="t">
            <a:noAutofit/>
          </a:bodyPr>
          <a:lstStyle/>
          <a:p>
            <a:pPr algn="l">
              <a:lnSpc>
                <a:spcPct val="105000"/>
              </a:lnSpc>
              <a:spcBef>
                <a:spcPts val="0"/>
              </a:spcBef>
              <a:spcAft>
                <a:spcPts val="0"/>
              </a:spcAft>
            </a:pPr>
            <a:r>
              <a:rPr sz="900" b="1">
                <a:solidFill>
                  <a:srgbClr val="1668AD"/>
                </a:solidFill>
                <a:latin typeface="Arial"/>
              </a:rPr>
              <a:t>Less duplicate preparation</a:t>
            </a:r>
          </a:p>
        </p:txBody>
      </p:sp>
      <p:sp>
        <p:nvSpPr>
          <p:cNvPr id="197" name="UX benefit 2"/>
          <p:cNvSpPr txBox="1"/>
          <p:nvPr/>
        </p:nvSpPr>
        <p:spPr>
          <a:xfrm>
            <a:off x="4617720" y="6515100"/>
            <a:ext cx="1645920" cy="137160"/>
          </a:xfrm>
          <a:prstGeom prst="rect">
            <a:avLst/>
          </a:prstGeom>
          <a:noFill/>
          <a:effectLst/>
        </p:spPr>
        <p:txBody>
          <a:bodyPr wrap="square" lIns="0" rIns="0" tIns="0" bIns="0" anchor="t">
            <a:noAutofit/>
          </a:bodyPr>
          <a:lstStyle/>
          <a:p>
            <a:pPr algn="l">
              <a:lnSpc>
                <a:spcPct val="105000"/>
              </a:lnSpc>
              <a:spcBef>
                <a:spcPts val="0"/>
              </a:spcBef>
              <a:spcAft>
                <a:spcPts val="0"/>
              </a:spcAft>
            </a:pPr>
            <a:r>
              <a:rPr sz="900" b="1">
                <a:solidFill>
                  <a:srgbClr val="1668AD"/>
                </a:solidFill>
                <a:latin typeface="Arial"/>
              </a:rPr>
              <a:t>Targeted analysis</a:t>
            </a:r>
          </a:p>
        </p:txBody>
      </p:sp>
      <p:sp>
        <p:nvSpPr>
          <p:cNvPr id="198" name="UX benefit 3"/>
          <p:cNvSpPr txBox="1"/>
          <p:nvPr/>
        </p:nvSpPr>
        <p:spPr>
          <a:xfrm>
            <a:off x="6446520" y="6515100"/>
            <a:ext cx="2432304" cy="137160"/>
          </a:xfrm>
          <a:prstGeom prst="rect">
            <a:avLst/>
          </a:prstGeom>
          <a:noFill/>
          <a:effectLst/>
        </p:spPr>
        <p:txBody>
          <a:bodyPr wrap="square" lIns="0" rIns="0" tIns="0" bIns="0" anchor="t">
            <a:noAutofit/>
          </a:bodyPr>
          <a:lstStyle/>
          <a:p>
            <a:pPr algn="l">
              <a:lnSpc>
                <a:spcPct val="105000"/>
              </a:lnSpc>
              <a:spcBef>
                <a:spcPts val="0"/>
              </a:spcBef>
              <a:spcAft>
                <a:spcPts val="0"/>
              </a:spcAft>
            </a:pPr>
            <a:r>
              <a:rPr sz="900" b="1">
                <a:solidFill>
                  <a:srgbClr val="1668AD"/>
                </a:solidFill>
                <a:latin typeface="Arial"/>
              </a:rPr>
              <a:t>Clear contribution ownership</a:t>
            </a:r>
          </a:p>
        </p:txBody>
      </p:sp>
      <p:sp>
        <p:nvSpPr>
          <p:cNvPr id="199" name="UX benefit 4"/>
          <p:cNvSpPr txBox="1"/>
          <p:nvPr/>
        </p:nvSpPr>
        <p:spPr>
          <a:xfrm>
            <a:off x="9070848" y="6515100"/>
            <a:ext cx="2468880" cy="137160"/>
          </a:xfrm>
          <a:prstGeom prst="rect">
            <a:avLst/>
          </a:prstGeom>
          <a:noFill/>
          <a:effectLst/>
        </p:spPr>
        <p:txBody>
          <a:bodyPr wrap="square" lIns="0" rIns="0" tIns="0" bIns="0" anchor="t">
            <a:noAutofit/>
          </a:bodyPr>
          <a:lstStyle/>
          <a:p>
            <a:pPr algn="l">
              <a:lnSpc>
                <a:spcPct val="105000"/>
              </a:lnSpc>
              <a:spcBef>
                <a:spcPts val="0"/>
              </a:spcBef>
              <a:spcAft>
                <a:spcPts val="0"/>
              </a:spcAft>
            </a:pPr>
            <a:r>
              <a:rPr sz="900" b="1">
                <a:solidFill>
                  <a:srgbClr val="1668AD"/>
                </a:solidFill>
                <a:latin typeface="Arial"/>
              </a:rPr>
              <a:t>Fewer editing conflicts</a:t>
            </a:r>
          </a:p>
        </p:txBody>
      </p:sp>
      <p:sp>
        <p:nvSpPr>
          <p:cNvPr id="200" name="Source and proposal footer"/>
          <p:cNvSpPr txBox="1"/>
          <p:nvPr/>
        </p:nvSpPr>
        <p:spPr>
          <a:xfrm>
            <a:off x="384048" y="6739128"/>
            <a:ext cx="11064240" cy="91440"/>
          </a:xfrm>
          <a:prstGeom prst="rect">
            <a:avLst/>
          </a:prstGeom>
          <a:noFill/>
          <a:effectLst/>
        </p:spPr>
        <p:txBody>
          <a:bodyPr wrap="square" lIns="0" rIns="0" tIns="0" bIns="0" anchor="t">
            <a:noAutofit/>
          </a:bodyPr>
          <a:lstStyle/>
          <a:p>
            <a:pPr algn="l">
              <a:lnSpc>
                <a:spcPct val="105000"/>
              </a:lnSpc>
              <a:spcBef>
                <a:spcPts val="0"/>
              </a:spcBef>
              <a:spcAft>
                <a:spcPts val="0"/>
              </a:spcAft>
            </a:pPr>
            <a:r>
              <a:rPr sz="700" b="0">
                <a:solidFill>
                  <a:srgbClr val="566B7E"/>
                </a:solidFill>
                <a:latin typeface="Arial"/>
              </a:rPr>
              <a:t>CRM TRANSFORMATION  |  Proposed workflow: ownership, contribution fields and hand-offs remain subject to validation.</a:t>
            </a:r>
          </a:p>
        </p:txBody>
      </p:sp>
      <p:sp>
        <p:nvSpPr>
          <p:cNvPr id="201" name="Page number"/>
          <p:cNvSpPr txBox="1"/>
          <p:nvPr/>
        </p:nvSpPr>
        <p:spPr>
          <a:xfrm>
            <a:off x="11594592" y="6729984"/>
            <a:ext cx="182880" cy="109728"/>
          </a:xfrm>
          <a:prstGeom prst="rect">
            <a:avLst/>
          </a:prstGeom>
          <a:noFill/>
          <a:effectLst/>
        </p:spPr>
        <p:txBody>
          <a:bodyPr wrap="square" lIns="0" rIns="0" tIns="0" bIns="0" anchor="t">
            <a:noAutofit/>
          </a:bodyPr>
          <a:lstStyle/>
          <a:p>
            <a:pPr algn="r">
              <a:lnSpc>
                <a:spcPct val="105000"/>
              </a:lnSpc>
              <a:spcBef>
                <a:spcPts val="0"/>
              </a:spcBef>
              <a:spcAft>
                <a:spcPts val="0"/>
              </a:spcAft>
            </a:pPr>
            <a:r>
              <a:rPr sz="750" b="0">
                <a:solidFill>
                  <a:srgbClr val="566B7E"/>
                </a:solidFill>
                <a:latin typeface="Arial"/>
              </a:rPr>
              <a:t>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 Risk input across platform CRM documents</dc:title>
  <dc:subject>Editable single-slide user journey for the proposed platform-level CRM process</dc:subject>
  <dc:creator>Daniel Grewal</dc:creator>
  <cp:keywords>CRM, Model Risk, process, user journey, platform, regional, editable</cp:keywords>
  <dc:description>Native PowerPoint objects; no rasterized diagram. Workflow details are proposed for validation.</dc:description>
  <cp:lastModifiedBy>Steve Canny</cp:lastModifiedBy>
  <cp:revision>1</cp:revision>
  <dcterms:created xsi:type="dcterms:W3CDTF">2013-01-27T09:14:16Z</dcterms:created>
  <dcterms:modified xsi:type="dcterms:W3CDTF">2013-01-27T09:15:58Z</dcterms:modified>
  <cp:category/>
</cp:coreProperties>
</file>