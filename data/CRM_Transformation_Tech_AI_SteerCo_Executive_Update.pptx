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C78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CRM TRANSFORMATION  |  TECH &amp; AI STEERCO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02920" y="6510528"/>
            <a:ext cx="11183112" cy="0"/>
          </a:xfrm>
          <a:prstGeom prst="line">
            <a:avLst/>
          </a:prstGeom>
          <a:noFill/>
          <a:ln w="10160">
            <a:solidFill>
              <a:srgbClr val="D9DEE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58368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4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Internal working draft  |  13 Sep 2026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5992" y="656539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8A949E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5992" y="656539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8A949E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84632"/>
            <a:ext cx="11109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CRM redesign is transitioning from discovery to enterprise delivery, with Methodology now the critical dependency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1060704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3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Top-down platform model confirmed; core document approved; automation built and tested; October rollout planned across Audit.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536192"/>
            <a:ext cx="2743200" cy="1901952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0160">
            <a:solidFill>
              <a:srgbClr val="D9DEE3"/>
            </a:solidFill>
            <a:prstDash val="solid"/>
          </a:ln>
          <a:effectLst>
            <a:outerShdw sx="100000" sy="100000" kx="0" ky="0" algn="bl" rotWithShape="0" blurRad="15240" dist="508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536192"/>
            <a:ext cx="73152" cy="1901952"/>
          </a:xfrm>
          <a:prstGeom prst="rect">
            <a:avLst/>
          </a:prstGeom>
          <a:solidFill>
            <a:srgbClr val="2F6B9A"/>
          </a:solidFill>
          <a:ln w="12700">
            <a:solidFill>
              <a:srgbClr val="2F6B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04088" y="1682496"/>
            <a:ext cx="2395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  Approach agreed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04088" y="2103120"/>
            <a:ext cx="2359152" cy="1188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27127" indent="-127127">
              <a:buSzPct val="100000"/>
              <a:buChar char="•"/>
            </a:pPr>
            <a:r>
              <a:rPr lang="en-US" sz="910" dirty="0">
                <a:solidFill>
                  <a:srgbClr val="263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Execute CRM at the platform level rather than separately at each AU.</a:t>
            </a:r>
            <a:endParaRPr lang="en-US" sz="910" dirty="0"/>
          </a:p>
          <a:p>
            <a:pPr marL="127127" indent="-127127">
              <a:buSzPct val="100000"/>
              <a:buChar char="•"/>
            </a:pPr>
            <a:r>
              <a:rPr lang="en-US" sz="910" dirty="0">
                <a:solidFill>
                  <a:srgbClr val="263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Retain regional views where required, including US regulatory requirements.</a:t>
            </a:r>
            <a:endParaRPr lang="en-US" sz="910" dirty="0"/>
          </a:p>
          <a:p>
            <a:pPr marL="127127" indent="-127127">
              <a:buSzPct val="100000"/>
              <a:buChar char="•"/>
            </a:pPr>
            <a:r>
              <a:rPr lang="en-US" sz="910" dirty="0">
                <a:solidFill>
                  <a:srgbClr val="263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principle: simplify execution without recreating the current AU-by-AU model.</a:t>
            </a:r>
            <a:endParaRPr lang="en-US" sz="910" dirty="0"/>
          </a:p>
        </p:txBody>
      </p:sp>
      <p:sp>
        <p:nvSpPr>
          <p:cNvPr id="8" name="Shape 6"/>
          <p:cNvSpPr/>
          <p:nvPr/>
        </p:nvSpPr>
        <p:spPr>
          <a:xfrm>
            <a:off x="3401568" y="1536192"/>
            <a:ext cx="2743200" cy="1901952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0160">
            <a:solidFill>
              <a:srgbClr val="D9DEE3"/>
            </a:solidFill>
            <a:prstDash val="solid"/>
          </a:ln>
          <a:effectLst>
            <a:outerShdw sx="100000" sy="100000" kx="0" ky="0" algn="bl" rotWithShape="0" blurRad="15240" dist="5080" dir="27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401568" y="1536192"/>
            <a:ext cx="73152" cy="1901952"/>
          </a:xfrm>
          <a:prstGeom prst="rect">
            <a:avLst/>
          </a:prstGeom>
          <a:solidFill>
            <a:srgbClr val="2A7F7A"/>
          </a:solidFill>
          <a:ln w="12700">
            <a:solidFill>
              <a:srgbClr val="2A7F7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02736" y="1682496"/>
            <a:ext cx="2395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  Where we are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602736" y="2103120"/>
            <a:ext cx="2359152" cy="1188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25730" indent="-125730">
              <a:buSzPct val="100000"/>
              <a:buChar char="•"/>
            </a:pPr>
            <a:r>
              <a:rPr lang="en-US" sz="900" dirty="0">
                <a:solidFill>
                  <a:srgbClr val="263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Standardized CRM document designed and approved at OC level.</a:t>
            </a:r>
            <a:endParaRPr lang="en-US" sz="900" dirty="0"/>
          </a:p>
          <a:p>
            <a:pPr marL="125730" indent="-125730">
              <a:buSzPct val="100000"/>
              <a:buChar char="•"/>
            </a:pPr>
            <a:r>
              <a:rPr lang="en-US" sz="900" dirty="0">
                <a:solidFill>
                  <a:srgbClr val="263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availability assessed across core pre-population sources.</a:t>
            </a:r>
            <a:endParaRPr lang="en-US" sz="900" dirty="0"/>
          </a:p>
          <a:p>
            <a:pPr marL="125730" indent="-125730">
              <a:buSzPct val="100000"/>
              <a:buChar char="•"/>
            </a:pPr>
            <a:r>
              <a:rPr lang="en-US" sz="900" dirty="0">
                <a:solidFill>
                  <a:srgbClr val="263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pipeline and AI agent built and tested.</a:t>
            </a:r>
            <a:endParaRPr lang="en-US" sz="900" dirty="0"/>
          </a:p>
          <a:p>
            <a:pPr marL="125730" indent="-125730">
              <a:buSzPct val="100000"/>
              <a:buChar char="•"/>
            </a:pPr>
            <a:r>
              <a:rPr lang="en-US" sz="900" dirty="0">
                <a:solidFill>
                  <a:srgbClr val="263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Remaining focus: cross-platform process, Methodology and Change &amp; Adoption.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300216" y="1536192"/>
            <a:ext cx="2743200" cy="1901952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0160">
            <a:solidFill>
              <a:srgbClr val="D9DEE3"/>
            </a:solidFill>
            <a:prstDash val="solid"/>
          </a:ln>
          <a:effectLst>
            <a:outerShdw sx="100000" sy="100000" kx="0" ky="0" algn="bl" rotWithShape="0" blurRad="15240" dist="5080" dir="27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300216" y="1536192"/>
            <a:ext cx="73152" cy="190195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01384" y="1682496"/>
            <a:ext cx="2395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  October delivery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501384" y="2103120"/>
            <a:ext cx="2359152" cy="1188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24333" indent="-124333">
              <a:buSzPct val="100000"/>
              <a:buChar char="•"/>
            </a:pPr>
            <a:r>
              <a:rPr lang="en-US" sz="890" dirty="0">
                <a:solidFill>
                  <a:srgbClr val="263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standardized CRM document for all Audit.</a:t>
            </a:r>
            <a:endParaRPr lang="en-US" sz="890" dirty="0"/>
          </a:p>
          <a:p>
            <a:pPr marL="124333" indent="-124333">
              <a:buSzPct val="100000"/>
              <a:buChar char="•"/>
            </a:pPr>
            <a:r>
              <a:rPr lang="en-US" sz="890" dirty="0">
                <a:solidFill>
                  <a:srgbClr val="263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Platform-level execution with regional views where required.</a:t>
            </a:r>
            <a:endParaRPr lang="en-US" sz="890" dirty="0"/>
          </a:p>
          <a:p>
            <a:pPr marL="124333" indent="-124333">
              <a:buSzPct val="100000"/>
              <a:buChar char="•"/>
            </a:pPr>
            <a:r>
              <a:rPr lang="en-US" sz="890" dirty="0">
                <a:solidFill>
                  <a:srgbClr val="263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Pre-populated content, including AI-generated executive movement summaries with supporting data and logic retained in the appendix.</a:t>
            </a:r>
            <a:endParaRPr lang="en-US" sz="890" dirty="0"/>
          </a:p>
          <a:p>
            <a:pPr marL="124333" indent="-124333">
              <a:buSzPct val="100000"/>
              <a:buChar char="•"/>
            </a:pPr>
            <a:r>
              <a:rPr lang="en-US" sz="890" dirty="0">
                <a:solidFill>
                  <a:srgbClr val="263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Redesigned methodology.</a:t>
            </a:r>
            <a:endParaRPr lang="en-US" sz="890" dirty="0"/>
          </a:p>
        </p:txBody>
      </p:sp>
      <p:sp>
        <p:nvSpPr>
          <p:cNvPr id="16" name="Shape 14"/>
          <p:cNvSpPr/>
          <p:nvPr/>
        </p:nvSpPr>
        <p:spPr>
          <a:xfrm>
            <a:off x="9198864" y="1536192"/>
            <a:ext cx="2487168" cy="1901952"/>
          </a:xfrm>
          <a:prstGeom prst="roundRect">
            <a:avLst>
              <a:gd name="adj" fmla="val 3846"/>
            </a:avLst>
          </a:prstGeom>
          <a:solidFill>
            <a:srgbClr val="FBEDEC"/>
          </a:solidFill>
          <a:ln w="10160">
            <a:solidFill>
              <a:srgbClr val="E7C7C5"/>
            </a:solidFill>
            <a:prstDash val="solid"/>
          </a:ln>
          <a:effectLst>
            <a:outerShdw sx="100000" sy="100000" kx="0" ky="0" algn="bl" rotWithShape="0" blurRad="15240" dist="5080" dir="27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198864" y="1536192"/>
            <a:ext cx="73152" cy="1901952"/>
          </a:xfrm>
          <a:prstGeom prst="rect">
            <a:avLst/>
          </a:prstGeom>
          <a:solidFill>
            <a:srgbClr val="B6413C"/>
          </a:solidFill>
          <a:ln w="12700">
            <a:solidFill>
              <a:srgbClr val="B6413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400032" y="1682496"/>
            <a:ext cx="2139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  SteerCo support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400032" y="2103120"/>
            <a:ext cx="2103120" cy="1188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22936" indent="-122936">
              <a:buSzPct val="100000"/>
              <a:buChar char="•"/>
            </a:pPr>
            <a:r>
              <a:rPr lang="en-US" sz="880" dirty="0">
                <a:solidFill>
                  <a:srgbClr val="263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Endorse direction and provide feedback on progress.</a:t>
            </a:r>
            <a:endParaRPr lang="en-US" sz="880" dirty="0"/>
          </a:p>
          <a:p>
            <a:pPr marL="122936" indent="-122936">
              <a:buSzPct val="100000"/>
              <a:buChar char="•"/>
            </a:pPr>
            <a:r>
              <a:rPr lang="en-US" sz="880" dirty="0">
                <a:solidFill>
                  <a:srgbClr val="263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Escalate with Head of Methodology: this is now the largest dependency to October delivery.</a:t>
            </a:r>
            <a:endParaRPr lang="en-US" sz="880" dirty="0"/>
          </a:p>
          <a:p>
            <a:pPr marL="122936" indent="-122936">
              <a:buSzPct val="100000"/>
              <a:buChar char="•"/>
            </a:pPr>
            <a:r>
              <a:rPr lang="en-US" sz="880" dirty="0">
                <a:solidFill>
                  <a:srgbClr val="263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Maintain awareness of delivery risk and decision points.</a:t>
            </a:r>
            <a:endParaRPr lang="en-US" sz="880" dirty="0"/>
          </a:p>
        </p:txBody>
      </p:sp>
      <p:sp>
        <p:nvSpPr>
          <p:cNvPr id="20" name="Text 18"/>
          <p:cNvSpPr/>
          <p:nvPr/>
        </p:nvSpPr>
        <p:spPr>
          <a:xfrm>
            <a:off x="502920" y="373075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2F6B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DELIVERY READINESS BY WORKSTREAM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02920" y="4041648"/>
            <a:ext cx="1764792" cy="850392"/>
          </a:xfrm>
          <a:prstGeom prst="roundRect">
            <a:avLst>
              <a:gd name="adj" fmla="val 8602"/>
            </a:avLst>
          </a:prstGeom>
          <a:solidFill>
            <a:srgbClr val="F5F7F9"/>
          </a:solidFill>
          <a:ln w="8890">
            <a:solidFill>
              <a:srgbClr val="D9DEE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4160520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263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CRM document</a:t>
            </a:r>
            <a:endParaRPr lang="en-US" sz="860" dirty="0"/>
          </a:p>
        </p:txBody>
      </p:sp>
      <p:sp>
        <p:nvSpPr>
          <p:cNvPr id="23" name="Shape 21"/>
          <p:cNvSpPr/>
          <p:nvPr/>
        </p:nvSpPr>
        <p:spPr>
          <a:xfrm>
            <a:off x="667512" y="4453128"/>
            <a:ext cx="1435608" cy="256032"/>
          </a:xfrm>
          <a:prstGeom prst="roundRect">
            <a:avLst>
              <a:gd name="adj" fmla="val 42857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3232" y="4503420"/>
            <a:ext cx="1344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COMPLETE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2377440" y="4041648"/>
            <a:ext cx="1764792" cy="850392"/>
          </a:xfrm>
          <a:prstGeom prst="roundRect">
            <a:avLst>
              <a:gd name="adj" fmla="val 8602"/>
            </a:avLst>
          </a:prstGeom>
          <a:solidFill>
            <a:srgbClr val="F5F7F9"/>
          </a:solidFill>
          <a:ln w="8890">
            <a:solidFill>
              <a:srgbClr val="D9DEE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468880" y="4160520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263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Discovery</a:t>
            </a:r>
            <a:endParaRPr lang="en-US" sz="860" dirty="0"/>
          </a:p>
        </p:txBody>
      </p:sp>
      <p:sp>
        <p:nvSpPr>
          <p:cNvPr id="27" name="Shape 25"/>
          <p:cNvSpPr/>
          <p:nvPr/>
        </p:nvSpPr>
        <p:spPr>
          <a:xfrm>
            <a:off x="2542032" y="4453128"/>
            <a:ext cx="1435608" cy="256032"/>
          </a:xfrm>
          <a:prstGeom prst="roundRect">
            <a:avLst>
              <a:gd name="adj" fmla="val 42857"/>
            </a:avLst>
          </a:prstGeom>
          <a:solidFill>
            <a:srgbClr val="2A7F7A"/>
          </a:solidFill>
          <a:ln w="12700">
            <a:solidFill>
              <a:srgbClr val="2A7F7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587752" y="4503420"/>
            <a:ext cx="1344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ADVANCED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4251960" y="4041648"/>
            <a:ext cx="1764792" cy="850392"/>
          </a:xfrm>
          <a:prstGeom prst="roundRect">
            <a:avLst>
              <a:gd name="adj" fmla="val 8602"/>
            </a:avLst>
          </a:prstGeom>
          <a:solidFill>
            <a:srgbClr val="F5F7F9"/>
          </a:solidFill>
          <a:ln w="8890">
            <a:solidFill>
              <a:srgbClr val="D9DEE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343400" y="4160520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263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Process design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416552" y="4453128"/>
            <a:ext cx="1435608" cy="256032"/>
          </a:xfrm>
          <a:prstGeom prst="roundRect">
            <a:avLst>
              <a:gd name="adj" fmla="val 42857"/>
            </a:avLst>
          </a:prstGeom>
          <a:solidFill>
            <a:srgbClr val="2F6B9A"/>
          </a:solidFill>
          <a:ln w="12700">
            <a:solidFill>
              <a:srgbClr val="2F6B9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462272" y="4503420"/>
            <a:ext cx="1344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PROGRESS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6126480" y="4041648"/>
            <a:ext cx="1764792" cy="850392"/>
          </a:xfrm>
          <a:prstGeom prst="roundRect">
            <a:avLst>
              <a:gd name="adj" fmla="val 8602"/>
            </a:avLst>
          </a:prstGeom>
          <a:solidFill>
            <a:srgbClr val="F5F7F9"/>
          </a:solidFill>
          <a:ln w="8890">
            <a:solidFill>
              <a:srgbClr val="D9DEE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17920" y="4160520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263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&amp; analytics</a:t>
            </a:r>
            <a:endParaRPr lang="en-US" sz="860" dirty="0"/>
          </a:p>
        </p:txBody>
      </p:sp>
      <p:sp>
        <p:nvSpPr>
          <p:cNvPr id="35" name="Shape 33"/>
          <p:cNvSpPr/>
          <p:nvPr/>
        </p:nvSpPr>
        <p:spPr>
          <a:xfrm>
            <a:off x="6291072" y="4453128"/>
            <a:ext cx="1435608" cy="256032"/>
          </a:xfrm>
          <a:prstGeom prst="roundRect">
            <a:avLst>
              <a:gd name="adj" fmla="val 42857"/>
            </a:avLst>
          </a:prstGeom>
          <a:solidFill>
            <a:srgbClr val="2A7F7A"/>
          </a:solidFill>
          <a:ln w="12700">
            <a:solidFill>
              <a:srgbClr val="2A7F7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36792" y="4503420"/>
            <a:ext cx="1344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ADVANCED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8001000" y="4041648"/>
            <a:ext cx="1764792" cy="850392"/>
          </a:xfrm>
          <a:prstGeom prst="roundRect">
            <a:avLst>
              <a:gd name="adj" fmla="val 8602"/>
            </a:avLst>
          </a:prstGeom>
          <a:solidFill>
            <a:srgbClr val="F5F7F9"/>
          </a:solidFill>
          <a:ln w="8890">
            <a:solidFill>
              <a:srgbClr val="D9DEE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092440" y="4160520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263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Methodology</a:t>
            </a:r>
            <a:endParaRPr lang="en-US" sz="860" dirty="0"/>
          </a:p>
        </p:txBody>
      </p:sp>
      <p:sp>
        <p:nvSpPr>
          <p:cNvPr id="39" name="Shape 37"/>
          <p:cNvSpPr/>
          <p:nvPr/>
        </p:nvSpPr>
        <p:spPr>
          <a:xfrm>
            <a:off x="8165592" y="4453128"/>
            <a:ext cx="1435608" cy="256032"/>
          </a:xfrm>
          <a:prstGeom prst="roundRect">
            <a:avLst>
              <a:gd name="adj" fmla="val 42857"/>
            </a:avLst>
          </a:prstGeom>
          <a:solidFill>
            <a:srgbClr val="B6413C"/>
          </a:solidFill>
          <a:ln w="12700">
            <a:solidFill>
              <a:srgbClr val="B6413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211312" y="4503420"/>
            <a:ext cx="1344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 RISK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9875520" y="4041648"/>
            <a:ext cx="1993392" cy="850392"/>
          </a:xfrm>
          <a:prstGeom prst="roundRect">
            <a:avLst>
              <a:gd name="adj" fmla="val 8602"/>
            </a:avLst>
          </a:prstGeom>
          <a:solidFill>
            <a:srgbClr val="F5F7F9"/>
          </a:solidFill>
          <a:ln w="8890">
            <a:solidFill>
              <a:srgbClr val="D9DEE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966960" y="4160520"/>
            <a:ext cx="1810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263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Change &amp; adoption</a:t>
            </a:r>
            <a:endParaRPr lang="en-US" sz="860" dirty="0"/>
          </a:p>
        </p:txBody>
      </p:sp>
      <p:sp>
        <p:nvSpPr>
          <p:cNvPr id="43" name="Shape 41"/>
          <p:cNvSpPr/>
          <p:nvPr/>
        </p:nvSpPr>
        <p:spPr>
          <a:xfrm>
            <a:off x="10040112" y="4453128"/>
            <a:ext cx="1664208" cy="256032"/>
          </a:xfrm>
          <a:prstGeom prst="roundRect">
            <a:avLst>
              <a:gd name="adj" fmla="val 42857"/>
            </a:avLst>
          </a:prstGeom>
          <a:solidFill>
            <a:srgbClr val="7B8792"/>
          </a:solidFill>
          <a:ln w="12700">
            <a:solidFill>
              <a:srgbClr val="7B879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0085832" y="4503420"/>
            <a:ext cx="15727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STARTED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502920" y="5212080"/>
            <a:ext cx="11183112" cy="877824"/>
          </a:xfrm>
          <a:prstGeom prst="roundRect">
            <a:avLst>
              <a:gd name="adj" fmla="val 8333"/>
            </a:avLst>
          </a:prstGeom>
          <a:solidFill>
            <a:srgbClr val="FFF5DD"/>
          </a:solidFill>
          <a:ln w="10160">
            <a:solidFill>
              <a:srgbClr val="E8D7A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13232" y="5431536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58A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Executive takeaway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2103120" y="5358384"/>
            <a:ext cx="9125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operating model and enabling automation are materially advanced. The primary risk has shifted from solution design to timely Methodology delivery and enterprise change readiness.</a:t>
            </a:r>
            <a:endParaRPr lang="en-US" sz="1320" dirty="0"/>
          </a:p>
        </p:txBody>
      </p:sp>
      <p:sp>
        <p:nvSpPr>
          <p:cNvPr id="48" name="Text 46"/>
          <p:cNvSpPr/>
          <p:nvPr/>
        </p:nvSpPr>
        <p:spPr>
          <a:xfrm>
            <a:off x="7406640" y="658368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94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CRM transformation discovery and design status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5992" y="656539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8A949E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84632"/>
            <a:ext cx="11109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October delivery moves CRM from fragmented AU execution to a standardized platform + regional operating model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1060704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3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Scope is enterprise-wide; remaining design work is concentrated in teams whose AUs span multiple platforms.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144475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2F6B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OPERATING MODEL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502920" y="1737360"/>
            <a:ext cx="2880360" cy="2103120"/>
          </a:xfrm>
          <a:prstGeom prst="roundRect">
            <a:avLst>
              <a:gd name="adj" fmla="val 3478"/>
            </a:avLst>
          </a:prstGeom>
          <a:solidFill>
            <a:srgbClr val="F5F7F9"/>
          </a:solidFill>
          <a:ln w="12700">
            <a:solidFill>
              <a:srgbClr val="D9DE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92024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641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TODAY  |  AU-LEVEL CRM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78992" y="2267712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Capital Markets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04672" y="2697480"/>
            <a:ext cx="2267712" cy="21945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7620">
            <a:solidFill>
              <a:srgbClr val="C9D0D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96112" y="2752344"/>
            <a:ext cx="20848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dirty="0">
                <a:solidFill>
                  <a:srgbClr val="263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Global Markets AU</a:t>
            </a:r>
            <a:endParaRPr lang="en-US" sz="780" dirty="0"/>
          </a:p>
        </p:txBody>
      </p:sp>
      <p:sp>
        <p:nvSpPr>
          <p:cNvPr id="10" name="Shape 8"/>
          <p:cNvSpPr/>
          <p:nvPr/>
        </p:nvSpPr>
        <p:spPr>
          <a:xfrm>
            <a:off x="804672" y="2971800"/>
            <a:ext cx="2267712" cy="21945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7620">
            <a:solidFill>
              <a:srgbClr val="C9D0D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3026664"/>
            <a:ext cx="20848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dirty="0">
                <a:solidFill>
                  <a:srgbClr val="263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Corporate Banking AU</a:t>
            </a:r>
            <a:endParaRPr lang="en-US" sz="780" dirty="0"/>
          </a:p>
        </p:txBody>
      </p:sp>
      <p:sp>
        <p:nvSpPr>
          <p:cNvPr id="12" name="Shape 10"/>
          <p:cNvSpPr/>
          <p:nvPr/>
        </p:nvSpPr>
        <p:spPr>
          <a:xfrm>
            <a:off x="804672" y="3246120"/>
            <a:ext cx="2267712" cy="21945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7620">
            <a:solidFill>
              <a:srgbClr val="C9D0D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96112" y="3300984"/>
            <a:ext cx="20848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dirty="0">
                <a:solidFill>
                  <a:srgbClr val="263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COO AU</a:t>
            </a:r>
            <a:endParaRPr lang="en-US" sz="780" dirty="0"/>
          </a:p>
        </p:txBody>
      </p:sp>
      <p:sp>
        <p:nvSpPr>
          <p:cNvPr id="14" name="Shape 12"/>
          <p:cNvSpPr/>
          <p:nvPr/>
        </p:nvSpPr>
        <p:spPr>
          <a:xfrm>
            <a:off x="804672" y="3520440"/>
            <a:ext cx="2267712" cy="21945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7620">
            <a:solidFill>
              <a:srgbClr val="C9D0D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6112" y="3575304"/>
            <a:ext cx="20848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dirty="0">
                <a:solidFill>
                  <a:srgbClr val="263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…other AUs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3493008" y="2788920"/>
            <a:ext cx="640080" cy="0"/>
          </a:xfrm>
          <a:prstGeom prst="line">
            <a:avLst/>
          </a:prstGeom>
          <a:noFill/>
          <a:ln w="27940">
            <a:solidFill>
              <a:srgbClr val="2F6B9A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4224528" y="1737360"/>
            <a:ext cx="3154680" cy="2103120"/>
          </a:xfrm>
          <a:prstGeom prst="roundRect">
            <a:avLst>
              <a:gd name="adj" fmla="val 3478"/>
            </a:avLst>
          </a:prstGeom>
          <a:solidFill>
            <a:srgbClr val="EAF2F8"/>
          </a:solidFill>
          <a:ln w="12700">
            <a:solidFill>
              <a:srgbClr val="BFD4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71416" y="192024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F6B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OCTOBER  |  PLATFORM CRM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617720" y="2267712"/>
            <a:ext cx="23591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Capital Markets CRM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489704" y="2816352"/>
            <a:ext cx="713232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8890">
            <a:solidFill>
              <a:srgbClr val="AFC7D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17136" y="2894076"/>
            <a:ext cx="6583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F6B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Canada</a:t>
            </a:r>
            <a:endParaRPr lang="en-US" sz="740" dirty="0"/>
          </a:p>
        </p:txBody>
      </p:sp>
      <p:sp>
        <p:nvSpPr>
          <p:cNvPr id="22" name="Shape 20"/>
          <p:cNvSpPr/>
          <p:nvPr/>
        </p:nvSpPr>
        <p:spPr>
          <a:xfrm>
            <a:off x="5340096" y="2816352"/>
            <a:ext cx="713232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8890">
            <a:solidFill>
              <a:srgbClr val="AFC7D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67528" y="2894076"/>
            <a:ext cx="6583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F6B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</a:t>
            </a:r>
            <a:endParaRPr lang="en-US" sz="740" dirty="0"/>
          </a:p>
        </p:txBody>
      </p:sp>
      <p:sp>
        <p:nvSpPr>
          <p:cNvPr id="24" name="Shape 22"/>
          <p:cNvSpPr/>
          <p:nvPr/>
        </p:nvSpPr>
        <p:spPr>
          <a:xfrm>
            <a:off x="6190488" y="2816352"/>
            <a:ext cx="713232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8890">
            <a:solidFill>
              <a:srgbClr val="AFC7D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17920" y="2894076"/>
            <a:ext cx="6583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F6B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Caribbean</a:t>
            </a:r>
            <a:endParaRPr lang="en-US" sz="740" dirty="0"/>
          </a:p>
        </p:txBody>
      </p:sp>
      <p:sp>
        <p:nvSpPr>
          <p:cNvPr id="26" name="Shape 24"/>
          <p:cNvSpPr/>
          <p:nvPr/>
        </p:nvSpPr>
        <p:spPr>
          <a:xfrm>
            <a:off x="4489704" y="3236976"/>
            <a:ext cx="713232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8890">
            <a:solidFill>
              <a:srgbClr val="AFC7D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17136" y="3314700"/>
            <a:ext cx="6583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F6B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EU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5340096" y="3236976"/>
            <a:ext cx="713232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8890">
            <a:solidFill>
              <a:srgbClr val="AFC7D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67528" y="3314700"/>
            <a:ext cx="6583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F6B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APAC</a:t>
            </a:r>
            <a:endParaRPr lang="en-US" sz="740" dirty="0"/>
          </a:p>
        </p:txBody>
      </p:sp>
      <p:sp>
        <p:nvSpPr>
          <p:cNvPr id="30" name="Text 28"/>
          <p:cNvSpPr/>
          <p:nvPr/>
        </p:nvSpPr>
        <p:spPr>
          <a:xfrm>
            <a:off x="4526280" y="3675888"/>
            <a:ext cx="2560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i="1" dirty="0">
                <a:solidFill>
                  <a:srgbClr val="6673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platform view; regional views where required</a:t>
            </a:r>
            <a:endParaRPr lang="en-US" sz="820" dirty="0"/>
          </a:p>
        </p:txBody>
      </p:sp>
      <p:sp>
        <p:nvSpPr>
          <p:cNvPr id="31" name="Text 29"/>
          <p:cNvSpPr/>
          <p:nvPr/>
        </p:nvSpPr>
        <p:spPr>
          <a:xfrm>
            <a:off x="7699248" y="144475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2F6B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USERS RECEIVE IN OCTOBER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735824" y="1773936"/>
            <a:ext cx="310896" cy="310896"/>
          </a:xfrm>
          <a:prstGeom prst="ellipse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35824" y="1842516"/>
            <a:ext cx="310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8156448" y="1755648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263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Standardized CRM document</a:t>
            </a:r>
            <a:endParaRPr lang="en-US" sz="960" dirty="0"/>
          </a:p>
        </p:txBody>
      </p:sp>
      <p:sp>
        <p:nvSpPr>
          <p:cNvPr id="35" name="Text 33"/>
          <p:cNvSpPr/>
          <p:nvPr/>
        </p:nvSpPr>
        <p:spPr>
          <a:xfrm>
            <a:off x="8156448" y="1993392"/>
            <a:ext cx="3127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6673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OC-approved document structure applied consistently across Audit.</a:t>
            </a:r>
            <a:endParaRPr lang="en-US" sz="840" dirty="0"/>
          </a:p>
        </p:txBody>
      </p:sp>
      <p:sp>
        <p:nvSpPr>
          <p:cNvPr id="36" name="Shape 34"/>
          <p:cNvSpPr/>
          <p:nvPr/>
        </p:nvSpPr>
        <p:spPr>
          <a:xfrm>
            <a:off x="7735824" y="2478024"/>
            <a:ext cx="310896" cy="310896"/>
          </a:xfrm>
          <a:prstGeom prst="ellipse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735824" y="2546604"/>
            <a:ext cx="310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8156448" y="2459736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263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Platform + regional structure</a:t>
            </a:r>
            <a:endParaRPr lang="en-US" sz="960" dirty="0"/>
          </a:p>
        </p:txBody>
      </p:sp>
      <p:sp>
        <p:nvSpPr>
          <p:cNvPr id="39" name="Text 37"/>
          <p:cNvSpPr/>
          <p:nvPr/>
        </p:nvSpPr>
        <p:spPr>
          <a:xfrm>
            <a:off x="8156448" y="2697480"/>
            <a:ext cx="3127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6673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Platform-level execution with regional views embedded where required.</a:t>
            </a:r>
            <a:endParaRPr lang="en-US" sz="840" dirty="0"/>
          </a:p>
        </p:txBody>
      </p:sp>
      <p:sp>
        <p:nvSpPr>
          <p:cNvPr id="40" name="Shape 38"/>
          <p:cNvSpPr/>
          <p:nvPr/>
        </p:nvSpPr>
        <p:spPr>
          <a:xfrm>
            <a:off x="7735824" y="3182112"/>
            <a:ext cx="310896" cy="310896"/>
          </a:xfrm>
          <a:prstGeom prst="ellipse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735824" y="3250692"/>
            <a:ext cx="310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8156448" y="3163824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263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Pre-populated evidence</a:t>
            </a:r>
            <a:endParaRPr lang="en-US" sz="960" dirty="0"/>
          </a:p>
        </p:txBody>
      </p:sp>
      <p:sp>
        <p:nvSpPr>
          <p:cNvPr id="43" name="Text 41"/>
          <p:cNvSpPr/>
          <p:nvPr/>
        </p:nvSpPr>
        <p:spPr>
          <a:xfrm>
            <a:off x="8156448" y="3401568"/>
            <a:ext cx="3127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6673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AI-generated executive movement summary plus supporting data and logic in the document appendix.</a:t>
            </a:r>
            <a:endParaRPr lang="en-US" sz="840" dirty="0"/>
          </a:p>
        </p:txBody>
      </p:sp>
      <p:sp>
        <p:nvSpPr>
          <p:cNvPr id="44" name="Shape 42"/>
          <p:cNvSpPr/>
          <p:nvPr/>
        </p:nvSpPr>
        <p:spPr>
          <a:xfrm>
            <a:off x="7735824" y="3886200"/>
            <a:ext cx="310896" cy="310896"/>
          </a:xfrm>
          <a:prstGeom prst="ellipse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735824" y="3954780"/>
            <a:ext cx="310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8156448" y="3867912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263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Redesigned methodology</a:t>
            </a:r>
            <a:endParaRPr lang="en-US" sz="960" dirty="0"/>
          </a:p>
        </p:txBody>
      </p:sp>
      <p:sp>
        <p:nvSpPr>
          <p:cNvPr id="47" name="Text 45"/>
          <p:cNvSpPr/>
          <p:nvPr/>
        </p:nvSpPr>
        <p:spPr>
          <a:xfrm>
            <a:off x="8156448" y="4105656"/>
            <a:ext cx="3127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6673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Updated methodology aligned to the new operating model and document.</a:t>
            </a:r>
            <a:endParaRPr lang="en-US" sz="840" dirty="0"/>
          </a:p>
        </p:txBody>
      </p:sp>
      <p:sp>
        <p:nvSpPr>
          <p:cNvPr id="48" name="Text 46"/>
          <p:cNvSpPr/>
          <p:nvPr/>
        </p:nvSpPr>
        <p:spPr>
          <a:xfrm>
            <a:off x="502920" y="418795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2F6B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ENTERPRISE SCOPE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502920" y="4462272"/>
            <a:ext cx="7269480" cy="1627632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12700">
            <a:solidFill>
              <a:srgbClr val="D9DEE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04088" y="4645152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2F6B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Platform audit teams</a:t>
            </a:r>
            <a:endParaRPr lang="en-US" sz="920" dirty="0"/>
          </a:p>
        </p:txBody>
      </p:sp>
      <p:sp>
        <p:nvSpPr>
          <p:cNvPr id="51" name="Text 49"/>
          <p:cNvSpPr/>
          <p:nvPr/>
        </p:nvSpPr>
        <p:spPr>
          <a:xfrm>
            <a:off x="713232" y="4919472"/>
            <a:ext cx="2249424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15951" indent="-115951">
              <a:buSzPct val="100000"/>
              <a:buChar char="•"/>
            </a:pPr>
            <a:r>
              <a:rPr lang="en-US" sz="830" dirty="0">
                <a:solidFill>
                  <a:srgbClr val="263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Capital Markets</a:t>
            </a:r>
            <a:endParaRPr lang="en-US" sz="830" dirty="0"/>
          </a:p>
          <a:p>
            <a:pPr marL="115951" indent="-115951">
              <a:buSzPct val="100000"/>
              <a:buChar char="•"/>
            </a:pPr>
            <a:r>
              <a:rPr lang="en-US" sz="830" dirty="0">
                <a:solidFill>
                  <a:srgbClr val="263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Wealth Management</a:t>
            </a:r>
            <a:endParaRPr lang="en-US" sz="830" dirty="0"/>
          </a:p>
          <a:p>
            <a:pPr marL="115951" indent="-115951">
              <a:buSzPct val="100000"/>
              <a:buChar char="•"/>
            </a:pPr>
            <a:r>
              <a:rPr lang="en-US" sz="830" dirty="0">
                <a:solidFill>
                  <a:srgbClr val="263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Personal Banking</a:t>
            </a:r>
            <a:endParaRPr lang="en-US" sz="830" dirty="0"/>
          </a:p>
          <a:p>
            <a:pPr marL="115951" indent="-115951">
              <a:buSzPct val="100000"/>
              <a:buChar char="•"/>
            </a:pPr>
            <a:r>
              <a:rPr lang="en-US" sz="830" dirty="0">
                <a:solidFill>
                  <a:srgbClr val="263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Commercial Banking</a:t>
            </a:r>
            <a:endParaRPr lang="en-US" sz="830" dirty="0"/>
          </a:p>
          <a:p>
            <a:pPr marL="115951" indent="-115951">
              <a:buSzPct val="100000"/>
              <a:buChar char="•"/>
            </a:pPr>
            <a:r>
              <a:rPr lang="en-US" sz="830" dirty="0">
                <a:solidFill>
                  <a:srgbClr val="263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RBC Bank Georgia</a:t>
            </a:r>
            <a:endParaRPr lang="en-US" sz="830" dirty="0"/>
          </a:p>
          <a:p>
            <a:pPr marL="115951" indent="-115951">
              <a:buSzPct val="100000"/>
              <a:buChar char="•"/>
            </a:pPr>
            <a:r>
              <a:rPr lang="en-US" sz="830" dirty="0">
                <a:solidFill>
                  <a:srgbClr val="263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CNB</a:t>
            </a:r>
            <a:endParaRPr lang="en-US" sz="830" dirty="0"/>
          </a:p>
          <a:p>
            <a:pPr marL="115951" indent="-115951">
              <a:buSzPct val="100000"/>
              <a:buChar char="•"/>
            </a:pPr>
            <a:r>
              <a:rPr lang="en-US" sz="830" dirty="0">
                <a:solidFill>
                  <a:srgbClr val="263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Technology &amp; Operations</a:t>
            </a:r>
            <a:endParaRPr lang="en-US" sz="830" dirty="0"/>
          </a:p>
        </p:txBody>
      </p:sp>
      <p:sp>
        <p:nvSpPr>
          <p:cNvPr id="52" name="Text 50"/>
          <p:cNvSpPr/>
          <p:nvPr/>
        </p:nvSpPr>
        <p:spPr>
          <a:xfrm>
            <a:off x="3145536" y="4919472"/>
            <a:ext cx="2304288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15951" indent="-115951">
              <a:buSzPct val="100000"/>
              <a:buChar char="•"/>
            </a:pPr>
            <a:r>
              <a:rPr lang="en-US" sz="830" dirty="0">
                <a:solidFill>
                  <a:srgbClr val="263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Compliance</a:t>
            </a:r>
            <a:endParaRPr lang="en-US" sz="830" dirty="0"/>
          </a:p>
          <a:p>
            <a:pPr marL="115951" indent="-115951">
              <a:buSzPct val="100000"/>
              <a:buChar char="•"/>
            </a:pPr>
            <a:r>
              <a:rPr lang="en-US" sz="830" dirty="0">
                <a:solidFill>
                  <a:srgbClr val="263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GRM</a:t>
            </a:r>
            <a:endParaRPr lang="en-US" sz="830" dirty="0"/>
          </a:p>
          <a:p>
            <a:pPr marL="115951" indent="-115951">
              <a:buSzPct val="100000"/>
              <a:buChar char="•"/>
            </a:pPr>
            <a:r>
              <a:rPr lang="en-US" sz="830" dirty="0">
                <a:solidFill>
                  <a:srgbClr val="263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CFO</a:t>
            </a:r>
            <a:endParaRPr lang="en-US" sz="830" dirty="0"/>
          </a:p>
          <a:p>
            <a:pPr marL="115951" indent="-115951">
              <a:buSzPct val="100000"/>
              <a:buChar char="•"/>
            </a:pPr>
            <a:r>
              <a:rPr lang="en-US" sz="830" dirty="0">
                <a:solidFill>
                  <a:srgbClr val="263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HR</a:t>
            </a:r>
            <a:endParaRPr lang="en-US" sz="830" dirty="0"/>
          </a:p>
          <a:p>
            <a:pPr marL="115951" indent="-115951">
              <a:buSzPct val="100000"/>
              <a:buChar char="•"/>
            </a:pPr>
            <a:r>
              <a:rPr lang="en-US" sz="830" dirty="0">
                <a:solidFill>
                  <a:srgbClr val="263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CLAO</a:t>
            </a:r>
            <a:endParaRPr lang="en-US" sz="830" dirty="0"/>
          </a:p>
          <a:p>
            <a:pPr marL="115951" indent="-115951">
              <a:buSzPct val="100000"/>
              <a:buChar char="•"/>
            </a:pPr>
            <a:r>
              <a:rPr lang="en-US" sz="830" dirty="0">
                <a:solidFill>
                  <a:srgbClr val="263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Insurance</a:t>
            </a:r>
            <a:endParaRPr lang="en-US" sz="830" dirty="0"/>
          </a:p>
          <a:p>
            <a:pPr marL="115951" indent="-115951">
              <a:buSzPct val="100000"/>
              <a:buChar char="•"/>
            </a:pPr>
            <a:r>
              <a:rPr lang="en-US" sz="830" dirty="0">
                <a:solidFill>
                  <a:srgbClr val="263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Financial Crimes (2nd line)</a:t>
            </a:r>
            <a:endParaRPr lang="en-US" sz="830" dirty="0"/>
          </a:p>
        </p:txBody>
      </p:sp>
      <p:sp>
        <p:nvSpPr>
          <p:cNvPr id="53" name="Text 51"/>
          <p:cNvSpPr/>
          <p:nvPr/>
        </p:nvSpPr>
        <p:spPr>
          <a:xfrm>
            <a:off x="5779008" y="4709160"/>
            <a:ext cx="1783080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73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Regional views are defined by platform and regulatory need (e.g., CM: Canada / US / Caribbean / EU / APAC).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7973568" y="4462272"/>
            <a:ext cx="3712464" cy="1627632"/>
          </a:xfrm>
          <a:prstGeom prst="roundRect">
            <a:avLst>
              <a:gd name="adj" fmla="val 3371"/>
            </a:avLst>
          </a:prstGeom>
          <a:solidFill>
            <a:srgbClr val="FFF5DD"/>
          </a:solidFill>
          <a:ln w="12700">
            <a:solidFill>
              <a:srgbClr val="E9D6A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183880" y="4645152"/>
            <a:ext cx="3273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C58A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Cross-platform teams — remaining process design</a:t>
            </a:r>
            <a:endParaRPr lang="en-US" sz="920" dirty="0"/>
          </a:p>
        </p:txBody>
      </p:sp>
      <p:sp>
        <p:nvSpPr>
          <p:cNvPr id="56" name="Text 54"/>
          <p:cNvSpPr/>
          <p:nvPr/>
        </p:nvSpPr>
        <p:spPr>
          <a:xfrm>
            <a:off x="8183880" y="4937760"/>
            <a:ext cx="1737360" cy="9326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17348" indent="-117348">
              <a:buSzPct val="100000"/>
              <a:buChar char="•"/>
            </a:pPr>
            <a:r>
              <a:rPr lang="en-US" sz="840" dirty="0">
                <a:solidFill>
                  <a:srgbClr val="263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Global Credit Risk</a:t>
            </a:r>
            <a:endParaRPr lang="en-US" sz="840" dirty="0"/>
          </a:p>
          <a:p>
            <a:pPr marL="117348" indent="-117348">
              <a:buSzPct val="100000"/>
              <a:buChar char="•"/>
            </a:pPr>
            <a:r>
              <a:rPr lang="en-US" sz="840" dirty="0">
                <a:solidFill>
                  <a:srgbClr val="263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Risk</a:t>
            </a:r>
            <a:endParaRPr lang="en-US" sz="840" dirty="0"/>
          </a:p>
          <a:p>
            <a:pPr marL="117348" indent="-117348">
              <a:buSzPct val="100000"/>
              <a:buChar char="•"/>
            </a:pPr>
            <a:r>
              <a:rPr lang="en-US" sz="840" dirty="0">
                <a:solidFill>
                  <a:srgbClr val="263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Banking Operations</a:t>
            </a:r>
            <a:endParaRPr lang="en-US" sz="840" dirty="0"/>
          </a:p>
          <a:p>
            <a:pPr marL="117348" indent="-117348">
              <a:buSzPct val="100000"/>
              <a:buChar char="•"/>
            </a:pPr>
            <a:r>
              <a:rPr lang="en-US" sz="840" dirty="0">
                <a:solidFill>
                  <a:srgbClr val="263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Financial Crimes (1st line)</a:t>
            </a:r>
            <a:endParaRPr lang="en-US" sz="840" dirty="0"/>
          </a:p>
        </p:txBody>
      </p:sp>
      <p:sp>
        <p:nvSpPr>
          <p:cNvPr id="57" name="Text 55"/>
          <p:cNvSpPr/>
          <p:nvPr/>
        </p:nvSpPr>
        <p:spPr>
          <a:xfrm>
            <a:off x="9930384" y="4956048"/>
            <a:ext cx="1517904" cy="7132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263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question: how these teams contribute at platform level without recreating AU-level CRM.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7406640" y="658368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94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Scope based on current Audit platform structure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5992" y="656539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8A949E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84632"/>
            <a:ext cx="11109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Core build is advanced; Methodology is the primary risk to October delivery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1060704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3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Known September milestones are defined; remaining October milestones are intentionally left undated for completion.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144475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2F6B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WORKSTREAM READINESS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502920" y="1737360"/>
            <a:ext cx="5788152" cy="347472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12648" y="1828800"/>
            <a:ext cx="1417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WORKSTREAM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286000" y="1828800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STATUS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310128" y="1828800"/>
            <a:ext cx="2788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POSITION / REMAINING WORK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02920" y="2084832"/>
            <a:ext cx="5788152" cy="521208"/>
          </a:xfrm>
          <a:prstGeom prst="rect">
            <a:avLst/>
          </a:prstGeom>
          <a:solidFill>
            <a:srgbClr val="FFFFFF"/>
          </a:solidFill>
          <a:ln w="5080">
            <a:solidFill>
              <a:srgbClr val="D9DEE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2648" y="2249424"/>
            <a:ext cx="1490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263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CRM document</a:t>
            </a:r>
            <a:endParaRPr lang="en-US" sz="880" dirty="0"/>
          </a:p>
        </p:txBody>
      </p:sp>
      <p:sp>
        <p:nvSpPr>
          <p:cNvPr id="11" name="Shape 9"/>
          <p:cNvSpPr/>
          <p:nvPr/>
        </p:nvSpPr>
        <p:spPr>
          <a:xfrm>
            <a:off x="2240280" y="2217420"/>
            <a:ext cx="960120" cy="256032"/>
          </a:xfrm>
          <a:prstGeom prst="roundRect">
            <a:avLst>
              <a:gd name="adj" fmla="val 42857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86000" y="2267712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COMPLETE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3310128" y="2194560"/>
            <a:ext cx="2761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63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OC-approved standardized document</a:t>
            </a:r>
            <a:endParaRPr lang="en-US" sz="820" dirty="0"/>
          </a:p>
        </p:txBody>
      </p:sp>
      <p:sp>
        <p:nvSpPr>
          <p:cNvPr id="14" name="Shape 12"/>
          <p:cNvSpPr/>
          <p:nvPr/>
        </p:nvSpPr>
        <p:spPr>
          <a:xfrm>
            <a:off x="502920" y="2606040"/>
            <a:ext cx="5788152" cy="521208"/>
          </a:xfrm>
          <a:prstGeom prst="rect">
            <a:avLst/>
          </a:prstGeom>
          <a:solidFill>
            <a:srgbClr val="F7F9FA"/>
          </a:solidFill>
          <a:ln w="5080">
            <a:solidFill>
              <a:srgbClr val="D9DEE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2648" y="2770632"/>
            <a:ext cx="1490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263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Discovery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2240280" y="2738628"/>
            <a:ext cx="960120" cy="256032"/>
          </a:xfrm>
          <a:prstGeom prst="roundRect">
            <a:avLst>
              <a:gd name="adj" fmla="val 42857"/>
            </a:avLst>
          </a:prstGeom>
          <a:solidFill>
            <a:srgbClr val="2A7F7A"/>
          </a:solidFill>
          <a:ln w="12700">
            <a:solidFill>
              <a:srgbClr val="2A7F7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86000" y="2788920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ADVANCED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3310128" y="2715768"/>
            <a:ext cx="2761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63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availability and user insights largely established</a:t>
            </a:r>
            <a:endParaRPr lang="en-US" sz="820" dirty="0"/>
          </a:p>
        </p:txBody>
      </p:sp>
      <p:sp>
        <p:nvSpPr>
          <p:cNvPr id="19" name="Shape 17"/>
          <p:cNvSpPr/>
          <p:nvPr/>
        </p:nvSpPr>
        <p:spPr>
          <a:xfrm>
            <a:off x="502920" y="3127248"/>
            <a:ext cx="5788152" cy="521208"/>
          </a:xfrm>
          <a:prstGeom prst="rect">
            <a:avLst/>
          </a:prstGeom>
          <a:solidFill>
            <a:srgbClr val="FFFFFF"/>
          </a:solidFill>
          <a:ln w="5080">
            <a:solidFill>
              <a:srgbClr val="D9DEE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2648" y="3291840"/>
            <a:ext cx="1490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263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Process design</a:t>
            </a:r>
            <a:endParaRPr lang="en-US" sz="880" dirty="0"/>
          </a:p>
        </p:txBody>
      </p:sp>
      <p:sp>
        <p:nvSpPr>
          <p:cNvPr id="21" name="Shape 19"/>
          <p:cNvSpPr/>
          <p:nvPr/>
        </p:nvSpPr>
        <p:spPr>
          <a:xfrm>
            <a:off x="2240280" y="3259836"/>
            <a:ext cx="960120" cy="256032"/>
          </a:xfrm>
          <a:prstGeom prst="roundRect">
            <a:avLst>
              <a:gd name="adj" fmla="val 42857"/>
            </a:avLst>
          </a:prstGeom>
          <a:solidFill>
            <a:srgbClr val="2F6B9A"/>
          </a:solidFill>
          <a:ln w="12700">
            <a:solidFill>
              <a:srgbClr val="2F6B9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286000" y="331012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PROGRESS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3310128" y="3236976"/>
            <a:ext cx="2761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63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Finalize user journey and cross-platform team model</a:t>
            </a:r>
            <a:endParaRPr lang="en-US" sz="820" dirty="0"/>
          </a:p>
        </p:txBody>
      </p:sp>
      <p:sp>
        <p:nvSpPr>
          <p:cNvPr id="24" name="Shape 22"/>
          <p:cNvSpPr/>
          <p:nvPr/>
        </p:nvSpPr>
        <p:spPr>
          <a:xfrm>
            <a:off x="502920" y="3648456"/>
            <a:ext cx="5788152" cy="521208"/>
          </a:xfrm>
          <a:prstGeom prst="rect">
            <a:avLst/>
          </a:prstGeom>
          <a:solidFill>
            <a:srgbClr val="F7F9FA"/>
          </a:solidFill>
          <a:ln w="5080">
            <a:solidFill>
              <a:srgbClr val="D9DEE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2648" y="3813048"/>
            <a:ext cx="1490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263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&amp; Analytics</a:t>
            </a:r>
            <a:endParaRPr lang="en-US" sz="880" dirty="0"/>
          </a:p>
        </p:txBody>
      </p:sp>
      <p:sp>
        <p:nvSpPr>
          <p:cNvPr id="26" name="Shape 24"/>
          <p:cNvSpPr/>
          <p:nvPr/>
        </p:nvSpPr>
        <p:spPr>
          <a:xfrm>
            <a:off x="2240280" y="3781044"/>
            <a:ext cx="960120" cy="256032"/>
          </a:xfrm>
          <a:prstGeom prst="roundRect">
            <a:avLst>
              <a:gd name="adj" fmla="val 42857"/>
            </a:avLst>
          </a:prstGeom>
          <a:solidFill>
            <a:srgbClr val="2A7F7A"/>
          </a:solidFill>
          <a:ln w="12700">
            <a:solidFill>
              <a:srgbClr val="2A7F7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286000" y="3831336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ADVANCED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3310128" y="3758184"/>
            <a:ext cx="2761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63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Pipeline and AI agent built/tested; complete platform validation</a:t>
            </a:r>
            <a:endParaRPr lang="en-US" sz="820" dirty="0"/>
          </a:p>
        </p:txBody>
      </p:sp>
      <p:sp>
        <p:nvSpPr>
          <p:cNvPr id="29" name="Shape 27"/>
          <p:cNvSpPr/>
          <p:nvPr/>
        </p:nvSpPr>
        <p:spPr>
          <a:xfrm>
            <a:off x="502920" y="4169664"/>
            <a:ext cx="5788152" cy="521208"/>
          </a:xfrm>
          <a:prstGeom prst="rect">
            <a:avLst/>
          </a:prstGeom>
          <a:solidFill>
            <a:srgbClr val="FFFFFF"/>
          </a:solidFill>
          <a:ln w="5080">
            <a:solidFill>
              <a:srgbClr val="D9DEE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2648" y="4334256"/>
            <a:ext cx="1490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263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Methodology</a:t>
            </a:r>
            <a:endParaRPr lang="en-US" sz="880" dirty="0"/>
          </a:p>
        </p:txBody>
      </p:sp>
      <p:sp>
        <p:nvSpPr>
          <p:cNvPr id="31" name="Shape 29"/>
          <p:cNvSpPr/>
          <p:nvPr/>
        </p:nvSpPr>
        <p:spPr>
          <a:xfrm>
            <a:off x="2240280" y="4302252"/>
            <a:ext cx="960120" cy="256032"/>
          </a:xfrm>
          <a:prstGeom prst="roundRect">
            <a:avLst>
              <a:gd name="adj" fmla="val 42857"/>
            </a:avLst>
          </a:prstGeom>
          <a:solidFill>
            <a:srgbClr val="B6413C"/>
          </a:solidFill>
          <a:ln w="12700">
            <a:solidFill>
              <a:srgbClr val="B6413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286000" y="4352544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 RISK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3310128" y="4279392"/>
            <a:ext cx="2761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63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Methodology changes have not begun; critical path to rollout</a:t>
            </a:r>
            <a:endParaRPr lang="en-US" sz="820" dirty="0"/>
          </a:p>
        </p:txBody>
      </p:sp>
      <p:sp>
        <p:nvSpPr>
          <p:cNvPr id="34" name="Shape 32"/>
          <p:cNvSpPr/>
          <p:nvPr/>
        </p:nvSpPr>
        <p:spPr>
          <a:xfrm>
            <a:off x="502920" y="4690872"/>
            <a:ext cx="5788152" cy="521208"/>
          </a:xfrm>
          <a:prstGeom prst="rect">
            <a:avLst/>
          </a:prstGeom>
          <a:solidFill>
            <a:srgbClr val="F7F9FA"/>
          </a:solidFill>
          <a:ln w="5080">
            <a:solidFill>
              <a:srgbClr val="D9DEE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2648" y="4855464"/>
            <a:ext cx="1490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263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Change &amp; Adoption</a:t>
            </a:r>
            <a:endParaRPr lang="en-US" sz="880" dirty="0"/>
          </a:p>
        </p:txBody>
      </p:sp>
      <p:sp>
        <p:nvSpPr>
          <p:cNvPr id="36" name="Shape 34"/>
          <p:cNvSpPr/>
          <p:nvPr/>
        </p:nvSpPr>
        <p:spPr>
          <a:xfrm>
            <a:off x="2240280" y="4823460"/>
            <a:ext cx="960120" cy="256032"/>
          </a:xfrm>
          <a:prstGeom prst="roundRect">
            <a:avLst>
              <a:gd name="adj" fmla="val 42857"/>
            </a:avLst>
          </a:prstGeom>
          <a:solidFill>
            <a:srgbClr val="7B8792"/>
          </a:solidFill>
          <a:ln w="12700">
            <a:solidFill>
              <a:srgbClr val="7B879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286000" y="4873752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STARTED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3310128" y="4800600"/>
            <a:ext cx="2761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63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Change strategy, communications and rollout to commence</a:t>
            </a:r>
            <a:endParaRPr lang="en-US" sz="820" dirty="0"/>
          </a:p>
        </p:txBody>
      </p:sp>
      <p:sp>
        <p:nvSpPr>
          <p:cNvPr id="39" name="Shape 37"/>
          <p:cNvSpPr/>
          <p:nvPr/>
        </p:nvSpPr>
        <p:spPr>
          <a:xfrm>
            <a:off x="6528816" y="1737360"/>
            <a:ext cx="5157216" cy="1133856"/>
          </a:xfrm>
          <a:prstGeom prst="roundRect">
            <a:avLst>
              <a:gd name="adj" fmla="val 4839"/>
            </a:avLst>
          </a:prstGeom>
          <a:solidFill>
            <a:srgbClr val="FBEDEC"/>
          </a:solidFill>
          <a:ln w="12700">
            <a:solidFill>
              <a:srgbClr val="E6C5C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766560" y="1938528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B641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CRITICAL DEPENDENCY</a:t>
            </a:r>
            <a:endParaRPr lang="en-US" sz="840" dirty="0"/>
          </a:p>
        </p:txBody>
      </p:sp>
      <p:sp>
        <p:nvSpPr>
          <p:cNvPr id="41" name="Text 39"/>
          <p:cNvSpPr/>
          <p:nvPr/>
        </p:nvSpPr>
        <p:spPr>
          <a:xfrm>
            <a:off x="6766560" y="2212848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Methodology changes have not started.</a:t>
            </a:r>
            <a:endParaRPr lang="en-US" sz="1520" dirty="0"/>
          </a:p>
        </p:txBody>
      </p:sp>
      <p:sp>
        <p:nvSpPr>
          <p:cNvPr id="42" name="Text 40"/>
          <p:cNvSpPr/>
          <p:nvPr/>
        </p:nvSpPr>
        <p:spPr>
          <a:xfrm>
            <a:off x="6766560" y="2542032"/>
            <a:ext cx="44988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263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SteerCo ask: endorse the direction and escalate with the Head of Methodology to protect October delivery.</a:t>
            </a:r>
            <a:endParaRPr lang="en-US" sz="890" dirty="0"/>
          </a:p>
        </p:txBody>
      </p:sp>
      <p:sp>
        <p:nvSpPr>
          <p:cNvPr id="43" name="Text 41"/>
          <p:cNvSpPr/>
          <p:nvPr/>
        </p:nvSpPr>
        <p:spPr>
          <a:xfrm>
            <a:off x="6528816" y="312724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2F6B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CRITICAL MILESTONES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6601968" y="3474720"/>
            <a:ext cx="146304" cy="146304"/>
          </a:xfrm>
          <a:prstGeom prst="ellipse">
            <a:avLst/>
          </a:prstGeom>
          <a:solidFill>
            <a:srgbClr val="2F6B9A"/>
          </a:solidFill>
          <a:ln w="12700">
            <a:solidFill>
              <a:srgbClr val="2F6B9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675120" y="3611880"/>
            <a:ext cx="0" cy="274320"/>
          </a:xfrm>
          <a:prstGeom prst="line">
            <a:avLst/>
          </a:prstGeom>
          <a:noFill/>
          <a:ln w="12700">
            <a:solidFill>
              <a:srgbClr val="C7CDD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903720" y="3438144"/>
            <a:ext cx="749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2F6B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 Sep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7662672" y="3419856"/>
            <a:ext cx="376732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263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Process design finalized for all Audit teams; new process communicated; Change Plan ready for Tech &amp; AI SteerCo feedback.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6601968" y="3886200"/>
            <a:ext cx="146304" cy="146304"/>
          </a:xfrm>
          <a:prstGeom prst="ellipse">
            <a:avLst/>
          </a:prstGeom>
          <a:solidFill>
            <a:srgbClr val="2A7F7A"/>
          </a:solidFill>
          <a:ln w="12700">
            <a:solidFill>
              <a:srgbClr val="2A7F7A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675120" y="4023360"/>
            <a:ext cx="0" cy="274320"/>
          </a:xfrm>
          <a:prstGeom prst="line">
            <a:avLst/>
          </a:prstGeom>
          <a:noFill/>
          <a:ln w="12700">
            <a:solidFill>
              <a:srgbClr val="C7CDD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903720" y="3849624"/>
            <a:ext cx="749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2A7F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 Sep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7662672" y="3831336"/>
            <a:ext cx="376732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263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Methodology changes ready for approval; automation validation complete across all platforms.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6601968" y="4297680"/>
            <a:ext cx="146304" cy="146304"/>
          </a:xfrm>
          <a:prstGeom prst="ellipse">
            <a:avLst/>
          </a:prstGeom>
          <a:solidFill>
            <a:srgbClr val="B6413C"/>
          </a:solidFill>
          <a:ln w="12700">
            <a:solidFill>
              <a:srgbClr val="B6413C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675120" y="4434840"/>
            <a:ext cx="0" cy="274320"/>
          </a:xfrm>
          <a:prstGeom prst="line">
            <a:avLst/>
          </a:prstGeom>
          <a:noFill/>
          <a:ln w="12700">
            <a:solidFill>
              <a:srgbClr val="C7CDD3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903720" y="4261104"/>
            <a:ext cx="749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B641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DATE TBD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7662672" y="4242816"/>
            <a:ext cx="376732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263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Methodology approval confirmed.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6601968" y="4709160"/>
            <a:ext cx="146304" cy="146304"/>
          </a:xfrm>
          <a:prstGeom prst="ellipse">
            <a:avLst/>
          </a:prstGeom>
          <a:solidFill>
            <a:srgbClr val="C58A18"/>
          </a:solidFill>
          <a:ln w="12700">
            <a:solidFill>
              <a:srgbClr val="C58A18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675120" y="4846320"/>
            <a:ext cx="0" cy="274320"/>
          </a:xfrm>
          <a:prstGeom prst="line">
            <a:avLst/>
          </a:prstGeom>
          <a:noFill/>
          <a:ln w="12700">
            <a:solidFill>
              <a:srgbClr val="C7CDD3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903720" y="4672584"/>
            <a:ext cx="749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C58A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DATE TBD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7662672" y="4654296"/>
            <a:ext cx="376732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263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Change &amp; Adoption / user readiness activities completed.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6601968" y="5120640"/>
            <a:ext cx="146304" cy="146304"/>
          </a:xfrm>
          <a:prstGeom prst="ellipse">
            <a:avLst/>
          </a:prstGeom>
          <a:solidFill>
            <a:srgbClr val="2F6B9A"/>
          </a:solidFill>
          <a:ln w="12700">
            <a:solidFill>
              <a:srgbClr val="2F6B9A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675120" y="5257800"/>
            <a:ext cx="0" cy="274320"/>
          </a:xfrm>
          <a:prstGeom prst="line">
            <a:avLst/>
          </a:prstGeom>
          <a:noFill/>
          <a:ln w="12700">
            <a:solidFill>
              <a:srgbClr val="C7CDD3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903720" y="5084064"/>
            <a:ext cx="749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2F6B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DATE TBD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7662672" y="5065776"/>
            <a:ext cx="376732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263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Production readiness and final pre-populated CRM documents completed.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6601968" y="5532120"/>
            <a:ext cx="146304" cy="146304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903720" y="5495544"/>
            <a:ext cx="749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2E7D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OCT – TBD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7662672" y="5477256"/>
            <a:ext cx="376732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263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Enterprise go-live across Audit.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7406640" y="658368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94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Milestones reflect current plan; undated items require confirmation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5992" y="656539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8A949E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84632"/>
            <a:ext cx="11109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Appendix A  |  Process insights framework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1060704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3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this page to capture platform / regional nuances, common patterns and implications for the final operating model.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144475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2F6B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PLATFORM LENS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502920" y="1719072"/>
            <a:ext cx="1417320" cy="384048"/>
          </a:xfrm>
          <a:prstGeom prst="rect">
            <a:avLst/>
          </a:prstGeom>
          <a:solidFill>
            <a:srgbClr val="17324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76072" y="1828800"/>
            <a:ext cx="1271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PLATFORM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1920240" y="1719072"/>
            <a:ext cx="1965960" cy="384048"/>
          </a:xfrm>
          <a:prstGeom prst="rect">
            <a:avLst/>
          </a:prstGeom>
          <a:solidFill>
            <a:srgbClr val="17324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993392" y="1828800"/>
            <a:ext cx="18196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STRUCTURE / NUANCE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3886200" y="1719072"/>
            <a:ext cx="1600200" cy="384048"/>
          </a:xfrm>
          <a:prstGeom prst="rect">
            <a:avLst/>
          </a:prstGeom>
          <a:solidFill>
            <a:srgbClr val="17324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59352" y="18288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REGIONAL REQUIREMENT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5486400" y="1719072"/>
            <a:ext cx="2926080" cy="384048"/>
          </a:xfrm>
          <a:prstGeom prst="rect">
            <a:avLst/>
          </a:prstGeom>
          <a:solidFill>
            <a:srgbClr val="17324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559552" y="1828800"/>
            <a:ext cx="2779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OBSERVED PATTERN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8412480" y="1719072"/>
            <a:ext cx="3273552" cy="384048"/>
          </a:xfrm>
          <a:prstGeom prst="rect">
            <a:avLst/>
          </a:prstGeom>
          <a:solidFill>
            <a:srgbClr val="17324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85632" y="1828800"/>
            <a:ext cx="3127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IMPLICATION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502920" y="2103120"/>
            <a:ext cx="14173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6072" y="2176272"/>
            <a:ext cx="12710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263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Capital Markets</a:t>
            </a:r>
            <a:endParaRPr lang="en-US" sz="820" dirty="0"/>
          </a:p>
        </p:txBody>
      </p:sp>
      <p:sp>
        <p:nvSpPr>
          <p:cNvPr id="17" name="Shape 15"/>
          <p:cNvSpPr/>
          <p:nvPr/>
        </p:nvSpPr>
        <p:spPr>
          <a:xfrm>
            <a:off x="1920240" y="2103120"/>
            <a:ext cx="196596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993392" y="2176272"/>
            <a:ext cx="1819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263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~13 AUs; globally complex structure</a:t>
            </a:r>
            <a:endParaRPr lang="en-US" sz="760" dirty="0"/>
          </a:p>
        </p:txBody>
      </p:sp>
      <p:sp>
        <p:nvSpPr>
          <p:cNvPr id="19" name="Shape 17"/>
          <p:cNvSpPr/>
          <p:nvPr/>
        </p:nvSpPr>
        <p:spPr>
          <a:xfrm>
            <a:off x="3886200" y="2103120"/>
            <a:ext cx="16002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959352" y="2176272"/>
            <a:ext cx="1453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263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Canada / US / Caribbean / EU / APAC</a:t>
            </a:r>
            <a:endParaRPr lang="en-US" sz="760" dirty="0"/>
          </a:p>
        </p:txBody>
      </p:sp>
      <p:sp>
        <p:nvSpPr>
          <p:cNvPr id="21" name="Shape 19"/>
          <p:cNvSpPr/>
          <p:nvPr/>
        </p:nvSpPr>
        <p:spPr>
          <a:xfrm>
            <a:off x="5486400" y="2103120"/>
            <a:ext cx="292608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559552" y="2176272"/>
            <a:ext cx="2779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263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Most hesitant team to date; concerns on regional model, global consolidation and shared editing</a:t>
            </a:r>
            <a:endParaRPr lang="en-US" sz="760" dirty="0"/>
          </a:p>
        </p:txBody>
      </p:sp>
      <p:sp>
        <p:nvSpPr>
          <p:cNvPr id="23" name="Shape 21"/>
          <p:cNvSpPr/>
          <p:nvPr/>
        </p:nvSpPr>
        <p:spPr>
          <a:xfrm>
            <a:off x="8412480" y="2103120"/>
            <a:ext cx="3273552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485632" y="2176272"/>
            <a:ext cx="3127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263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Define explicit regional ownership, global consolidation rules and document collaboration model</a:t>
            </a:r>
            <a:endParaRPr lang="en-US" sz="760" dirty="0"/>
          </a:p>
        </p:txBody>
      </p:sp>
      <p:sp>
        <p:nvSpPr>
          <p:cNvPr id="25" name="Shape 23"/>
          <p:cNvSpPr/>
          <p:nvPr/>
        </p:nvSpPr>
        <p:spPr>
          <a:xfrm>
            <a:off x="502920" y="2633472"/>
            <a:ext cx="1417320" cy="530352"/>
          </a:xfrm>
          <a:prstGeom prst="rect">
            <a:avLst/>
          </a:prstGeom>
          <a:solidFill>
            <a:srgbClr val="F7F9FA"/>
          </a:solidFill>
          <a:ln w="6350">
            <a:solidFill>
              <a:srgbClr val="D9DEE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76072" y="2706624"/>
            <a:ext cx="12710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263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Wealth Management</a:t>
            </a:r>
            <a:endParaRPr lang="en-US" sz="820" dirty="0"/>
          </a:p>
        </p:txBody>
      </p:sp>
      <p:sp>
        <p:nvSpPr>
          <p:cNvPr id="27" name="Shape 25"/>
          <p:cNvSpPr/>
          <p:nvPr/>
        </p:nvSpPr>
        <p:spPr>
          <a:xfrm>
            <a:off x="1920240" y="2633472"/>
            <a:ext cx="1965960" cy="530352"/>
          </a:xfrm>
          <a:prstGeom prst="rect">
            <a:avLst/>
          </a:prstGeom>
          <a:solidFill>
            <a:srgbClr val="F7F9FA"/>
          </a:solidFill>
          <a:ln w="6350">
            <a:solidFill>
              <a:srgbClr val="D9DEE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993392" y="2706624"/>
            <a:ext cx="1819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i="1" dirty="0">
                <a:solidFill>
                  <a:srgbClr val="6673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 COMPLETE</a:t>
            </a:r>
            <a:endParaRPr lang="en-US" sz="760" dirty="0"/>
          </a:p>
        </p:txBody>
      </p:sp>
      <p:sp>
        <p:nvSpPr>
          <p:cNvPr id="29" name="Shape 27"/>
          <p:cNvSpPr/>
          <p:nvPr/>
        </p:nvSpPr>
        <p:spPr>
          <a:xfrm>
            <a:off x="3886200" y="2633472"/>
            <a:ext cx="1600200" cy="530352"/>
          </a:xfrm>
          <a:prstGeom prst="rect">
            <a:avLst/>
          </a:prstGeom>
          <a:solidFill>
            <a:srgbClr val="F7F9FA"/>
          </a:solidFill>
          <a:ln w="6350">
            <a:solidFill>
              <a:srgbClr val="D9DEE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959352" y="2706624"/>
            <a:ext cx="1453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263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Canada / US / EU / APAC</a:t>
            </a:r>
            <a:endParaRPr lang="en-US" sz="760" dirty="0"/>
          </a:p>
        </p:txBody>
      </p:sp>
      <p:sp>
        <p:nvSpPr>
          <p:cNvPr id="31" name="Shape 29"/>
          <p:cNvSpPr/>
          <p:nvPr/>
        </p:nvSpPr>
        <p:spPr>
          <a:xfrm>
            <a:off x="5486400" y="2633472"/>
            <a:ext cx="2926080" cy="530352"/>
          </a:xfrm>
          <a:prstGeom prst="rect">
            <a:avLst/>
          </a:prstGeom>
          <a:solidFill>
            <a:srgbClr val="F7F9FA"/>
          </a:solidFill>
          <a:ln w="6350">
            <a:solidFill>
              <a:srgbClr val="D9DEE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559552" y="2706624"/>
            <a:ext cx="2779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i="1" dirty="0">
                <a:solidFill>
                  <a:srgbClr val="6673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 COMPLETE</a:t>
            </a:r>
            <a:endParaRPr lang="en-US" sz="760" dirty="0"/>
          </a:p>
        </p:txBody>
      </p:sp>
      <p:sp>
        <p:nvSpPr>
          <p:cNvPr id="33" name="Shape 31"/>
          <p:cNvSpPr/>
          <p:nvPr/>
        </p:nvSpPr>
        <p:spPr>
          <a:xfrm>
            <a:off x="8412480" y="2633472"/>
            <a:ext cx="3273552" cy="530352"/>
          </a:xfrm>
          <a:prstGeom prst="rect">
            <a:avLst/>
          </a:prstGeom>
          <a:solidFill>
            <a:srgbClr val="F7F9FA"/>
          </a:solidFill>
          <a:ln w="6350">
            <a:solidFill>
              <a:srgbClr val="D9DEE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485632" y="2706624"/>
            <a:ext cx="3127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i="1" dirty="0">
                <a:solidFill>
                  <a:srgbClr val="6673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 COMPLETE</a:t>
            </a:r>
            <a:endParaRPr lang="en-US" sz="760" dirty="0"/>
          </a:p>
        </p:txBody>
      </p:sp>
      <p:sp>
        <p:nvSpPr>
          <p:cNvPr id="35" name="Shape 33"/>
          <p:cNvSpPr/>
          <p:nvPr/>
        </p:nvSpPr>
        <p:spPr>
          <a:xfrm>
            <a:off x="502920" y="3163824"/>
            <a:ext cx="14173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76072" y="3236976"/>
            <a:ext cx="12710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263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Technology &amp; Operations</a:t>
            </a:r>
            <a:endParaRPr lang="en-US" sz="820" dirty="0"/>
          </a:p>
        </p:txBody>
      </p:sp>
      <p:sp>
        <p:nvSpPr>
          <p:cNvPr id="37" name="Shape 35"/>
          <p:cNvSpPr/>
          <p:nvPr/>
        </p:nvSpPr>
        <p:spPr>
          <a:xfrm>
            <a:off x="1920240" y="3163824"/>
            <a:ext cx="196596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993392" y="3236976"/>
            <a:ext cx="1819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i="1" dirty="0">
                <a:solidFill>
                  <a:srgbClr val="6673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 COMPLETE</a:t>
            </a:r>
            <a:endParaRPr lang="en-US" sz="760" dirty="0"/>
          </a:p>
        </p:txBody>
      </p:sp>
      <p:sp>
        <p:nvSpPr>
          <p:cNvPr id="39" name="Shape 37"/>
          <p:cNvSpPr/>
          <p:nvPr/>
        </p:nvSpPr>
        <p:spPr>
          <a:xfrm>
            <a:off x="3886200" y="3163824"/>
            <a:ext cx="16002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959352" y="3236976"/>
            <a:ext cx="1453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263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Canada / US / APAC / EU / Caribbean</a:t>
            </a:r>
            <a:endParaRPr lang="en-US" sz="760" dirty="0"/>
          </a:p>
        </p:txBody>
      </p:sp>
      <p:sp>
        <p:nvSpPr>
          <p:cNvPr id="41" name="Shape 39"/>
          <p:cNvSpPr/>
          <p:nvPr/>
        </p:nvSpPr>
        <p:spPr>
          <a:xfrm>
            <a:off x="5486400" y="3163824"/>
            <a:ext cx="292608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559552" y="3236976"/>
            <a:ext cx="2779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i="1" dirty="0">
                <a:solidFill>
                  <a:srgbClr val="6673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 COMPLETE</a:t>
            </a:r>
            <a:endParaRPr lang="en-US" sz="760" dirty="0"/>
          </a:p>
        </p:txBody>
      </p:sp>
      <p:sp>
        <p:nvSpPr>
          <p:cNvPr id="43" name="Shape 41"/>
          <p:cNvSpPr/>
          <p:nvPr/>
        </p:nvSpPr>
        <p:spPr>
          <a:xfrm>
            <a:off x="8412480" y="3163824"/>
            <a:ext cx="3273552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485632" y="3236976"/>
            <a:ext cx="3127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i="1" dirty="0">
                <a:solidFill>
                  <a:srgbClr val="6673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 COMPLETE</a:t>
            </a:r>
            <a:endParaRPr lang="en-US" sz="760" dirty="0"/>
          </a:p>
        </p:txBody>
      </p:sp>
      <p:sp>
        <p:nvSpPr>
          <p:cNvPr id="45" name="Shape 43"/>
          <p:cNvSpPr/>
          <p:nvPr/>
        </p:nvSpPr>
        <p:spPr>
          <a:xfrm>
            <a:off x="502920" y="3694176"/>
            <a:ext cx="1417320" cy="530352"/>
          </a:xfrm>
          <a:prstGeom prst="rect">
            <a:avLst/>
          </a:prstGeom>
          <a:solidFill>
            <a:srgbClr val="F7F9FA"/>
          </a:solidFill>
          <a:ln w="6350">
            <a:solidFill>
              <a:srgbClr val="D9DEE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76072" y="3767328"/>
            <a:ext cx="12710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263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Other platforms</a:t>
            </a:r>
            <a:endParaRPr lang="en-US" sz="820" dirty="0"/>
          </a:p>
        </p:txBody>
      </p:sp>
      <p:sp>
        <p:nvSpPr>
          <p:cNvPr id="47" name="Shape 45"/>
          <p:cNvSpPr/>
          <p:nvPr/>
        </p:nvSpPr>
        <p:spPr>
          <a:xfrm>
            <a:off x="1920240" y="3694176"/>
            <a:ext cx="1965960" cy="530352"/>
          </a:xfrm>
          <a:prstGeom prst="rect">
            <a:avLst/>
          </a:prstGeom>
          <a:solidFill>
            <a:srgbClr val="F7F9FA"/>
          </a:solidFill>
          <a:ln w="6350">
            <a:solidFill>
              <a:srgbClr val="D9DEE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993392" y="3767328"/>
            <a:ext cx="1819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i="1" dirty="0">
                <a:solidFill>
                  <a:srgbClr val="6673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 COMPLETE</a:t>
            </a:r>
            <a:endParaRPr lang="en-US" sz="760" dirty="0"/>
          </a:p>
        </p:txBody>
      </p:sp>
      <p:sp>
        <p:nvSpPr>
          <p:cNvPr id="49" name="Shape 47"/>
          <p:cNvSpPr/>
          <p:nvPr/>
        </p:nvSpPr>
        <p:spPr>
          <a:xfrm>
            <a:off x="3886200" y="3694176"/>
            <a:ext cx="1600200" cy="530352"/>
          </a:xfrm>
          <a:prstGeom prst="rect">
            <a:avLst/>
          </a:prstGeom>
          <a:solidFill>
            <a:srgbClr val="F7F9FA"/>
          </a:solidFill>
          <a:ln w="6350">
            <a:solidFill>
              <a:srgbClr val="D9DEE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959352" y="3767328"/>
            <a:ext cx="1453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263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 platform</a:t>
            </a:r>
            <a:endParaRPr lang="en-US" sz="760" dirty="0"/>
          </a:p>
        </p:txBody>
      </p:sp>
      <p:sp>
        <p:nvSpPr>
          <p:cNvPr id="51" name="Shape 49"/>
          <p:cNvSpPr/>
          <p:nvPr/>
        </p:nvSpPr>
        <p:spPr>
          <a:xfrm>
            <a:off x="5486400" y="3694176"/>
            <a:ext cx="2926080" cy="530352"/>
          </a:xfrm>
          <a:prstGeom prst="rect">
            <a:avLst/>
          </a:prstGeom>
          <a:solidFill>
            <a:srgbClr val="F7F9FA"/>
          </a:solidFill>
          <a:ln w="6350">
            <a:solidFill>
              <a:srgbClr val="D9DEE3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559552" y="3767328"/>
            <a:ext cx="2779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i="1" dirty="0">
                <a:solidFill>
                  <a:srgbClr val="6673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 COMPLETE</a:t>
            </a:r>
            <a:endParaRPr lang="en-US" sz="760" dirty="0"/>
          </a:p>
        </p:txBody>
      </p:sp>
      <p:sp>
        <p:nvSpPr>
          <p:cNvPr id="53" name="Shape 51"/>
          <p:cNvSpPr/>
          <p:nvPr/>
        </p:nvSpPr>
        <p:spPr>
          <a:xfrm>
            <a:off x="8412480" y="3694176"/>
            <a:ext cx="3273552" cy="530352"/>
          </a:xfrm>
          <a:prstGeom prst="rect">
            <a:avLst/>
          </a:prstGeom>
          <a:solidFill>
            <a:srgbClr val="F7F9FA"/>
          </a:solidFill>
          <a:ln w="6350">
            <a:solidFill>
              <a:srgbClr val="D9DEE3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485632" y="3767328"/>
            <a:ext cx="3127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i="1" dirty="0">
                <a:solidFill>
                  <a:srgbClr val="6673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 COMPLETE</a:t>
            </a:r>
            <a:endParaRPr lang="en-US" sz="760" dirty="0"/>
          </a:p>
        </p:txBody>
      </p:sp>
      <p:sp>
        <p:nvSpPr>
          <p:cNvPr id="55" name="Text 53"/>
          <p:cNvSpPr/>
          <p:nvPr/>
        </p:nvSpPr>
        <p:spPr>
          <a:xfrm>
            <a:off x="502920" y="435254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2F6B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CROSS-PLATFORM / RISK TEAM LENS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502920" y="4599432"/>
            <a:ext cx="1572768" cy="365760"/>
          </a:xfrm>
          <a:prstGeom prst="rect">
            <a:avLst/>
          </a:prstGeom>
          <a:solidFill>
            <a:srgbClr val="40566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76072" y="4700016"/>
            <a:ext cx="14264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2075688" y="4599432"/>
            <a:ext cx="3246120" cy="365760"/>
          </a:xfrm>
          <a:prstGeom prst="rect">
            <a:avLst/>
          </a:prstGeom>
          <a:solidFill>
            <a:srgbClr val="40566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148840" y="4700016"/>
            <a:ext cx="30998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PLATFORMS CROSSED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5321808" y="4599432"/>
            <a:ext cx="3090672" cy="365760"/>
          </a:xfrm>
          <a:prstGeom prst="rect">
            <a:avLst/>
          </a:prstGeom>
          <a:solidFill>
            <a:srgbClr val="40566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394960" y="4700016"/>
            <a:ext cx="2944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OPERATING-MODEL QUESTION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8412480" y="4599432"/>
            <a:ext cx="3273552" cy="365760"/>
          </a:xfrm>
          <a:prstGeom prst="rect">
            <a:avLst/>
          </a:prstGeom>
          <a:solidFill>
            <a:srgbClr val="40566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8485632" y="4700016"/>
            <a:ext cx="3127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DIRECTION / VALIDATION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502920" y="4965192"/>
            <a:ext cx="1572768" cy="274320"/>
          </a:xfrm>
          <a:prstGeom prst="rect">
            <a:avLst/>
          </a:prstGeom>
          <a:solidFill>
            <a:srgbClr val="FFFFFF"/>
          </a:solidFill>
          <a:ln w="5715">
            <a:solidFill>
              <a:srgbClr val="D9DEE3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66928" y="5015484"/>
            <a:ext cx="144475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263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Global Credit Risk</a:t>
            </a:r>
            <a:endParaRPr lang="en-US" sz="780" dirty="0"/>
          </a:p>
        </p:txBody>
      </p:sp>
      <p:sp>
        <p:nvSpPr>
          <p:cNvPr id="66" name="Shape 64"/>
          <p:cNvSpPr/>
          <p:nvPr/>
        </p:nvSpPr>
        <p:spPr>
          <a:xfrm>
            <a:off x="2075688" y="4965192"/>
            <a:ext cx="3246120" cy="274320"/>
          </a:xfrm>
          <a:prstGeom prst="rect">
            <a:avLst/>
          </a:prstGeom>
          <a:solidFill>
            <a:srgbClr val="FFFFFF"/>
          </a:solidFill>
          <a:ln w="5715">
            <a:solidFill>
              <a:srgbClr val="D9DEE3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2139696" y="5015484"/>
            <a:ext cx="311810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263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RBC Bank Georgia, CM, GRM, PB, WM, CB, CNB</a:t>
            </a:r>
            <a:endParaRPr lang="en-US" sz="720" dirty="0"/>
          </a:p>
        </p:txBody>
      </p:sp>
      <p:sp>
        <p:nvSpPr>
          <p:cNvPr id="68" name="Shape 66"/>
          <p:cNvSpPr/>
          <p:nvPr/>
        </p:nvSpPr>
        <p:spPr>
          <a:xfrm>
            <a:off x="5321808" y="4965192"/>
            <a:ext cx="3090672" cy="274320"/>
          </a:xfrm>
          <a:prstGeom prst="rect">
            <a:avLst/>
          </a:prstGeom>
          <a:solidFill>
            <a:srgbClr val="FFFFFF"/>
          </a:solidFill>
          <a:ln w="5715">
            <a:solidFill>
              <a:srgbClr val="D9DEE3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385816" y="5015484"/>
            <a:ext cx="296265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263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should Credit contribute without recreating AU-level CRM?</a:t>
            </a:r>
            <a:endParaRPr lang="en-US" sz="720" dirty="0"/>
          </a:p>
        </p:txBody>
      </p:sp>
      <p:sp>
        <p:nvSpPr>
          <p:cNvPr id="70" name="Shape 68"/>
          <p:cNvSpPr/>
          <p:nvPr/>
        </p:nvSpPr>
        <p:spPr>
          <a:xfrm>
            <a:off x="8412480" y="4965192"/>
            <a:ext cx="3273552" cy="274320"/>
          </a:xfrm>
          <a:prstGeom prst="rect">
            <a:avLst/>
          </a:prstGeom>
          <a:solidFill>
            <a:srgbClr val="FFFFFF"/>
          </a:solidFill>
          <a:ln w="5715">
            <a:solidFill>
              <a:srgbClr val="D9DEE3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8476488" y="5015484"/>
            <a:ext cx="314553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263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Some users favour platform-level commentary; validate with Credit.</a:t>
            </a:r>
            <a:endParaRPr lang="en-US" sz="720" dirty="0"/>
          </a:p>
        </p:txBody>
      </p:sp>
      <p:sp>
        <p:nvSpPr>
          <p:cNvPr id="72" name="Shape 70"/>
          <p:cNvSpPr/>
          <p:nvPr/>
        </p:nvSpPr>
        <p:spPr>
          <a:xfrm>
            <a:off x="502920" y="5239512"/>
            <a:ext cx="1572768" cy="274320"/>
          </a:xfrm>
          <a:prstGeom prst="rect">
            <a:avLst/>
          </a:prstGeom>
          <a:solidFill>
            <a:srgbClr val="F7F9FA"/>
          </a:solidFill>
          <a:ln w="5715">
            <a:solidFill>
              <a:srgbClr val="D9DEE3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66928" y="5289804"/>
            <a:ext cx="144475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263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Risk</a:t>
            </a:r>
            <a:endParaRPr lang="en-US" sz="780" dirty="0"/>
          </a:p>
        </p:txBody>
      </p:sp>
      <p:sp>
        <p:nvSpPr>
          <p:cNvPr id="74" name="Shape 72"/>
          <p:cNvSpPr/>
          <p:nvPr/>
        </p:nvSpPr>
        <p:spPr>
          <a:xfrm>
            <a:off x="2075688" y="5239512"/>
            <a:ext cx="3246120" cy="274320"/>
          </a:xfrm>
          <a:prstGeom prst="rect">
            <a:avLst/>
          </a:prstGeom>
          <a:solidFill>
            <a:srgbClr val="F7F9FA"/>
          </a:solidFill>
          <a:ln w="5715">
            <a:solidFill>
              <a:srgbClr val="D9DEE3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2139696" y="5289804"/>
            <a:ext cx="311810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263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PB, CB, CM, WM, GRM, Insurance, CNB, etc.</a:t>
            </a:r>
            <a:endParaRPr lang="en-US" sz="720" dirty="0"/>
          </a:p>
        </p:txBody>
      </p:sp>
      <p:sp>
        <p:nvSpPr>
          <p:cNvPr id="76" name="Shape 74"/>
          <p:cNvSpPr/>
          <p:nvPr/>
        </p:nvSpPr>
        <p:spPr>
          <a:xfrm>
            <a:off x="5321808" y="5239512"/>
            <a:ext cx="3090672" cy="274320"/>
          </a:xfrm>
          <a:prstGeom prst="rect">
            <a:avLst/>
          </a:prstGeom>
          <a:solidFill>
            <a:srgbClr val="F7F9FA"/>
          </a:solidFill>
          <a:ln w="5715">
            <a:solidFill>
              <a:srgbClr val="D9DEE3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5385816" y="5289804"/>
            <a:ext cx="296265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263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should model-risk commentary be incorporated across multiple platform CRMs?</a:t>
            </a:r>
            <a:endParaRPr lang="en-US" sz="720" dirty="0"/>
          </a:p>
        </p:txBody>
      </p:sp>
      <p:sp>
        <p:nvSpPr>
          <p:cNvPr id="78" name="Shape 76"/>
          <p:cNvSpPr/>
          <p:nvPr/>
        </p:nvSpPr>
        <p:spPr>
          <a:xfrm>
            <a:off x="8412480" y="5239512"/>
            <a:ext cx="3273552" cy="274320"/>
          </a:xfrm>
          <a:prstGeom prst="rect">
            <a:avLst/>
          </a:prstGeom>
          <a:solidFill>
            <a:srgbClr val="F7F9FA"/>
          </a:solidFill>
          <a:ln w="5715">
            <a:solidFill>
              <a:srgbClr val="D9DEE3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8476488" y="5289804"/>
            <a:ext cx="314553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263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 validate with Model Risk.</a:t>
            </a:r>
            <a:endParaRPr lang="en-US" sz="720" dirty="0"/>
          </a:p>
        </p:txBody>
      </p:sp>
      <p:sp>
        <p:nvSpPr>
          <p:cNvPr id="80" name="Shape 78"/>
          <p:cNvSpPr/>
          <p:nvPr/>
        </p:nvSpPr>
        <p:spPr>
          <a:xfrm>
            <a:off x="502920" y="5513832"/>
            <a:ext cx="1572768" cy="274320"/>
          </a:xfrm>
          <a:prstGeom prst="rect">
            <a:avLst/>
          </a:prstGeom>
          <a:solidFill>
            <a:srgbClr val="FFFFFF"/>
          </a:solidFill>
          <a:ln w="5715">
            <a:solidFill>
              <a:srgbClr val="D9DEE3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566928" y="5564124"/>
            <a:ext cx="144475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263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Banking Operations</a:t>
            </a:r>
            <a:endParaRPr lang="en-US" sz="780" dirty="0"/>
          </a:p>
        </p:txBody>
      </p:sp>
      <p:sp>
        <p:nvSpPr>
          <p:cNvPr id="82" name="Shape 80"/>
          <p:cNvSpPr/>
          <p:nvPr/>
        </p:nvSpPr>
        <p:spPr>
          <a:xfrm>
            <a:off x="2075688" y="5513832"/>
            <a:ext cx="3246120" cy="274320"/>
          </a:xfrm>
          <a:prstGeom prst="rect">
            <a:avLst/>
          </a:prstGeom>
          <a:solidFill>
            <a:srgbClr val="FFFFFF"/>
          </a:solidFill>
          <a:ln w="5715">
            <a:solidFill>
              <a:srgbClr val="D9DEE3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2139696" y="5564124"/>
            <a:ext cx="311810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263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PB, RBC Bank Georgia, CLAO, TO, CB</a:t>
            </a:r>
            <a:endParaRPr lang="en-US" sz="720" dirty="0"/>
          </a:p>
        </p:txBody>
      </p:sp>
      <p:sp>
        <p:nvSpPr>
          <p:cNvPr id="84" name="Shape 82"/>
          <p:cNvSpPr/>
          <p:nvPr/>
        </p:nvSpPr>
        <p:spPr>
          <a:xfrm>
            <a:off x="5321808" y="5513832"/>
            <a:ext cx="3090672" cy="274320"/>
          </a:xfrm>
          <a:prstGeom prst="rect">
            <a:avLst/>
          </a:prstGeom>
          <a:solidFill>
            <a:srgbClr val="FFFFFF"/>
          </a:solidFill>
          <a:ln w="5715">
            <a:solidFill>
              <a:srgbClr val="D9DEE3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5385816" y="5564124"/>
            <a:ext cx="296265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263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should Banking Operations feed platform CRM consistently?</a:t>
            </a:r>
            <a:endParaRPr lang="en-US" sz="720" dirty="0"/>
          </a:p>
        </p:txBody>
      </p:sp>
      <p:sp>
        <p:nvSpPr>
          <p:cNvPr id="86" name="Shape 84"/>
          <p:cNvSpPr/>
          <p:nvPr/>
        </p:nvSpPr>
        <p:spPr>
          <a:xfrm>
            <a:off x="8412480" y="5513832"/>
            <a:ext cx="3273552" cy="274320"/>
          </a:xfrm>
          <a:prstGeom prst="rect">
            <a:avLst/>
          </a:prstGeom>
          <a:solidFill>
            <a:srgbClr val="FFFFFF"/>
          </a:solidFill>
          <a:ln w="5715">
            <a:solidFill>
              <a:srgbClr val="D9DEE3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8476488" y="5564124"/>
            <a:ext cx="314553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263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 validate with Banking Operations.</a:t>
            </a:r>
            <a:endParaRPr lang="en-US" sz="720" dirty="0"/>
          </a:p>
        </p:txBody>
      </p:sp>
      <p:sp>
        <p:nvSpPr>
          <p:cNvPr id="88" name="Shape 86"/>
          <p:cNvSpPr/>
          <p:nvPr/>
        </p:nvSpPr>
        <p:spPr>
          <a:xfrm>
            <a:off x="502920" y="5788152"/>
            <a:ext cx="1572768" cy="274320"/>
          </a:xfrm>
          <a:prstGeom prst="rect">
            <a:avLst/>
          </a:prstGeom>
          <a:solidFill>
            <a:srgbClr val="F7F9FA"/>
          </a:solidFill>
          <a:ln w="5715">
            <a:solidFill>
              <a:srgbClr val="D9DEE3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566928" y="5838444"/>
            <a:ext cx="144475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263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Financial Crimes – 1st line</a:t>
            </a:r>
            <a:endParaRPr lang="en-US" sz="780" dirty="0"/>
          </a:p>
        </p:txBody>
      </p:sp>
      <p:sp>
        <p:nvSpPr>
          <p:cNvPr id="90" name="Shape 88"/>
          <p:cNvSpPr/>
          <p:nvPr/>
        </p:nvSpPr>
        <p:spPr>
          <a:xfrm>
            <a:off x="2075688" y="5788152"/>
            <a:ext cx="3246120" cy="274320"/>
          </a:xfrm>
          <a:prstGeom prst="rect">
            <a:avLst/>
          </a:prstGeom>
          <a:solidFill>
            <a:srgbClr val="F7F9FA"/>
          </a:solidFill>
          <a:ln w="5715">
            <a:solidFill>
              <a:srgbClr val="D9DEE3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2139696" y="5838444"/>
            <a:ext cx="311810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263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PB, CM, WM, CNB, RBC Bank Georgia</a:t>
            </a:r>
            <a:endParaRPr lang="en-US" sz="720" dirty="0"/>
          </a:p>
        </p:txBody>
      </p:sp>
      <p:sp>
        <p:nvSpPr>
          <p:cNvPr id="92" name="Shape 90"/>
          <p:cNvSpPr/>
          <p:nvPr/>
        </p:nvSpPr>
        <p:spPr>
          <a:xfrm>
            <a:off x="5321808" y="5788152"/>
            <a:ext cx="3090672" cy="274320"/>
          </a:xfrm>
          <a:prstGeom prst="rect">
            <a:avLst/>
          </a:prstGeom>
          <a:solidFill>
            <a:srgbClr val="F7F9FA"/>
          </a:solidFill>
          <a:ln w="5715">
            <a:solidFill>
              <a:srgbClr val="D9DEE3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5385816" y="5838444"/>
            <a:ext cx="296265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263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should 1st-line FC input be reflected by platform?</a:t>
            </a:r>
            <a:endParaRPr lang="en-US" sz="720" dirty="0"/>
          </a:p>
        </p:txBody>
      </p:sp>
      <p:sp>
        <p:nvSpPr>
          <p:cNvPr id="94" name="Shape 92"/>
          <p:cNvSpPr/>
          <p:nvPr/>
        </p:nvSpPr>
        <p:spPr>
          <a:xfrm>
            <a:off x="8412480" y="5788152"/>
            <a:ext cx="3273552" cy="274320"/>
          </a:xfrm>
          <a:prstGeom prst="rect">
            <a:avLst/>
          </a:prstGeom>
          <a:solidFill>
            <a:srgbClr val="F7F9FA"/>
          </a:solidFill>
          <a:ln w="5715">
            <a:solidFill>
              <a:srgbClr val="D9DEE3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8476488" y="5838444"/>
            <a:ext cx="314553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263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 validate.</a:t>
            </a:r>
            <a:endParaRPr lang="en-US" sz="720" dirty="0"/>
          </a:p>
        </p:txBody>
      </p:sp>
      <p:sp>
        <p:nvSpPr>
          <p:cNvPr id="96" name="Text 94"/>
          <p:cNvSpPr/>
          <p:nvPr/>
        </p:nvSpPr>
        <p:spPr>
          <a:xfrm>
            <a:off x="7406640" y="658368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94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Framework intentionally retains placeholders for continued discovery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5992" y="656539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8A949E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84632"/>
            <a:ext cx="11109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Appendix B  |  Data &amp; analysis insights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1060704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3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Assess each source by coverage, rules / thresholds, judgement required and the design implication for standardized pre-population.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508760"/>
            <a:ext cx="1143000" cy="384048"/>
          </a:xfrm>
          <a:prstGeom prst="rect">
            <a:avLst/>
          </a:prstGeom>
          <a:solidFill>
            <a:srgbClr val="17324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57784" y="1600200"/>
            <a:ext cx="1033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</a:t>
            </a:r>
            <a:endParaRPr lang="en-US" sz="720" dirty="0"/>
          </a:p>
        </p:txBody>
      </p:sp>
      <p:sp>
        <p:nvSpPr>
          <p:cNvPr id="6" name="Shape 4"/>
          <p:cNvSpPr/>
          <p:nvPr/>
        </p:nvSpPr>
        <p:spPr>
          <a:xfrm>
            <a:off x="1645920" y="1508760"/>
            <a:ext cx="1737360" cy="384048"/>
          </a:xfrm>
          <a:prstGeom prst="rect">
            <a:avLst/>
          </a:prstGeom>
          <a:solidFill>
            <a:srgbClr val="17324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700784" y="1600200"/>
            <a:ext cx="1627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CRM USE</a:t>
            </a:r>
            <a:endParaRPr lang="en-US" sz="720" dirty="0"/>
          </a:p>
        </p:txBody>
      </p:sp>
      <p:sp>
        <p:nvSpPr>
          <p:cNvPr id="8" name="Shape 6"/>
          <p:cNvSpPr/>
          <p:nvPr/>
        </p:nvSpPr>
        <p:spPr>
          <a:xfrm>
            <a:off x="3383280" y="1508760"/>
            <a:ext cx="1600200" cy="384048"/>
          </a:xfrm>
          <a:prstGeom prst="rect">
            <a:avLst/>
          </a:prstGeom>
          <a:solidFill>
            <a:srgbClr val="17324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38144" y="1600200"/>
            <a:ext cx="1490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COVERAGE</a:t>
            </a:r>
            <a:endParaRPr lang="en-US" sz="720" dirty="0"/>
          </a:p>
        </p:txBody>
      </p:sp>
      <p:sp>
        <p:nvSpPr>
          <p:cNvPr id="10" name="Shape 8"/>
          <p:cNvSpPr/>
          <p:nvPr/>
        </p:nvSpPr>
        <p:spPr>
          <a:xfrm>
            <a:off x="4983480" y="1508760"/>
            <a:ext cx="1417320" cy="384048"/>
          </a:xfrm>
          <a:prstGeom prst="rect">
            <a:avLst/>
          </a:prstGeom>
          <a:solidFill>
            <a:srgbClr val="17324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38344" y="1600200"/>
            <a:ext cx="1307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RULE / THRESHOLD</a:t>
            </a:r>
            <a:endParaRPr lang="en-US" sz="720" dirty="0"/>
          </a:p>
        </p:txBody>
      </p:sp>
      <p:sp>
        <p:nvSpPr>
          <p:cNvPr id="12" name="Shape 10"/>
          <p:cNvSpPr/>
          <p:nvPr/>
        </p:nvSpPr>
        <p:spPr>
          <a:xfrm>
            <a:off x="6400800" y="1508760"/>
            <a:ext cx="1353312" cy="384048"/>
          </a:xfrm>
          <a:prstGeom prst="rect">
            <a:avLst/>
          </a:prstGeom>
          <a:solidFill>
            <a:srgbClr val="17324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55664" y="1600200"/>
            <a:ext cx="1243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JUDGEMENT?</a:t>
            </a:r>
            <a:endParaRPr lang="en-US" sz="720" dirty="0"/>
          </a:p>
        </p:txBody>
      </p:sp>
      <p:sp>
        <p:nvSpPr>
          <p:cNvPr id="14" name="Shape 12"/>
          <p:cNvSpPr/>
          <p:nvPr/>
        </p:nvSpPr>
        <p:spPr>
          <a:xfrm>
            <a:off x="7754112" y="1508760"/>
            <a:ext cx="3931920" cy="384048"/>
          </a:xfrm>
          <a:prstGeom prst="rect">
            <a:avLst/>
          </a:prstGeom>
          <a:solidFill>
            <a:srgbClr val="17324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808976" y="1600200"/>
            <a:ext cx="3822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KNOWN LIMITATION / DESIGN IMPLICATION</a:t>
            </a:r>
            <a:endParaRPr lang="en-US" sz="720" dirty="0"/>
          </a:p>
        </p:txBody>
      </p:sp>
      <p:sp>
        <p:nvSpPr>
          <p:cNvPr id="16" name="Shape 14"/>
          <p:cNvSpPr/>
          <p:nvPr/>
        </p:nvSpPr>
        <p:spPr>
          <a:xfrm>
            <a:off x="502920" y="1892808"/>
            <a:ext cx="1143000" cy="502920"/>
          </a:xfrm>
          <a:prstGeom prst="rect">
            <a:avLst/>
          </a:prstGeom>
          <a:solidFill>
            <a:srgbClr val="FFFFFF"/>
          </a:solidFill>
          <a:ln w="5715">
            <a:solidFill>
              <a:srgbClr val="D9DEE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7784" y="1965960"/>
            <a:ext cx="10332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90" b="1" dirty="0">
                <a:solidFill>
                  <a:srgbClr val="263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Workday</a:t>
            </a:r>
            <a:endParaRPr lang="en-US" sz="790" dirty="0"/>
          </a:p>
        </p:txBody>
      </p:sp>
      <p:sp>
        <p:nvSpPr>
          <p:cNvPr id="18" name="Shape 16"/>
          <p:cNvSpPr/>
          <p:nvPr/>
        </p:nvSpPr>
        <p:spPr>
          <a:xfrm>
            <a:off x="1645920" y="1892808"/>
            <a:ext cx="1737360" cy="502920"/>
          </a:xfrm>
          <a:prstGeom prst="rect">
            <a:avLst/>
          </a:prstGeom>
          <a:solidFill>
            <a:srgbClr val="FFFFFF"/>
          </a:solidFill>
          <a:ln w="5715">
            <a:solidFill>
              <a:srgbClr val="D9DEE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700784" y="1965960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263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Executive / org movements</a:t>
            </a:r>
            <a:endParaRPr lang="en-US" sz="710" dirty="0"/>
          </a:p>
        </p:txBody>
      </p:sp>
      <p:sp>
        <p:nvSpPr>
          <p:cNvPr id="20" name="Shape 18"/>
          <p:cNvSpPr/>
          <p:nvPr/>
        </p:nvSpPr>
        <p:spPr>
          <a:xfrm>
            <a:off x="3383280" y="1892808"/>
            <a:ext cx="1600200" cy="502920"/>
          </a:xfrm>
          <a:prstGeom prst="rect">
            <a:avLst/>
          </a:prstGeom>
          <a:solidFill>
            <a:srgbClr val="FFFFFF"/>
          </a:solidFill>
          <a:ln w="5715">
            <a:solidFill>
              <a:srgbClr val="D9DEE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38144" y="1965960"/>
            <a:ext cx="1490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263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Platform mapping assessed</a:t>
            </a:r>
            <a:endParaRPr lang="en-US" sz="710" dirty="0"/>
          </a:p>
        </p:txBody>
      </p:sp>
      <p:sp>
        <p:nvSpPr>
          <p:cNvPr id="22" name="Shape 20"/>
          <p:cNvSpPr/>
          <p:nvPr/>
        </p:nvSpPr>
        <p:spPr>
          <a:xfrm>
            <a:off x="4983480" y="1892808"/>
            <a:ext cx="1417320" cy="502920"/>
          </a:xfrm>
          <a:prstGeom prst="rect">
            <a:avLst/>
          </a:prstGeom>
          <a:solidFill>
            <a:srgbClr val="FFFFFF"/>
          </a:solidFill>
          <a:ln w="5715">
            <a:solidFill>
              <a:srgbClr val="D9DEE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38344" y="1965960"/>
            <a:ext cx="1307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263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Logic-based</a:t>
            </a:r>
            <a:endParaRPr lang="en-US" sz="710" dirty="0"/>
          </a:p>
        </p:txBody>
      </p:sp>
      <p:sp>
        <p:nvSpPr>
          <p:cNvPr id="24" name="Shape 22"/>
          <p:cNvSpPr/>
          <p:nvPr/>
        </p:nvSpPr>
        <p:spPr>
          <a:xfrm>
            <a:off x="6400800" y="1892808"/>
            <a:ext cx="1353312" cy="502920"/>
          </a:xfrm>
          <a:prstGeom prst="rect">
            <a:avLst/>
          </a:prstGeom>
          <a:solidFill>
            <a:srgbClr val="FFFFFF"/>
          </a:solidFill>
          <a:ln w="5715">
            <a:solidFill>
              <a:srgbClr val="D9DEE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55664" y="1965960"/>
            <a:ext cx="1243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263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Some</a:t>
            </a:r>
            <a:endParaRPr lang="en-US" sz="710" dirty="0"/>
          </a:p>
        </p:txBody>
      </p:sp>
      <p:sp>
        <p:nvSpPr>
          <p:cNvPr id="26" name="Shape 24"/>
          <p:cNvSpPr/>
          <p:nvPr/>
        </p:nvSpPr>
        <p:spPr>
          <a:xfrm>
            <a:off x="7754112" y="1892808"/>
            <a:ext cx="3931920" cy="502920"/>
          </a:xfrm>
          <a:prstGeom prst="rect">
            <a:avLst/>
          </a:prstGeom>
          <a:solidFill>
            <a:srgbClr val="FFFFFF"/>
          </a:solidFill>
          <a:ln w="5715">
            <a:solidFill>
              <a:srgbClr val="D9DEE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808976" y="1965960"/>
            <a:ext cx="3822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263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Supports AI-generated executive-level movement summaries; final relevance still requires auditor review.</a:t>
            </a:r>
            <a:endParaRPr lang="en-US" sz="710" dirty="0"/>
          </a:p>
        </p:txBody>
      </p:sp>
      <p:sp>
        <p:nvSpPr>
          <p:cNvPr id="28" name="Shape 26"/>
          <p:cNvSpPr/>
          <p:nvPr/>
        </p:nvSpPr>
        <p:spPr>
          <a:xfrm>
            <a:off x="502920" y="2395728"/>
            <a:ext cx="1143000" cy="502920"/>
          </a:xfrm>
          <a:prstGeom prst="rect">
            <a:avLst/>
          </a:prstGeom>
          <a:solidFill>
            <a:srgbClr val="F7F9FA"/>
          </a:solidFill>
          <a:ln w="5715">
            <a:solidFill>
              <a:srgbClr val="D9DEE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7784" y="2468880"/>
            <a:ext cx="10332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90" b="1" dirty="0">
                <a:solidFill>
                  <a:srgbClr val="263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PRAM</a:t>
            </a:r>
            <a:endParaRPr lang="en-US" sz="790" dirty="0"/>
          </a:p>
        </p:txBody>
      </p:sp>
      <p:sp>
        <p:nvSpPr>
          <p:cNvPr id="30" name="Shape 28"/>
          <p:cNvSpPr/>
          <p:nvPr/>
        </p:nvSpPr>
        <p:spPr>
          <a:xfrm>
            <a:off x="1645920" y="2395728"/>
            <a:ext cx="1737360" cy="502920"/>
          </a:xfrm>
          <a:prstGeom prst="rect">
            <a:avLst/>
          </a:prstGeom>
          <a:solidFill>
            <a:srgbClr val="F7F9FA"/>
          </a:solidFill>
          <a:ln w="5715">
            <a:solidFill>
              <a:srgbClr val="D9DEE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700784" y="2468880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263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Projects / contracts</a:t>
            </a:r>
            <a:endParaRPr lang="en-US" sz="710" dirty="0"/>
          </a:p>
        </p:txBody>
      </p:sp>
      <p:sp>
        <p:nvSpPr>
          <p:cNvPr id="32" name="Shape 30"/>
          <p:cNvSpPr/>
          <p:nvPr/>
        </p:nvSpPr>
        <p:spPr>
          <a:xfrm>
            <a:off x="3383280" y="2395728"/>
            <a:ext cx="1600200" cy="502920"/>
          </a:xfrm>
          <a:prstGeom prst="rect">
            <a:avLst/>
          </a:prstGeom>
          <a:solidFill>
            <a:srgbClr val="F7F9FA"/>
          </a:solidFill>
          <a:ln w="5715">
            <a:solidFill>
              <a:srgbClr val="D9DEE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438144" y="2468880"/>
            <a:ext cx="1490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263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Platform availability assessed</a:t>
            </a:r>
            <a:endParaRPr lang="en-US" sz="710" dirty="0"/>
          </a:p>
        </p:txBody>
      </p:sp>
      <p:sp>
        <p:nvSpPr>
          <p:cNvPr id="34" name="Shape 32"/>
          <p:cNvSpPr/>
          <p:nvPr/>
        </p:nvSpPr>
        <p:spPr>
          <a:xfrm>
            <a:off x="4983480" y="2395728"/>
            <a:ext cx="1417320" cy="502920"/>
          </a:xfrm>
          <a:prstGeom prst="rect">
            <a:avLst/>
          </a:prstGeom>
          <a:solidFill>
            <a:srgbClr val="F7F9FA"/>
          </a:solidFill>
          <a:ln w="5715">
            <a:solidFill>
              <a:srgbClr val="D9DEE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38344" y="2468880"/>
            <a:ext cx="1307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263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objective threshold</a:t>
            </a:r>
            <a:endParaRPr lang="en-US" sz="710" dirty="0"/>
          </a:p>
        </p:txBody>
      </p:sp>
      <p:sp>
        <p:nvSpPr>
          <p:cNvPr id="36" name="Shape 34"/>
          <p:cNvSpPr/>
          <p:nvPr/>
        </p:nvSpPr>
        <p:spPr>
          <a:xfrm>
            <a:off x="6400800" y="2395728"/>
            <a:ext cx="1353312" cy="502920"/>
          </a:xfrm>
          <a:prstGeom prst="rect">
            <a:avLst/>
          </a:prstGeom>
          <a:solidFill>
            <a:srgbClr val="F7F9FA"/>
          </a:solidFill>
          <a:ln w="5715">
            <a:solidFill>
              <a:srgbClr val="D9DEE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55664" y="2468880"/>
            <a:ext cx="1243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263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Yes</a:t>
            </a:r>
            <a:endParaRPr lang="en-US" sz="710" dirty="0"/>
          </a:p>
        </p:txBody>
      </p:sp>
      <p:sp>
        <p:nvSpPr>
          <p:cNvPr id="38" name="Shape 36"/>
          <p:cNvSpPr/>
          <p:nvPr/>
        </p:nvSpPr>
        <p:spPr>
          <a:xfrm>
            <a:off x="7754112" y="2395728"/>
            <a:ext cx="3931920" cy="502920"/>
          </a:xfrm>
          <a:prstGeom prst="rect">
            <a:avLst/>
          </a:prstGeom>
          <a:solidFill>
            <a:srgbClr val="F7F9FA"/>
          </a:solidFill>
          <a:ln w="5715">
            <a:solidFill>
              <a:srgbClr val="D9DEE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808976" y="2468880"/>
            <a:ext cx="3822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263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Cannot reliably identify “key business initiatives” from source data alone; management discussion remains necessary. Consider contracts as well as projects.</a:t>
            </a:r>
            <a:endParaRPr lang="en-US" sz="710" dirty="0"/>
          </a:p>
        </p:txBody>
      </p:sp>
      <p:sp>
        <p:nvSpPr>
          <p:cNvPr id="40" name="Shape 38"/>
          <p:cNvSpPr/>
          <p:nvPr/>
        </p:nvSpPr>
        <p:spPr>
          <a:xfrm>
            <a:off x="502920" y="2898648"/>
            <a:ext cx="1143000" cy="502920"/>
          </a:xfrm>
          <a:prstGeom prst="rect">
            <a:avLst/>
          </a:prstGeom>
          <a:solidFill>
            <a:srgbClr val="FFFFFF"/>
          </a:solidFill>
          <a:ln w="5715">
            <a:solidFill>
              <a:srgbClr val="D9DEE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57784" y="2971800"/>
            <a:ext cx="10332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90" b="1" dirty="0">
                <a:solidFill>
                  <a:srgbClr val="263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ORE</a:t>
            </a:r>
            <a:endParaRPr lang="en-US" sz="790" dirty="0"/>
          </a:p>
        </p:txBody>
      </p:sp>
      <p:sp>
        <p:nvSpPr>
          <p:cNvPr id="42" name="Shape 40"/>
          <p:cNvSpPr/>
          <p:nvPr/>
        </p:nvSpPr>
        <p:spPr>
          <a:xfrm>
            <a:off x="1645920" y="2898648"/>
            <a:ext cx="1737360" cy="502920"/>
          </a:xfrm>
          <a:prstGeom prst="rect">
            <a:avLst/>
          </a:prstGeom>
          <a:solidFill>
            <a:srgbClr val="FFFFFF"/>
          </a:solidFill>
          <a:ln w="5715">
            <a:solidFill>
              <a:srgbClr val="D9DEE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700784" y="2971800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263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Operational risk events</a:t>
            </a:r>
            <a:endParaRPr lang="en-US" sz="710" dirty="0"/>
          </a:p>
        </p:txBody>
      </p:sp>
      <p:sp>
        <p:nvSpPr>
          <p:cNvPr id="44" name="Shape 42"/>
          <p:cNvSpPr/>
          <p:nvPr/>
        </p:nvSpPr>
        <p:spPr>
          <a:xfrm>
            <a:off x="3383280" y="2898648"/>
            <a:ext cx="1600200" cy="502920"/>
          </a:xfrm>
          <a:prstGeom prst="rect">
            <a:avLst/>
          </a:prstGeom>
          <a:solidFill>
            <a:srgbClr val="FFFFFF"/>
          </a:solidFill>
          <a:ln w="5715">
            <a:solidFill>
              <a:srgbClr val="D9DEE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438144" y="2971800"/>
            <a:ext cx="1490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263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Platform / region mapping assessed</a:t>
            </a:r>
            <a:endParaRPr lang="en-US" sz="710" dirty="0"/>
          </a:p>
        </p:txBody>
      </p:sp>
      <p:sp>
        <p:nvSpPr>
          <p:cNvPr id="46" name="Shape 44"/>
          <p:cNvSpPr/>
          <p:nvPr/>
        </p:nvSpPr>
        <p:spPr>
          <a:xfrm>
            <a:off x="4983480" y="2898648"/>
            <a:ext cx="1417320" cy="502920"/>
          </a:xfrm>
          <a:prstGeom prst="rect">
            <a:avLst/>
          </a:prstGeom>
          <a:solidFill>
            <a:srgbClr val="FFFFFF"/>
          </a:solidFill>
          <a:ln w="5715">
            <a:solidFill>
              <a:srgbClr val="D9DEE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038344" y="2971800"/>
            <a:ext cx="1307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263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Yes</a:t>
            </a:r>
            <a:endParaRPr lang="en-US" sz="710" dirty="0"/>
          </a:p>
        </p:txBody>
      </p:sp>
      <p:sp>
        <p:nvSpPr>
          <p:cNvPr id="48" name="Shape 46"/>
          <p:cNvSpPr/>
          <p:nvPr/>
        </p:nvSpPr>
        <p:spPr>
          <a:xfrm>
            <a:off x="6400800" y="2898648"/>
            <a:ext cx="1353312" cy="502920"/>
          </a:xfrm>
          <a:prstGeom prst="rect">
            <a:avLst/>
          </a:prstGeom>
          <a:solidFill>
            <a:srgbClr val="FFFFFF"/>
          </a:solidFill>
          <a:ln w="5715">
            <a:solidFill>
              <a:srgbClr val="D9DEE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455664" y="2971800"/>
            <a:ext cx="1243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263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Limited</a:t>
            </a:r>
            <a:endParaRPr lang="en-US" sz="710" dirty="0"/>
          </a:p>
        </p:txBody>
      </p:sp>
      <p:sp>
        <p:nvSpPr>
          <p:cNvPr id="50" name="Shape 48"/>
          <p:cNvSpPr/>
          <p:nvPr/>
        </p:nvSpPr>
        <p:spPr>
          <a:xfrm>
            <a:off x="7754112" y="2898648"/>
            <a:ext cx="3931920" cy="502920"/>
          </a:xfrm>
          <a:prstGeom prst="rect">
            <a:avLst/>
          </a:prstGeom>
          <a:solidFill>
            <a:srgbClr val="FFFFFF"/>
          </a:solidFill>
          <a:ln w="5715">
            <a:solidFill>
              <a:srgbClr val="D9DEE3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808976" y="2971800"/>
            <a:ext cx="3822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263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Include OREs closed in-quarter as well as net-new OREs; threshold can support standardization.</a:t>
            </a:r>
            <a:endParaRPr lang="en-US" sz="710" dirty="0"/>
          </a:p>
        </p:txBody>
      </p:sp>
      <p:sp>
        <p:nvSpPr>
          <p:cNvPr id="52" name="Shape 50"/>
          <p:cNvSpPr/>
          <p:nvPr/>
        </p:nvSpPr>
        <p:spPr>
          <a:xfrm>
            <a:off x="502920" y="3401568"/>
            <a:ext cx="1143000" cy="502920"/>
          </a:xfrm>
          <a:prstGeom prst="rect">
            <a:avLst/>
          </a:prstGeom>
          <a:solidFill>
            <a:srgbClr val="F7F9FA"/>
          </a:solidFill>
          <a:ln w="5715">
            <a:solidFill>
              <a:srgbClr val="D9DEE3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57784" y="3474720"/>
            <a:ext cx="10332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90" b="1" dirty="0">
                <a:solidFill>
                  <a:srgbClr val="263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 Issues</a:t>
            </a:r>
            <a:endParaRPr lang="en-US" sz="790" dirty="0"/>
          </a:p>
        </p:txBody>
      </p:sp>
      <p:sp>
        <p:nvSpPr>
          <p:cNvPr id="54" name="Shape 52"/>
          <p:cNvSpPr/>
          <p:nvPr/>
        </p:nvSpPr>
        <p:spPr>
          <a:xfrm>
            <a:off x="1645920" y="3401568"/>
            <a:ext cx="1737360" cy="502920"/>
          </a:xfrm>
          <a:prstGeom prst="rect">
            <a:avLst/>
          </a:prstGeom>
          <a:solidFill>
            <a:srgbClr val="F7F9FA"/>
          </a:solidFill>
          <a:ln w="5715">
            <a:solidFill>
              <a:srgbClr val="D9DEE3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700784" y="3474720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263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Relevant audit issues</a:t>
            </a:r>
            <a:endParaRPr lang="en-US" sz="710" dirty="0"/>
          </a:p>
        </p:txBody>
      </p:sp>
      <p:sp>
        <p:nvSpPr>
          <p:cNvPr id="56" name="Shape 54"/>
          <p:cNvSpPr/>
          <p:nvPr/>
        </p:nvSpPr>
        <p:spPr>
          <a:xfrm>
            <a:off x="3383280" y="3401568"/>
            <a:ext cx="1600200" cy="502920"/>
          </a:xfrm>
          <a:prstGeom prst="rect">
            <a:avLst/>
          </a:prstGeom>
          <a:solidFill>
            <a:srgbClr val="F7F9FA"/>
          </a:solidFill>
          <a:ln w="5715">
            <a:solidFill>
              <a:srgbClr val="D9DEE3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438144" y="3474720"/>
            <a:ext cx="1490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263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Platform-relevant logic</a:t>
            </a:r>
            <a:endParaRPr lang="en-US" sz="710" dirty="0"/>
          </a:p>
        </p:txBody>
      </p:sp>
      <p:sp>
        <p:nvSpPr>
          <p:cNvPr id="58" name="Shape 56"/>
          <p:cNvSpPr/>
          <p:nvPr/>
        </p:nvSpPr>
        <p:spPr>
          <a:xfrm>
            <a:off x="4983480" y="3401568"/>
            <a:ext cx="1417320" cy="502920"/>
          </a:xfrm>
          <a:prstGeom prst="rect">
            <a:avLst/>
          </a:prstGeom>
          <a:solidFill>
            <a:srgbClr val="F7F9FA"/>
          </a:solidFill>
          <a:ln w="5715">
            <a:solidFill>
              <a:srgbClr val="D9DEE3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038344" y="3474720"/>
            <a:ext cx="1307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263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Platform logic</a:t>
            </a:r>
            <a:endParaRPr lang="en-US" sz="710" dirty="0"/>
          </a:p>
        </p:txBody>
      </p:sp>
      <p:sp>
        <p:nvSpPr>
          <p:cNvPr id="60" name="Shape 58"/>
          <p:cNvSpPr/>
          <p:nvPr/>
        </p:nvSpPr>
        <p:spPr>
          <a:xfrm>
            <a:off x="6400800" y="3401568"/>
            <a:ext cx="1353312" cy="502920"/>
          </a:xfrm>
          <a:prstGeom prst="rect">
            <a:avLst/>
          </a:prstGeom>
          <a:solidFill>
            <a:srgbClr val="F7F9FA"/>
          </a:solidFill>
          <a:ln w="5715">
            <a:solidFill>
              <a:srgbClr val="D9DEE3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455664" y="3474720"/>
            <a:ext cx="1243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263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Some</a:t>
            </a:r>
            <a:endParaRPr lang="en-US" sz="710" dirty="0"/>
          </a:p>
        </p:txBody>
      </p:sp>
      <p:sp>
        <p:nvSpPr>
          <p:cNvPr id="62" name="Shape 60"/>
          <p:cNvSpPr/>
          <p:nvPr/>
        </p:nvSpPr>
        <p:spPr>
          <a:xfrm>
            <a:off x="7754112" y="3401568"/>
            <a:ext cx="3931920" cy="502920"/>
          </a:xfrm>
          <a:prstGeom prst="rect">
            <a:avLst/>
          </a:prstGeom>
          <a:solidFill>
            <a:srgbClr val="F7F9FA"/>
          </a:solidFill>
          <a:ln w="5715">
            <a:solidFill>
              <a:srgbClr val="D9DEE3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808976" y="3474720"/>
            <a:ext cx="3822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263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platform-relevance logic rather than a universal quantitative threshold.</a:t>
            </a:r>
            <a:endParaRPr lang="en-US" sz="710" dirty="0"/>
          </a:p>
        </p:txBody>
      </p:sp>
      <p:sp>
        <p:nvSpPr>
          <p:cNvPr id="64" name="Shape 62"/>
          <p:cNvSpPr/>
          <p:nvPr/>
        </p:nvSpPr>
        <p:spPr>
          <a:xfrm>
            <a:off x="502920" y="3904488"/>
            <a:ext cx="1143000" cy="502920"/>
          </a:xfrm>
          <a:prstGeom prst="rect">
            <a:avLst/>
          </a:prstGeom>
          <a:solidFill>
            <a:srgbClr val="FFFFFF"/>
          </a:solidFill>
          <a:ln w="5715">
            <a:solidFill>
              <a:srgbClr val="D9DEE3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57784" y="3977640"/>
            <a:ext cx="10332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90" b="1" dirty="0">
                <a:solidFill>
                  <a:srgbClr val="263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MSI Issues</a:t>
            </a:r>
            <a:endParaRPr lang="en-US" sz="790" dirty="0"/>
          </a:p>
        </p:txBody>
      </p:sp>
      <p:sp>
        <p:nvSpPr>
          <p:cNvPr id="66" name="Shape 64"/>
          <p:cNvSpPr/>
          <p:nvPr/>
        </p:nvSpPr>
        <p:spPr>
          <a:xfrm>
            <a:off x="1645920" y="3904488"/>
            <a:ext cx="1737360" cy="502920"/>
          </a:xfrm>
          <a:prstGeom prst="rect">
            <a:avLst/>
          </a:prstGeom>
          <a:solidFill>
            <a:srgbClr val="FFFFFF"/>
          </a:solidFill>
          <a:ln w="5715">
            <a:solidFill>
              <a:srgbClr val="D9DEE3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1700784" y="3977640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263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Management self-identified issues</a:t>
            </a:r>
            <a:endParaRPr lang="en-US" sz="710" dirty="0"/>
          </a:p>
        </p:txBody>
      </p:sp>
      <p:sp>
        <p:nvSpPr>
          <p:cNvPr id="68" name="Shape 66"/>
          <p:cNvSpPr/>
          <p:nvPr/>
        </p:nvSpPr>
        <p:spPr>
          <a:xfrm>
            <a:off x="3383280" y="3904488"/>
            <a:ext cx="1600200" cy="502920"/>
          </a:xfrm>
          <a:prstGeom prst="rect">
            <a:avLst/>
          </a:prstGeom>
          <a:solidFill>
            <a:srgbClr val="FFFFFF"/>
          </a:solidFill>
          <a:ln w="5715">
            <a:solidFill>
              <a:srgbClr val="D9DEE3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438144" y="3977640"/>
            <a:ext cx="1490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i="1" dirty="0">
                <a:solidFill>
                  <a:srgbClr val="6673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 COMPLETE</a:t>
            </a:r>
            <a:endParaRPr lang="en-US" sz="710" dirty="0"/>
          </a:p>
        </p:txBody>
      </p:sp>
      <p:sp>
        <p:nvSpPr>
          <p:cNvPr id="70" name="Shape 68"/>
          <p:cNvSpPr/>
          <p:nvPr/>
        </p:nvSpPr>
        <p:spPr>
          <a:xfrm>
            <a:off x="4983480" y="3904488"/>
            <a:ext cx="1417320" cy="502920"/>
          </a:xfrm>
          <a:prstGeom prst="rect">
            <a:avLst/>
          </a:prstGeom>
          <a:solidFill>
            <a:srgbClr val="FFFFFF"/>
          </a:solidFill>
          <a:ln w="5715">
            <a:solidFill>
              <a:srgbClr val="D9DEE3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038344" y="3977640"/>
            <a:ext cx="1307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i="1" dirty="0">
                <a:solidFill>
                  <a:srgbClr val="6673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 COMPLETE</a:t>
            </a:r>
            <a:endParaRPr lang="en-US" sz="710" dirty="0"/>
          </a:p>
        </p:txBody>
      </p:sp>
      <p:sp>
        <p:nvSpPr>
          <p:cNvPr id="72" name="Shape 70"/>
          <p:cNvSpPr/>
          <p:nvPr/>
        </p:nvSpPr>
        <p:spPr>
          <a:xfrm>
            <a:off x="6400800" y="3904488"/>
            <a:ext cx="1353312" cy="502920"/>
          </a:xfrm>
          <a:prstGeom prst="rect">
            <a:avLst/>
          </a:prstGeom>
          <a:solidFill>
            <a:srgbClr val="FFFFFF"/>
          </a:solidFill>
          <a:ln w="5715">
            <a:solidFill>
              <a:srgbClr val="D9DEE3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455664" y="3977640"/>
            <a:ext cx="1243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i="1" dirty="0">
                <a:solidFill>
                  <a:srgbClr val="6673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 COMPLETE</a:t>
            </a:r>
            <a:endParaRPr lang="en-US" sz="710" dirty="0"/>
          </a:p>
        </p:txBody>
      </p:sp>
      <p:sp>
        <p:nvSpPr>
          <p:cNvPr id="74" name="Shape 72"/>
          <p:cNvSpPr/>
          <p:nvPr/>
        </p:nvSpPr>
        <p:spPr>
          <a:xfrm>
            <a:off x="7754112" y="3904488"/>
            <a:ext cx="3931920" cy="502920"/>
          </a:xfrm>
          <a:prstGeom prst="rect">
            <a:avLst/>
          </a:prstGeom>
          <a:solidFill>
            <a:srgbClr val="FFFFFF"/>
          </a:solidFill>
          <a:ln w="5715">
            <a:solidFill>
              <a:srgbClr val="D9DEE3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7808976" y="3977640"/>
            <a:ext cx="3822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i="1" dirty="0">
                <a:solidFill>
                  <a:srgbClr val="6673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 COMPLETE</a:t>
            </a:r>
            <a:endParaRPr lang="en-US" sz="710" dirty="0"/>
          </a:p>
        </p:txBody>
      </p:sp>
      <p:sp>
        <p:nvSpPr>
          <p:cNvPr id="76" name="Shape 74"/>
          <p:cNvSpPr/>
          <p:nvPr/>
        </p:nvSpPr>
        <p:spPr>
          <a:xfrm>
            <a:off x="502920" y="4407408"/>
            <a:ext cx="1143000" cy="502920"/>
          </a:xfrm>
          <a:prstGeom prst="rect">
            <a:avLst/>
          </a:prstGeom>
          <a:solidFill>
            <a:srgbClr val="F7F9FA"/>
          </a:solidFill>
          <a:ln w="5715">
            <a:solidFill>
              <a:srgbClr val="D9DEE3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557784" y="4480560"/>
            <a:ext cx="10332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90" b="1" dirty="0">
                <a:solidFill>
                  <a:srgbClr val="263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MetricStream</a:t>
            </a:r>
            <a:endParaRPr lang="en-US" sz="790" dirty="0"/>
          </a:p>
        </p:txBody>
      </p:sp>
      <p:sp>
        <p:nvSpPr>
          <p:cNvPr id="78" name="Shape 76"/>
          <p:cNvSpPr/>
          <p:nvPr/>
        </p:nvSpPr>
        <p:spPr>
          <a:xfrm>
            <a:off x="1645920" y="4407408"/>
            <a:ext cx="1737360" cy="502920"/>
          </a:xfrm>
          <a:prstGeom prst="rect">
            <a:avLst/>
          </a:prstGeom>
          <a:solidFill>
            <a:srgbClr val="F7F9FA"/>
          </a:solidFill>
          <a:ln w="5715">
            <a:solidFill>
              <a:srgbClr val="D9DEE3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1700784" y="4480560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i="1" dirty="0">
                <a:solidFill>
                  <a:srgbClr val="6673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 COMPLETE</a:t>
            </a:r>
            <a:endParaRPr lang="en-US" sz="710" dirty="0"/>
          </a:p>
        </p:txBody>
      </p:sp>
      <p:sp>
        <p:nvSpPr>
          <p:cNvPr id="80" name="Shape 78"/>
          <p:cNvSpPr/>
          <p:nvPr/>
        </p:nvSpPr>
        <p:spPr>
          <a:xfrm>
            <a:off x="3383280" y="4407408"/>
            <a:ext cx="1600200" cy="502920"/>
          </a:xfrm>
          <a:prstGeom prst="rect">
            <a:avLst/>
          </a:prstGeom>
          <a:solidFill>
            <a:srgbClr val="F7F9FA"/>
          </a:solidFill>
          <a:ln w="5715">
            <a:solidFill>
              <a:srgbClr val="D9DEE3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3438144" y="4480560"/>
            <a:ext cx="1490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i="1" dirty="0">
                <a:solidFill>
                  <a:srgbClr val="6673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 COMPLETE</a:t>
            </a:r>
            <a:endParaRPr lang="en-US" sz="710" dirty="0"/>
          </a:p>
        </p:txBody>
      </p:sp>
      <p:sp>
        <p:nvSpPr>
          <p:cNvPr id="82" name="Shape 80"/>
          <p:cNvSpPr/>
          <p:nvPr/>
        </p:nvSpPr>
        <p:spPr>
          <a:xfrm>
            <a:off x="4983480" y="4407408"/>
            <a:ext cx="1417320" cy="502920"/>
          </a:xfrm>
          <a:prstGeom prst="rect">
            <a:avLst/>
          </a:prstGeom>
          <a:solidFill>
            <a:srgbClr val="F7F9FA"/>
          </a:solidFill>
          <a:ln w="5715">
            <a:solidFill>
              <a:srgbClr val="D9DEE3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5038344" y="4480560"/>
            <a:ext cx="1307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i="1" dirty="0">
                <a:solidFill>
                  <a:srgbClr val="6673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 COMPLETE</a:t>
            </a:r>
            <a:endParaRPr lang="en-US" sz="710" dirty="0"/>
          </a:p>
        </p:txBody>
      </p:sp>
      <p:sp>
        <p:nvSpPr>
          <p:cNvPr id="84" name="Shape 82"/>
          <p:cNvSpPr/>
          <p:nvPr/>
        </p:nvSpPr>
        <p:spPr>
          <a:xfrm>
            <a:off x="6400800" y="4407408"/>
            <a:ext cx="1353312" cy="502920"/>
          </a:xfrm>
          <a:prstGeom prst="rect">
            <a:avLst/>
          </a:prstGeom>
          <a:solidFill>
            <a:srgbClr val="F7F9FA"/>
          </a:solidFill>
          <a:ln w="5715">
            <a:solidFill>
              <a:srgbClr val="D9DEE3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6455664" y="4480560"/>
            <a:ext cx="1243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i="1" dirty="0">
                <a:solidFill>
                  <a:srgbClr val="6673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 COMPLETE</a:t>
            </a:r>
            <a:endParaRPr lang="en-US" sz="710" dirty="0"/>
          </a:p>
        </p:txBody>
      </p:sp>
      <p:sp>
        <p:nvSpPr>
          <p:cNvPr id="86" name="Shape 84"/>
          <p:cNvSpPr/>
          <p:nvPr/>
        </p:nvSpPr>
        <p:spPr>
          <a:xfrm>
            <a:off x="7754112" y="4407408"/>
            <a:ext cx="3931920" cy="502920"/>
          </a:xfrm>
          <a:prstGeom prst="rect">
            <a:avLst/>
          </a:prstGeom>
          <a:solidFill>
            <a:srgbClr val="F7F9FA"/>
          </a:solidFill>
          <a:ln w="5715">
            <a:solidFill>
              <a:srgbClr val="D9DEE3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7808976" y="4480560"/>
            <a:ext cx="3822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i="1" dirty="0">
                <a:solidFill>
                  <a:srgbClr val="6673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 COMPLETE</a:t>
            </a:r>
            <a:endParaRPr lang="en-US" sz="710" dirty="0"/>
          </a:p>
        </p:txBody>
      </p:sp>
      <p:sp>
        <p:nvSpPr>
          <p:cNvPr id="88" name="Shape 86"/>
          <p:cNvSpPr/>
          <p:nvPr/>
        </p:nvSpPr>
        <p:spPr>
          <a:xfrm>
            <a:off x="502920" y="4910328"/>
            <a:ext cx="1143000" cy="502920"/>
          </a:xfrm>
          <a:prstGeom prst="rect">
            <a:avLst/>
          </a:prstGeom>
          <a:solidFill>
            <a:srgbClr val="FFFFFF"/>
          </a:solidFill>
          <a:ln w="5715">
            <a:solidFill>
              <a:srgbClr val="D9DEE3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557784" y="4983480"/>
            <a:ext cx="10332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90" b="1" dirty="0">
                <a:solidFill>
                  <a:srgbClr val="263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EIM</a:t>
            </a:r>
            <a:endParaRPr lang="en-US" sz="790" dirty="0"/>
          </a:p>
        </p:txBody>
      </p:sp>
      <p:sp>
        <p:nvSpPr>
          <p:cNvPr id="90" name="Shape 88"/>
          <p:cNvSpPr/>
          <p:nvPr/>
        </p:nvSpPr>
        <p:spPr>
          <a:xfrm>
            <a:off x="1645920" y="4910328"/>
            <a:ext cx="1737360" cy="502920"/>
          </a:xfrm>
          <a:prstGeom prst="rect">
            <a:avLst/>
          </a:prstGeom>
          <a:solidFill>
            <a:srgbClr val="FFFFFF"/>
          </a:solidFill>
          <a:ln w="5715">
            <a:solidFill>
              <a:srgbClr val="D9DEE3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1700784" y="4983480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i="1" dirty="0">
                <a:solidFill>
                  <a:srgbClr val="6673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 COMPLETE</a:t>
            </a:r>
            <a:endParaRPr lang="en-US" sz="710" dirty="0"/>
          </a:p>
        </p:txBody>
      </p:sp>
      <p:sp>
        <p:nvSpPr>
          <p:cNvPr id="92" name="Shape 90"/>
          <p:cNvSpPr/>
          <p:nvPr/>
        </p:nvSpPr>
        <p:spPr>
          <a:xfrm>
            <a:off x="3383280" y="4910328"/>
            <a:ext cx="1600200" cy="502920"/>
          </a:xfrm>
          <a:prstGeom prst="rect">
            <a:avLst/>
          </a:prstGeom>
          <a:solidFill>
            <a:srgbClr val="FFFFFF"/>
          </a:solidFill>
          <a:ln w="5715">
            <a:solidFill>
              <a:srgbClr val="D9DEE3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3438144" y="4983480"/>
            <a:ext cx="1490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i="1" dirty="0">
                <a:solidFill>
                  <a:srgbClr val="6673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 COMPLETE</a:t>
            </a:r>
            <a:endParaRPr lang="en-US" sz="710" dirty="0"/>
          </a:p>
        </p:txBody>
      </p:sp>
      <p:sp>
        <p:nvSpPr>
          <p:cNvPr id="94" name="Shape 92"/>
          <p:cNvSpPr/>
          <p:nvPr/>
        </p:nvSpPr>
        <p:spPr>
          <a:xfrm>
            <a:off x="4983480" y="4910328"/>
            <a:ext cx="1417320" cy="502920"/>
          </a:xfrm>
          <a:prstGeom prst="rect">
            <a:avLst/>
          </a:prstGeom>
          <a:solidFill>
            <a:srgbClr val="FFFFFF"/>
          </a:solidFill>
          <a:ln w="5715">
            <a:solidFill>
              <a:srgbClr val="D9DEE3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5038344" y="4983480"/>
            <a:ext cx="1307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i="1" dirty="0">
                <a:solidFill>
                  <a:srgbClr val="6673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 COMPLETE</a:t>
            </a:r>
            <a:endParaRPr lang="en-US" sz="710" dirty="0"/>
          </a:p>
        </p:txBody>
      </p:sp>
      <p:sp>
        <p:nvSpPr>
          <p:cNvPr id="96" name="Shape 94"/>
          <p:cNvSpPr/>
          <p:nvPr/>
        </p:nvSpPr>
        <p:spPr>
          <a:xfrm>
            <a:off x="6400800" y="4910328"/>
            <a:ext cx="1353312" cy="502920"/>
          </a:xfrm>
          <a:prstGeom prst="rect">
            <a:avLst/>
          </a:prstGeom>
          <a:solidFill>
            <a:srgbClr val="FFFFFF"/>
          </a:solidFill>
          <a:ln w="5715">
            <a:solidFill>
              <a:srgbClr val="D9DEE3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6455664" y="4983480"/>
            <a:ext cx="1243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i="1" dirty="0">
                <a:solidFill>
                  <a:srgbClr val="6673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 COMPLETE</a:t>
            </a:r>
            <a:endParaRPr lang="en-US" sz="710" dirty="0"/>
          </a:p>
        </p:txBody>
      </p:sp>
      <p:sp>
        <p:nvSpPr>
          <p:cNvPr id="98" name="Shape 96"/>
          <p:cNvSpPr/>
          <p:nvPr/>
        </p:nvSpPr>
        <p:spPr>
          <a:xfrm>
            <a:off x="7754112" y="4910328"/>
            <a:ext cx="3931920" cy="502920"/>
          </a:xfrm>
          <a:prstGeom prst="rect">
            <a:avLst/>
          </a:prstGeom>
          <a:solidFill>
            <a:srgbClr val="FFFFFF"/>
          </a:solidFill>
          <a:ln w="5715">
            <a:solidFill>
              <a:srgbClr val="D9DEE3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7808976" y="4983480"/>
            <a:ext cx="3822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i="1" dirty="0">
                <a:solidFill>
                  <a:srgbClr val="6673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 COMPLETE</a:t>
            </a:r>
            <a:endParaRPr lang="en-US" sz="710" dirty="0"/>
          </a:p>
        </p:txBody>
      </p:sp>
      <p:sp>
        <p:nvSpPr>
          <p:cNvPr id="100" name="Shape 98"/>
          <p:cNvSpPr/>
          <p:nvPr/>
        </p:nvSpPr>
        <p:spPr>
          <a:xfrm>
            <a:off x="502920" y="5559552"/>
            <a:ext cx="3127248" cy="694944"/>
          </a:xfrm>
          <a:prstGeom prst="roundRect">
            <a:avLst>
              <a:gd name="adj" fmla="val 6579"/>
            </a:avLst>
          </a:prstGeom>
          <a:solidFill>
            <a:srgbClr val="FFF5DD"/>
          </a:solidFill>
          <a:ln w="12700">
            <a:solidFill>
              <a:srgbClr val="E8D8AB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704088" y="5705856"/>
            <a:ext cx="932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C58A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Known mapping gap</a:t>
            </a:r>
            <a:endParaRPr lang="en-US" sz="820" dirty="0"/>
          </a:p>
        </p:txBody>
      </p:sp>
      <p:sp>
        <p:nvSpPr>
          <p:cNvPr id="102" name="Text 100"/>
          <p:cNvSpPr/>
          <p:nvPr/>
        </p:nvSpPr>
        <p:spPr>
          <a:xfrm>
            <a:off x="1792224" y="5650992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63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RBC Bank Georgia is not readily identifiable in current pre-population sources.</a:t>
            </a:r>
            <a:endParaRPr lang="en-US" sz="780" dirty="0"/>
          </a:p>
        </p:txBody>
      </p:sp>
      <p:sp>
        <p:nvSpPr>
          <p:cNvPr id="103" name="Shape 101"/>
          <p:cNvSpPr/>
          <p:nvPr/>
        </p:nvSpPr>
        <p:spPr>
          <a:xfrm>
            <a:off x="3767328" y="5559552"/>
            <a:ext cx="7918704" cy="694944"/>
          </a:xfrm>
          <a:prstGeom prst="roundRect">
            <a:avLst>
              <a:gd name="adj" fmla="val 6579"/>
            </a:avLst>
          </a:prstGeom>
          <a:solidFill>
            <a:srgbClr val="EAF2F8"/>
          </a:solidFill>
          <a:ln w="12700">
            <a:solidFill>
              <a:srgbClr val="C5D9E8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3977640" y="5705856"/>
            <a:ext cx="13167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2F6B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Emerging design principles</a:t>
            </a:r>
            <a:endParaRPr lang="en-US" sz="820" dirty="0"/>
          </a:p>
        </p:txBody>
      </p:sp>
      <p:sp>
        <p:nvSpPr>
          <p:cNvPr id="105" name="Text 103"/>
          <p:cNvSpPr/>
          <p:nvPr/>
        </p:nvSpPr>
        <p:spPr>
          <a:xfrm>
            <a:off x="5504688" y="5650992"/>
            <a:ext cx="5833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63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 Automation should support — not replace — auditor judgement   •   2  Standardization does not require one universal numeric threshold   •   3  Data availability ≠ decision sufficiency</a:t>
            </a:r>
            <a:endParaRPr lang="en-US" sz="780" dirty="0"/>
          </a:p>
        </p:txBody>
      </p:sp>
      <p:sp>
        <p:nvSpPr>
          <p:cNvPr id="106" name="Text 104"/>
          <p:cNvSpPr/>
          <p:nvPr/>
        </p:nvSpPr>
        <p:spPr>
          <a:xfrm>
            <a:off x="7406640" y="658368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94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Data-source assessment reflects current discovery; RegComp remains a candidate source to assess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5992" y="656539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8A949E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84632"/>
            <a:ext cx="11109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Appendix C  |  Audit teams engaged to date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1060704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3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Engagement spans Audit leadership, platform / regional teams and risk functions; remaining discussions focus on cross-platform operating-model questions.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144475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2F6B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COMPLETED ENGAGEMENT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502920" y="1737360"/>
            <a:ext cx="7178040" cy="4151376"/>
          </a:xfrm>
          <a:prstGeom prst="roundRect">
            <a:avLst>
              <a:gd name="adj" fmla="val 1542"/>
            </a:avLst>
          </a:prstGeom>
          <a:solidFill>
            <a:srgbClr val="FFFFFF"/>
          </a:solidFill>
          <a:ln w="12700">
            <a:solidFill>
              <a:srgbClr val="D9DE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00253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F6B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Leadership / platform coverage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777240" y="2340864"/>
            <a:ext cx="2880360" cy="2468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31318" indent="-131318">
              <a:buSzPct val="100000"/>
              <a:buChar char="•"/>
            </a:pPr>
            <a:r>
              <a:rPr lang="en-US" sz="940" dirty="0">
                <a:solidFill>
                  <a:srgbClr val="263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CAE OC</a:t>
            </a:r>
            <a:endParaRPr lang="en-US" sz="940" dirty="0"/>
          </a:p>
          <a:p>
            <a:pPr marL="131318" indent="-131318">
              <a:buSzPct val="100000"/>
              <a:buChar char="•"/>
            </a:pPr>
            <a:r>
              <a:rPr lang="en-US" sz="940" dirty="0">
                <a:solidFill>
                  <a:srgbClr val="263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CAE ELOC</a:t>
            </a:r>
            <a:endParaRPr lang="en-US" sz="940" dirty="0"/>
          </a:p>
          <a:p>
            <a:pPr marL="131318" indent="-131318">
              <a:buSzPct val="100000"/>
              <a:buChar char="•"/>
            </a:pPr>
            <a:r>
              <a:rPr lang="en-US" sz="940" dirty="0">
                <a:solidFill>
                  <a:srgbClr val="263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 SMT</a:t>
            </a:r>
            <a:endParaRPr lang="en-US" sz="940" dirty="0"/>
          </a:p>
          <a:p>
            <a:pPr marL="131318" indent="-131318">
              <a:buSzPct val="100000"/>
              <a:buChar char="•"/>
            </a:pPr>
            <a:r>
              <a:rPr lang="en-US" sz="940" dirty="0">
                <a:solidFill>
                  <a:srgbClr val="263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WM &amp; INS / US WM</a:t>
            </a:r>
            <a:endParaRPr lang="en-US" sz="940" dirty="0"/>
          </a:p>
          <a:p>
            <a:pPr marL="131318" indent="-131318">
              <a:buSzPct val="100000"/>
              <a:buChar char="•"/>
            </a:pPr>
            <a:r>
              <a:rPr lang="en-US" sz="940" dirty="0">
                <a:solidFill>
                  <a:srgbClr val="263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 CM / CM</a:t>
            </a:r>
            <a:endParaRPr lang="en-US" sz="940" dirty="0"/>
          </a:p>
          <a:p>
            <a:pPr marL="131318" indent="-131318">
              <a:buSzPct val="100000"/>
              <a:buChar char="•"/>
            </a:pPr>
            <a:r>
              <a:rPr lang="en-US" sz="940" dirty="0">
                <a:solidFill>
                  <a:srgbClr val="263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EU &amp; APAC</a:t>
            </a:r>
            <a:endParaRPr lang="en-US" sz="940" dirty="0"/>
          </a:p>
        </p:txBody>
      </p:sp>
      <p:sp>
        <p:nvSpPr>
          <p:cNvPr id="8" name="Text 6"/>
          <p:cNvSpPr/>
          <p:nvPr/>
        </p:nvSpPr>
        <p:spPr>
          <a:xfrm>
            <a:off x="3749040" y="2340864"/>
            <a:ext cx="3291840" cy="2468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31318" indent="-131318">
              <a:buSzPct val="100000"/>
              <a:buChar char="•"/>
            </a:pPr>
            <a:r>
              <a:rPr lang="en-US" sz="940" dirty="0">
                <a:solidFill>
                  <a:srgbClr val="263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AML</a:t>
            </a:r>
            <a:endParaRPr lang="en-US" sz="940" dirty="0"/>
          </a:p>
          <a:p>
            <a:pPr marL="131318" indent="-131318">
              <a:buSzPct val="100000"/>
              <a:buChar char="•"/>
            </a:pPr>
            <a:r>
              <a:rPr lang="en-US" sz="940" dirty="0">
                <a:solidFill>
                  <a:srgbClr val="263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 Risk Mgmt / Op Risk Mgmt</a:t>
            </a:r>
            <a:endParaRPr lang="en-US" sz="940" dirty="0"/>
          </a:p>
          <a:p>
            <a:pPr marL="131318" indent="-131318">
              <a:buSzPct val="100000"/>
              <a:buChar char="•"/>
            </a:pPr>
            <a:r>
              <a:rPr lang="en-US" sz="940" dirty="0">
                <a:solidFill>
                  <a:srgbClr val="263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GRM</a:t>
            </a:r>
            <a:endParaRPr lang="en-US" sz="940" dirty="0"/>
          </a:p>
          <a:p>
            <a:pPr marL="131318" indent="-131318">
              <a:buSzPct val="100000"/>
              <a:buChar char="•"/>
            </a:pPr>
            <a:r>
              <a:rPr lang="en-US" sz="940" dirty="0">
                <a:solidFill>
                  <a:srgbClr val="263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CFO / HRBMCC / CLAO / GC</a:t>
            </a:r>
            <a:endParaRPr lang="en-US" sz="940" dirty="0"/>
          </a:p>
          <a:p>
            <a:pPr marL="131318" indent="-131318">
              <a:buSzPct val="100000"/>
              <a:buChar char="•"/>
            </a:pPr>
            <a:r>
              <a:rPr lang="en-US" sz="940" dirty="0">
                <a:solidFill>
                  <a:srgbClr val="263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 TO / TO</a:t>
            </a:r>
            <a:endParaRPr lang="en-US" sz="940" dirty="0"/>
          </a:p>
          <a:p>
            <a:pPr marL="131318" indent="-131318">
              <a:buSzPct val="100000"/>
              <a:buChar char="•"/>
            </a:pPr>
            <a:r>
              <a:rPr lang="en-US" sz="940" dirty="0">
                <a:solidFill>
                  <a:srgbClr val="263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PB &amp; CB</a:t>
            </a:r>
            <a:endParaRPr lang="en-US" sz="940" dirty="0"/>
          </a:p>
        </p:txBody>
      </p:sp>
      <p:sp>
        <p:nvSpPr>
          <p:cNvPr id="9" name="Shape 7"/>
          <p:cNvSpPr/>
          <p:nvPr/>
        </p:nvSpPr>
        <p:spPr>
          <a:xfrm>
            <a:off x="777240" y="5074920"/>
            <a:ext cx="6355080" cy="530352"/>
          </a:xfrm>
          <a:prstGeom prst="roundRect">
            <a:avLst>
              <a:gd name="adj" fmla="val 8621"/>
            </a:avLst>
          </a:prstGeom>
          <a:solidFill>
            <a:srgbClr val="F5F7F9"/>
          </a:solidFill>
          <a:ln w="12700">
            <a:solidFill>
              <a:srgbClr val="D9DEE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7552" y="5266944"/>
            <a:ext cx="5925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6673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Coverage objective: validate the platform-level process, regional implications, data usability and cross-platform team interactions.</a:t>
            </a:r>
            <a:endParaRPr lang="en-US" sz="840" dirty="0"/>
          </a:p>
        </p:txBody>
      </p:sp>
      <p:sp>
        <p:nvSpPr>
          <p:cNvPr id="11" name="Text 9"/>
          <p:cNvSpPr/>
          <p:nvPr/>
        </p:nvSpPr>
        <p:spPr>
          <a:xfrm>
            <a:off x="7973568" y="144475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2F6B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 OF 14 SEP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7973568" y="1737360"/>
            <a:ext cx="3712464" cy="1920240"/>
          </a:xfrm>
          <a:prstGeom prst="roundRect">
            <a:avLst>
              <a:gd name="adj" fmla="val 3333"/>
            </a:avLst>
          </a:prstGeom>
          <a:solidFill>
            <a:srgbClr val="EAF2F8"/>
          </a:solidFill>
          <a:ln w="12700">
            <a:solidFill>
              <a:srgbClr val="C4D8E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11312" y="1975104"/>
            <a:ext cx="1143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Next wave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211312" y="2377440"/>
            <a:ext cx="2834640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34112" indent="-134112">
              <a:buSzPct val="100000"/>
              <a:buChar char="•"/>
            </a:pPr>
            <a:r>
              <a:rPr lang="en-US" sz="960" dirty="0">
                <a:solidFill>
                  <a:srgbClr val="263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Banking Operations &amp; Credit</a:t>
            </a:r>
            <a:endParaRPr lang="en-US" sz="960" dirty="0"/>
          </a:p>
          <a:p>
            <a:pPr marL="134112" indent="-134112">
              <a:buSzPct val="100000"/>
              <a:buChar char="•"/>
            </a:pPr>
            <a:r>
              <a:rPr lang="en-US" sz="960" dirty="0">
                <a:solidFill>
                  <a:srgbClr val="263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Risk</a:t>
            </a:r>
            <a:endParaRPr lang="en-US" sz="960" dirty="0"/>
          </a:p>
          <a:p>
            <a:pPr marL="134112" indent="-134112">
              <a:buSzPct val="100000"/>
              <a:buChar char="•"/>
            </a:pPr>
            <a:r>
              <a:rPr lang="en-US" sz="960" dirty="0">
                <a:solidFill>
                  <a:srgbClr val="263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CNB</a:t>
            </a:r>
            <a:endParaRPr lang="en-US" sz="960" dirty="0"/>
          </a:p>
        </p:txBody>
      </p:sp>
      <p:sp>
        <p:nvSpPr>
          <p:cNvPr id="15" name="Text 13"/>
          <p:cNvSpPr/>
          <p:nvPr/>
        </p:nvSpPr>
        <p:spPr>
          <a:xfrm>
            <a:off x="7973568" y="391363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B641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STEERCO DISCUSSION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7973568" y="4206240"/>
            <a:ext cx="3712464" cy="1682496"/>
          </a:xfrm>
          <a:prstGeom prst="roundRect">
            <a:avLst>
              <a:gd name="adj" fmla="val 3804"/>
            </a:avLst>
          </a:prstGeom>
          <a:solidFill>
            <a:srgbClr val="FBEDEC"/>
          </a:solidFill>
          <a:ln w="12700">
            <a:solidFill>
              <a:srgbClr val="E6C5C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11312" y="4471416"/>
            <a:ext cx="2084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RBC Bank Georgia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211312" y="4873752"/>
            <a:ext cx="3017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263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Requires discussion with Tech &amp; AI SteerCo, including how RBCB is represented in the platform model and current data-source mapping.</a:t>
            </a:r>
            <a:endParaRPr lang="en-US" sz="880" dirty="0"/>
          </a:p>
        </p:txBody>
      </p:sp>
      <p:sp>
        <p:nvSpPr>
          <p:cNvPr id="19" name="Text 17"/>
          <p:cNvSpPr/>
          <p:nvPr/>
        </p:nvSpPr>
        <p:spPr>
          <a:xfrm>
            <a:off x="7406640" y="658368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94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Engagement status as of 13 Sep 2026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5992" y="656539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8A949E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Internal Audit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CRM Transformation – Tech &amp; AI SteerCo Update</dc:title>
  <dc:subject>CRM Transformation – Tech &amp; AI SteerCo</dc:subject>
  <dc:creator>OpenAI</dc:creator>
  <cp:lastModifiedBy>OpenAI</cp:lastModifiedBy>
  <cp:revision>1</cp:revision>
  <dcterms:created xsi:type="dcterms:W3CDTF">2026-09-13T22:37:59Z</dcterms:created>
  <dcterms:modified xsi:type="dcterms:W3CDTF">2026-09-13T22:37:59Z</dcterms:modified>
</cp:coreProperties>
</file>