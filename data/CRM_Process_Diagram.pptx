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 MONITORING  ·  PROCESS TRANSFORMATION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CRM process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quarter-end freeze to three generated views.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cut auditor documentation time, not add regional Word files.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 ·  Data flow  ·  View generation  ·  Pilot path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Quarter-end clock  ·  four weeks, one object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process diagram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834640" cy="416052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14400"/>
            <a:ext cx="283464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98755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4358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freeze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" y="1938528"/>
            <a:ext cx="146304" cy="14630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18653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 to T+5 after quarter close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2624328"/>
            <a:ext cx="146304" cy="14630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5511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KRI extracts, issue population, PAR, exams, last CRM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3310128"/>
            <a:ext cx="146304" cy="14630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2369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can start first (time zones)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" y="3995928"/>
            <a:ext cx="146304" cy="14630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922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auditor narrative this week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914400"/>
            <a:ext cx="2834640" cy="416052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914400"/>
            <a:ext cx="283464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98755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124358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input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410712" y="1938528"/>
            <a:ext cx="146304" cy="14630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3648456" y="18653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checklist only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10712" y="2624328"/>
            <a:ext cx="146304" cy="14630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3648456" y="25511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45–90 min if quiet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10712" y="3310128"/>
            <a:ext cx="146304" cy="14630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3648456" y="32369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only on exceptions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10712" y="3995928"/>
            <a:ext cx="146304" cy="14630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3" name="Text 31"/>
          <p:cNvSpPr/>
          <p:nvPr/>
        </p:nvSpPr>
        <p:spPr>
          <a:xfrm>
            <a:off x="3648456" y="3922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stamp per region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914400"/>
            <a:ext cx="2834640" cy="416052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914400"/>
            <a:ext cx="2834640" cy="82296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98755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124358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synthesis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82512" y="1938528"/>
            <a:ext cx="146304" cy="146304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39" name="Text 37"/>
          <p:cNvSpPr/>
          <p:nvPr/>
        </p:nvSpPr>
        <p:spPr>
          <a:xfrm>
            <a:off x="6620256" y="18653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rules + SOTU draft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82512" y="2624328"/>
            <a:ext cx="146304" cy="146304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41" name="Text 39"/>
          <p:cNvSpPr/>
          <p:nvPr/>
        </p:nvSpPr>
        <p:spPr>
          <a:xfrm>
            <a:off x="6620256" y="25511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 AU-RA-plan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82512" y="3310128"/>
            <a:ext cx="146304" cy="146304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43" name="Text 41"/>
          <p:cNvSpPr/>
          <p:nvPr/>
        </p:nvSpPr>
        <p:spPr>
          <a:xfrm>
            <a:off x="6620256" y="32369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inconsistent tags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82512" y="3995928"/>
            <a:ext cx="146304" cy="146304"/>
          </a:xfrm>
          <a:prstGeom prst="ellipse">
            <a:avLst/>
          </a:prstGeom>
          <a:solidFill>
            <a:srgbClr val="C4A35A"/>
          </a:solidFill>
          <a:ln/>
        </p:spPr>
      </p:sp>
      <p:sp>
        <p:nvSpPr>
          <p:cNvPr id="45" name="Text 43"/>
          <p:cNvSpPr/>
          <p:nvPr/>
        </p:nvSpPr>
        <p:spPr>
          <a:xfrm>
            <a:off x="6620256" y="3922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three artifacts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189720" y="914400"/>
            <a:ext cx="2834640" cy="416052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89720" y="914400"/>
            <a:ext cx="2834640" cy="82296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48" name="Text 46"/>
          <p:cNvSpPr/>
          <p:nvPr/>
        </p:nvSpPr>
        <p:spPr>
          <a:xfrm>
            <a:off x="9299448" y="98755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99448" y="124358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approve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354312" y="1938528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51" name="Text 49"/>
          <p:cNvSpPr/>
          <p:nvPr/>
        </p:nvSpPr>
        <p:spPr>
          <a:xfrm>
            <a:off x="9592056" y="18653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reviewed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354312" y="2624328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53" name="Text 51"/>
          <p:cNvSpPr/>
          <p:nvPr/>
        </p:nvSpPr>
        <p:spPr>
          <a:xfrm>
            <a:off x="9592056" y="25511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only if AU/RA/plan moved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54312" y="3310128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55" name="Text 53"/>
          <p:cNvSpPr/>
          <p:nvPr/>
        </p:nvSpPr>
        <p:spPr>
          <a:xfrm>
            <a:off x="9592056" y="32369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Platform + Regional + Heatmap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354312" y="3995928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57" name="Text 55"/>
          <p:cNvSpPr/>
          <p:nvPr/>
        </p:nvSpPr>
        <p:spPr>
          <a:xfrm>
            <a:off x="9592056" y="3922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Auditsphere writes land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274320" y="521208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 if needed: APAC completes checklist first, then UK, then Americas — so the platform owner is not waiting on four simultaneous files.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74320" y="5715000"/>
            <a:ext cx="11612880" cy="640080"/>
          </a:xfrm>
          <a:prstGeom prst="roundRect">
            <a:avLst>
              <a:gd name="adj" fmla="val 7143"/>
            </a:avLst>
          </a:prstGeom>
          <a:solidFill>
            <a:srgbClr val="D6E3F0"/>
          </a:solidFill>
          <a:ln/>
        </p:spPr>
      </p:sp>
      <p:sp>
        <p:nvSpPr>
          <p:cNvPr id="60" name="Text 58"/>
          <p:cNvSpPr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rule: the Word file is generated at the end of Week 3. It is not the working paper at any point in Weeks 1–2.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  →  CRM object  →  three views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process diagram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tracker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L1/L2, indirect, exam issues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Auditsphere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084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· RA · plan items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/ PMO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Initiatives, cost, sponsor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 dashboards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/ current / tolerance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/ OR 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553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+ op-risk events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02920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102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intake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5376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changes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3108960"/>
            <a:ext cx="640080" cy="25603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1880" y="1554480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003366"/>
          </a:solidFill>
          <a:ln/>
        </p:spPr>
      </p:sp>
      <p:sp>
        <p:nvSpPr>
          <p:cNvPr id="30" name="Text 28"/>
          <p:cNvSpPr/>
          <p:nvPr/>
        </p:nvSpPr>
        <p:spPr>
          <a:xfrm>
            <a:off x="3794760" y="1719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OBJECT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94760" y="197510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CRM-WM-2026-Q4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94760" y="23957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Header  ·  platform × period × regions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94760" y="27614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FACT rows with scope + taxonomy + flag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31272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FACT_IMPACT for Global / Multi items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94760" y="34930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KRI_OBS by region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94760" y="38587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COVERAGE snapshot (generated)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42245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PLAN_ITEM proposals + decisions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94760" y="45902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SIGN_OFF events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863840" y="3108960"/>
            <a:ext cx="640080" cy="25603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40" name="Shape 38"/>
          <p:cNvSpPr/>
          <p:nvPr/>
        </p:nvSpPr>
        <p:spPr>
          <a:xfrm>
            <a:off x="8641080" y="105156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4A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1161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BRIEF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149047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SOTU + Y-flagged facts + Auditsphere deltas. Current Word look, generated.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41080" y="274320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4A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2852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BRIEF × 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318211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/ UK / CAN / APAC filter + inherited Global rows + ½-page exception narrative.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41080" y="443484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4A3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0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HEATMAP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487375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narrative. Assurance, issues, KRIs, exams, plan deltas by region.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fact decides which page it appears 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process diagram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24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129844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fact lands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81051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scope, status taxonomy, source ref.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600200"/>
            <a:ext cx="146304" cy="16459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96012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024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52928" y="129844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Global / Multi?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52928" y="181051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write FACT_IMPACT rows. No → single region.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600200"/>
            <a:ext cx="146304" cy="16459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66360" y="96012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24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76088" y="129844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move RA or plan?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76088" y="181051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platform_brief = Y, route to owner.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1600200"/>
            <a:ext cx="146304" cy="16459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0" y="96012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024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99248" y="129844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control theme as another region?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99248" y="181051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one SOTU bullet, two regional rows.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75520" y="1600200"/>
            <a:ext cx="146304" cy="164592"/>
          </a:xfrm>
          <a:prstGeom prst="rightArrow">
            <a:avLst/>
          </a:prstGeom>
          <a:solidFill>
            <a:srgbClr val="C4A3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12680" y="96012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1024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22408" y="129844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22408" y="181051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Y → platform. Filter scope → regional. Counts → heatmap.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2743200"/>
            <a:ext cx="5715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743200"/>
            <a:ext cx="109728" cy="1600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288950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CE4D6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" y="28895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 ·  CHG_PLAN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36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BI exam, two L2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4360" y="35844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US  +  Platform SOTU + plan box  +  Heatmap plan-delta = Yes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2743200"/>
            <a:ext cx="5715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743200"/>
            <a:ext cx="109728" cy="1600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288950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4EBD0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28895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UK+US  ·  CHG_RA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3236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Advice-fail KRI, 2 quarters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92240" y="35844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theme. Two regional KRI rows. No blended sparkline (harmonized = N).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4480560"/>
            <a:ext cx="5715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480560"/>
            <a:ext cx="109728" cy="1600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" y="462686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D6E3F0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" y="46268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 ·  CHG_NO_IMPACT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49743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 CIO appointed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4360" y="53218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fact. Four INHERITED flags. Platform Step 1 line. No four narratives.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17920" y="4480560"/>
            <a:ext cx="5715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4480560"/>
            <a:ext cx="109728" cy="1600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4" name="Shape 52"/>
          <p:cNvSpPr/>
          <p:nvPr/>
        </p:nvSpPr>
        <p:spPr>
          <a:xfrm>
            <a:off x="6492240" y="462686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392" y="46268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 ·  NO_CHANGE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92240" y="49743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CIRO titles — monitor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92240" y="53218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CAN only. Dropped from SOTU. Heatmap exam cell = monitor.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09728" cy="587959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PATH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boil the ocean  ·  three options, one pilot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process diagram  ·  Wealth Management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960120"/>
            <a:ext cx="374904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11556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 A   ·   THIS 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173736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194560"/>
            <a:ext cx="3419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Word file. Add Region + Platform-brief columns to every appendix table and every Step cell. Append a one-page US cut. No new system.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" y="3840480"/>
            <a:ext cx="3419856" cy="7315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913632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time save. Teaches the taxonomy.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96012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960120"/>
            <a:ext cx="3749040" cy="64008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111556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 B   ·   RECOMMENDED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16552" y="173736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16552" y="2194560"/>
            <a:ext cx="3419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object in Auditsphere / AuditIQ. Three generated outputs. Regional checklist in the tool. Pilot WM for two quarters, then clone.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16552" y="3840480"/>
            <a:ext cx="3419856" cy="7315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3913632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makes “minimize documenting time” real.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96012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5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960120"/>
            <a:ext cx="3749040" cy="640080"/>
          </a:xfrm>
          <a:prstGeom prst="rect">
            <a:avLst/>
          </a:prstGeom>
          <a:solidFill>
            <a:srgbClr val="C45911"/>
          </a:solidFill>
          <a:ln/>
        </p:spPr>
      </p:sp>
      <p:sp>
        <p:nvSpPr>
          <p:cNvPr id="26" name="Text 24"/>
          <p:cNvSpPr/>
          <p:nvPr/>
        </p:nvSpPr>
        <p:spPr>
          <a:xfrm>
            <a:off x="8348472" y="111556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 C   ·   USE SPARINGLY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48472" y="173736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48472" y="2194560"/>
            <a:ext cx="3419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regional CRM entities with their own briefs and approval chains. Only if a region is a distinct legal/regulatory platform.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48472" y="3840480"/>
            <a:ext cx="3419856" cy="7315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8439912" y="3913632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documents. More approvals. Avoid as default.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937760"/>
            <a:ext cx="11521440" cy="137160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0474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recommendation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534009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on the next WM cycle so the taxonomy exists on paper. Stand up B as the AuditIQ / Auditsphere authoring surface for the following two quarters, with US as the first regional view. Measure hours per CRM, count of “no change” cells that still attracted narrative, and AU/plan changes the platform-only brief would have missed.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Regional Process Diagram</dc:title>
  <dc:subject>PptxGenJS Presentation</dc:subject>
  <dc:creator>Internal Audit — Process Transformation</dc:creator>
  <cp:lastModifiedBy>Internal Audit — Process Transformation</cp:lastModifiedBy>
  <cp:revision>1</cp:revision>
  <dcterms:created xsi:type="dcterms:W3CDTF">2026-08-28T16:01:32Z</dcterms:created>
  <dcterms:modified xsi:type="dcterms:W3CDTF">2026-08-28T16:01:32Z</dcterms:modified>
</cp:coreProperties>
</file>