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Reframed from the earlier agentic approach. Core decision: a deterministic rules engine is the right Q4 solution — faster to build, easier to validate, and fully defensible. Agentic architecture remains the sequenced target state for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thesis as before, reframed. The assembly vs judgment split is the foundation of the approach — analytics-led doesn't change that; it's the delivery mechanism that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Renamed SENSE to DETECT to reflect that this is deterministic rule-checking, not AI sensing. The owner labels make the human/machine split explicit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is now 'Analytics Approach' not 'Lead Agent'. Seven steps are pure rules over structured data — Q4 scope. Three medium steps have judgment-sensitive tasks that stay human-led. Steps #1, #2, #4 call out assistive extraction explicitly so execs know where the LLM touchpoint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replaced architecture slide. The engine is fully deterministic — threshold, aging, trend, concentration, feed screening — applied per step, per AE. The target-state band anchors the agentic model as the planned evolution,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threshold and trend logic — no AI. The agent reads the value, compares it to the threshold stored in the data layer, and emits a binary flag. Entirely auditable and back-testable.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rules drawn directly from the step 7 language: at-risk/past-due status, L3 consolidation, extended/past-due/new trend, RNV evidence, thematic concentration. Each rule maps to an attribute in MetricStream/EIM.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explicit human-owned tasks. The pre-emption of the assurance-quality challenge: the engine handles assembly; every task that carries assurance value stays with the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the Q4 deliverable. Phase 2 is the fast-follow on document-heavy steps. Target state is the existing agentic framework, gated on Phase 1 proving value and governance maturing. This sequence is also the right model-risk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maintenance replaces model governance from the agentic version — it is a much simpler risk to manage. Phase 2 governance is called out separately so execs understand the AI touchpoint is contained to a later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asks, one decision. The key shift from the agentic version: ask 2 is now a specific, bounded Q4 scope rather than an architectural alignment. Ask 4 explicitly positions the agentic model as the sequenced roadmap, not the current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70432"/>
            <a:ext cx="146304" cy="14630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07899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300" kern="0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TRANSFORMATION  ·  APPROACH FOR ALIGNMENT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Analytics-Led CRM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Engine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deterministic, rules-based approach to reducing CRM execution effort across all ten methodology steps — deliverable in Q4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5532120"/>
            <a:ext cx="2926080" cy="0"/>
          </a:xfrm>
          <a:prstGeom prst="line">
            <a:avLst/>
          </a:prstGeom>
          <a:noFill/>
          <a:ln w="19050">
            <a:solidFill>
              <a:srgbClr val="FFBE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650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Analytics &amp; Insights  ·  Internal Audit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audit-executive review  ·  15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confirms the thesis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CRM Detailed Execution Step Template — ten steps completed every quarter, per auditable entity — is the single largest CRM time cost. Read closely, almost every step is data assembly: review a dashboard, pull a report, extract KRIs, scan external sources. The judgment sits in a smaller set of recurring tasks.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 —  RULES-ENGINE ADDRESSABLE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dashboards (ORE, remediation, RNV, RAPTOR)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KRIs, issues, OREs and their attributes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committee minutes, risk reports, project data</a:t>
            </a:r>
            <a:endParaRPr lang="en-US" sz="1350" dirty="0"/>
          </a:p>
          <a:p>
            <a:pPr marL="342900" indent="-342900"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external &amp; regulatory sources and news feeds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6060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 —  STAYS WITH THE AUDITOR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and discussion with senior management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challenge of remediation against SMART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impact to the auditable entity's risk profile</a:t>
            </a:r>
            <a:endParaRPr lang="en-US" sz="1350" dirty="0"/>
          </a:p>
          <a:p>
            <a:pPr marL="342900" indent="-342900">
              <a:buSzPct val="100000"/>
              <a:buChar char="—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whether to modify the audit plan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a rules engine takes over assembly; auditors keep the judgment. The next slide shows how every step maps to this split.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decomposes the same way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mapped all ten steps to three repeating activities. The division of labour is the same in each case.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48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 data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sources; apply deterministic rules; flag what breaches a threshold or condition.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</a:t>
            </a:r>
            <a:pPr indent="0" marL="0"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70248" y="19202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2148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44568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management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544568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exceptions into the management conversation; ask the questions.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44568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</a:t>
            </a:r>
            <a:pPr indent="0" marL="0"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91856" y="192024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66176" y="21488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AF0F7"/>
          </a:solidFill>
          <a:ln/>
        </p:spPr>
      </p:sp>
      <p:sp>
        <p:nvSpPr>
          <p:cNvPr id="20" name="Text 17"/>
          <p:cNvSpPr/>
          <p:nvPr/>
        </p:nvSpPr>
        <p:spPr>
          <a:xfrm>
            <a:off x="8266176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266176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impact &amp; decide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8266176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effect on the AE risk profile and whether the audit plan changes.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66176" y="4206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 </a:t>
            </a:r>
            <a:pPr indent="0" marL="0"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Auditor, analytics-supported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950208" y="1920240"/>
            <a:ext cx="548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7671816" y="1920240"/>
            <a:ext cx="548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engine owns DETECT end-to-end; auditors own INQUIRE and the final CALIBRATE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coverage across the ten steps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1106424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017520"/>
                <a:gridCol w="141732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JUDGMENT RETAINED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 &amp; business changes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extraction + assistive 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Senior-mgmt inquiry; impact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initiatives / projects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extraction + assistive 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Inquiry; audit-plan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 factors (KRIs)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&amp; trend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Inquiry as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risks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assistive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Relevance; inquiry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screening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confirmation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risk 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&amp; recurrence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of IA 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Aging, trend &amp; theme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validation; trend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self-identified 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SMART pre-score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&amp; challenge (SMART)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exams &amp; issues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&amp; aging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judgment (human-led)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  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CRM results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Cross-step roll-up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Cross-entity synthesis sign-off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potential is an indicative assessment, not a measured figure. Steps #1, #2, #4 use assistive (LLM) extraction for unstructured content; all others are purely deterministic. Judgment tasks remain with the auditor in every case.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engine architecture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2468880" cy="3657600"/>
          </a:xfrm>
          <a:prstGeom prst="roundRect">
            <a:avLst>
              <a:gd name="adj" fmla="val 1852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63040" y="1481328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72768" y="159105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LAYER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9808" y="2377440"/>
            <a:ext cx="2148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  ·  ORE Dashboard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MetricStream → EIM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View  ·  CNB Tableau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minutes &amp; risk reports</a:t>
            </a:r>
            <a:endParaRPr lang="en-US" sz="1050" dirty="0"/>
          </a:p>
          <a:p>
            <a:pPr marL="342900" indent="-342900">
              <a:buSzPct val="100000"/>
              <a:buChar char="—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/ Pipeline / PMO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035808" y="1325880"/>
            <a:ext cx="502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566160" y="1325880"/>
            <a:ext cx="4206240" cy="3657600"/>
          </a:xfrm>
          <a:prstGeom prst="roundRect">
            <a:avLst>
              <a:gd name="adj" fmla="val 125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40680" y="1481328"/>
            <a:ext cx="457200" cy="45720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50408" y="159105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EXCEPTION ENGINE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749040" y="2395728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0" y="23957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rules  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 value vs risk appetite / limit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749040" y="2889504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840480" y="28895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&amp; status rules  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past due; at-risk; new RNV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749040" y="3383280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0" y="33832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rules  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Quarter-on-quarter deterioration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749040" y="3877056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840480" y="38770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rules  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clusters; L3 build-up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749040" y="4370832"/>
            <a:ext cx="384048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3D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40480" y="43708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screening rules  </a:t>
            </a:r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regulatory signal match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749040" y="4617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execution step  ·  per auditable entity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7790688" y="1325880"/>
            <a:ext cx="502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8321040" y="1463040"/>
            <a:ext cx="3291840" cy="1554480"/>
          </a:xfrm>
          <a:prstGeom prst="roundRect">
            <a:avLst>
              <a:gd name="adj" fmla="val 3529"/>
            </a:avLst>
          </a:prstGeom>
          <a:solidFill>
            <a:srgbClr val="FFF4D6"/>
          </a:solidFill>
          <a:ln w="19050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8549640" y="1572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549640" y="184708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validates and takes it into the management discussion. AU Summary shows the flagged evidence.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321040" y="3246120"/>
            <a:ext cx="3291840" cy="1554480"/>
          </a:xfrm>
          <a:prstGeom prst="roundRect">
            <a:avLst>
              <a:gd name="adj" fmla="val 3529"/>
            </a:avLst>
          </a:prstGeom>
          <a:solidFill>
            <a:srgbClr val="EAF0F7"/>
          </a:solidFill>
          <a:ln w="19050">
            <a:solidFill>
              <a:srgbClr val="2E6D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549640" y="3355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549640" y="363016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Summary field auto-populated with evidence. Auditor confirms — no manual assembly required.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22960" y="5431536"/>
            <a:ext cx="365760" cy="36576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" y="5522976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80160" y="5285232"/>
            <a:ext cx="10149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TARGET STATE: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model (Risk Sensing, External Intelligence, Stakeholder Engagement, Risk Calibration agents) with autonomous orchestration and RAPTOR plan-modification output. The exception engine is the foundation that proves the concept and seeds the data layer.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#3 Key Risk Factors (KRIs)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977640" y="1207008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977640" y="12070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 ingested from risk reports / RAPTOR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threshold, owner, prior-quarter trend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234440" y="2331720"/>
            <a:ext cx="30236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07592" y="2377440"/>
            <a:ext cx="287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 / risk appetite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68952" y="2331720"/>
            <a:ext cx="30236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42104" y="2377440"/>
            <a:ext cx="287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Deteriorating vs prior quarter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903464" y="2331720"/>
            <a:ext cx="30236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76616" y="2377440"/>
            <a:ext cx="2877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materially redefined KRI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80760" y="1865376"/>
            <a:ext cx="0" cy="25603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6248" y="2121408"/>
            <a:ext cx="6669024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6248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15272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6248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415272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6248" y="3611880"/>
            <a:ext cx="6669024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80760" y="36118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3840480"/>
            <a:ext cx="3291840" cy="658368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434840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KRI signal?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080760" y="449884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37560" y="4709160"/>
            <a:ext cx="5486400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37560" y="470916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23960" y="470916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974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1838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005840" y="4937760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FFF4D6"/>
          </a:solidFill>
          <a:ln w="19050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280160" y="5047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280160" y="5321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inquires with senior management and assesses impact to the AE — judgment retained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492240" y="4937760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EAF0F7"/>
          </a:solidFill>
          <a:ln w="19050">
            <a:solidFill>
              <a:srgbClr val="2E6D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766560" y="5047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766560" y="5321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 values + evidence auto-populated to the AU Summary; auditor confirms — effort reduced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applied exactly as the execution step requires. Thresholds and appetite set with methodology owners. Source: RAPTOR / quarterly risk reports.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 ·  #7 Monitoring of Internal Audit Issues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3977640" y="1207008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977640" y="12070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screened from remediation dashboard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MetricStream → EIM  ·  per auditable entity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51560" y="2331720"/>
            <a:ext cx="1762963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24712" y="2377440"/>
            <a:ext cx="16166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due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or past target date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125419" y="2331720"/>
            <a:ext cx="1762963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98571" y="2377440"/>
            <a:ext cx="16166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build-up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lifts AE rating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199278" y="2331720"/>
            <a:ext cx="1762963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272430" y="2377440"/>
            <a:ext cx="16166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trend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/ past-due / new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273138" y="2331720"/>
            <a:ext cx="1762963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46290" y="2377440"/>
            <a:ext cx="16166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RNV gap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RNV, evidence unclear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346997" y="2331720"/>
            <a:ext cx="1762963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420149" y="2377440"/>
            <a:ext cx="16166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thematic concentration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80760" y="1865376"/>
            <a:ext cx="0" cy="25603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33042" y="2121408"/>
            <a:ext cx="8295437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33042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06901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80760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54619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28478" y="212140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33042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06901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80760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54619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28478" y="33832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33042" y="3611880"/>
            <a:ext cx="8295437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80760" y="361188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34840" y="3840480"/>
            <a:ext cx="3291840" cy="658368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434840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criterion tripped?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080760" y="4498848"/>
            <a:ext cx="0" cy="21031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37560" y="4709160"/>
            <a:ext cx="5486400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337560" y="470916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823960" y="4709160"/>
            <a:ext cx="0" cy="22860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6974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1838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005840" y="4937760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FFF4D6"/>
          </a:solidFill>
          <a:ln w="19050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1280160" y="5047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280160" y="5321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discusses with management and assesses rating impact — judgment retained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492240" y="4937760"/>
            <a:ext cx="4663440" cy="1078992"/>
          </a:xfrm>
          <a:prstGeom prst="roundRect">
            <a:avLst>
              <a:gd name="adj" fmla="val 5085"/>
            </a:avLst>
          </a:prstGeom>
          <a:solidFill>
            <a:srgbClr val="EAF0F7"/>
          </a:solidFill>
          <a:ln w="19050">
            <a:solidFill>
              <a:srgbClr val="2E6D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6766560" y="5047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766560" y="5321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Summary auto-populated with status + evidence; auditor confirms — effort reduced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tagging on newly raised issues is rule-generated and auditor-validated. Source: issues data (MetricStream → EIM in Q4).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with the auditor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keeps a human owner for the parts that create CRM value. The rules engine never closes these out.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207568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discussions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8775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with senior management is retained for every auditable entity; the engine prepares it, auditors run 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33672" y="187452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89704" y="207568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challenge (SMART)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89704" y="258775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of remediation plans against SMART criteria stays an auditor judgment; the engine only pre-scores.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18704" y="187452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74736" y="207568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Risk-profile assessment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174736" y="258775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signal materially changes the AE risk profile is decided by the auditor, on the evidence.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4672" y="38587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Audit-plan decisions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" y="437083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plan modification is reviewed and owned by the auditor before it reaches RAPTOR.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33672" y="365760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489704" y="38587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matters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489704" y="437083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exams and issues stay human-led given their sensitivity; analytics assembles, auditors judge.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18704" y="3657600"/>
            <a:ext cx="3630168" cy="1627632"/>
          </a:xfrm>
          <a:prstGeom prst="roundRect">
            <a:avLst>
              <a:gd name="adj" fmla="val 2809"/>
            </a:avLst>
          </a:prstGeom>
          <a:solidFill>
            <a:srgbClr val="FFF4D6"/>
          </a:solidFill>
          <a:ln w="15875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74736" y="3858768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attestation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74736" y="437083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the AU Summary Report — auto-populated or not — remains the auditor’s.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Q4 and beyond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657600" cy="4251960"/>
          </a:xfrm>
          <a:prstGeom prst="roundRect">
            <a:avLst>
              <a:gd name="adj" fmla="val 125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2704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527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Q4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04672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1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structured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KRIs — threshold &amp; trend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External events — feed screening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OREs — severity &amp; recurrence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IA issues — aging, trend &amp; theme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Mgmt issues — rules + SMART pre-score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rules on tabular / structured data. Fastest build, highest explainability, EIM migration in-scope.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25696" y="1325880"/>
            <a:ext cx="3657600" cy="4251960"/>
          </a:xfrm>
          <a:prstGeom prst="roundRect">
            <a:avLst>
              <a:gd name="adj" fmla="val 125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152704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13" name="Text 10"/>
          <p:cNvSpPr/>
          <p:nvPr/>
        </p:nvSpPr>
        <p:spPr>
          <a:xfrm>
            <a:off x="4654296" y="1527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Q1 2027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81728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extraction</a:t>
            </a:r>
            <a:endParaRPr lang="en-US" sz="1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unstructured content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00016" y="29260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Org changes — intranet / HR reports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Initiatives — minutes / PMO pipeline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Emerging risks — MARC / committee docs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Regulatory — exam / ERC reports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81728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extraction (assistive, human-in-loop). Governed as assistive AI under the IA framework.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02752" y="1325880"/>
            <a:ext cx="3657600" cy="4251960"/>
          </a:xfrm>
          <a:prstGeom prst="roundRect">
            <a:avLst>
              <a:gd name="adj" fmla="val 1250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31352" y="1527048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</p:spPr>
      </p:sp>
      <p:sp>
        <p:nvSpPr>
          <p:cNvPr id="19" name="Text 16"/>
          <p:cNvSpPr/>
          <p:nvPr/>
        </p:nvSpPr>
        <p:spPr>
          <a:xfrm>
            <a:off x="8531352" y="1527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 ·  2026/27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558784" y="205740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model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77072" y="2926080"/>
            <a:ext cx="3108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Sensing Agent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Intelligence Agent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 Agent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—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Calibration Agent → RAPTOR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558784" y="475488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proven rules foundation. Gated on Phase 1 value proof and governance maturity.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7607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68680" y="5760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dependency.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sources for #7 / #8 migrate MetricStream → EIM in Q4. Rules are built source-agnostic and parallel-run validated on EIM before reliance. RAPTOR feeds (#3, #4, #5) are stable.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525780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guardrails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766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
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clears a unit with an emerging qualitative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discussion retained for every AE; engine augments, never replaces; thresholds back-tested each quarter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Defensibility (SR 13-1 / OSFI)
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Auto-populated fields must withstand regulatory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 is evidence-linked, traceable and auditor-attested, with a full audit trail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maintenance
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and conditions must stay current as risk profiles evolve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owned by methodology; quarterly review cycle; changes tracked and version-controlled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/ coverage
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or low-confidence data could mis-clear a 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Low-confidence or incomplete data fails safe to manual review — it never auto-clears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governance
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Assistive LLM extraction (#1, #2, #4) requires AI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Governed as assistive AI under the IA AI framework; human-in-loop on all extracted content; distinct from Phase 1 rules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sought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15184" cy="2514600"/>
          </a:xfrm>
          <a:prstGeom prst="roundRect">
            <a:avLst>
              <a:gd name="adj" fmla="val 2182"/>
            </a:avLst>
          </a:prstGeom>
          <a:solidFill>
            <a:srgbClr val="0A3F77"/>
          </a:solidFill>
          <a:ln w="12700">
            <a:solidFill>
              <a:srgbClr val="1C539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1664208"/>
            <a:ext cx="566928" cy="566928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04672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approach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999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Detect → Inquire → Calibrate model as the Q4 CRM delivery framework.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46704" y="1417320"/>
            <a:ext cx="2615184" cy="2514600"/>
          </a:xfrm>
          <a:prstGeom prst="roundRect">
            <a:avLst>
              <a:gd name="adj" fmla="val 2182"/>
            </a:avLst>
          </a:prstGeom>
          <a:solidFill>
            <a:srgbClr val="0A3F77"/>
          </a:solidFill>
          <a:ln w="12700">
            <a:solidFill>
              <a:srgbClr val="1C53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02736" y="1664208"/>
            <a:ext cx="566928" cy="566928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12" name="Text 9"/>
          <p:cNvSpPr/>
          <p:nvPr/>
        </p:nvSpPr>
        <p:spPr>
          <a:xfrm>
            <a:off x="3602736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02736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scope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02736" y="2999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on structured data (#3, #5, #6, #7, #8) — built and validated in Q4.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44768" y="1417320"/>
            <a:ext cx="2615184" cy="2514600"/>
          </a:xfrm>
          <a:prstGeom prst="roundRect">
            <a:avLst>
              <a:gd name="adj" fmla="val 2182"/>
            </a:avLst>
          </a:prstGeom>
          <a:solidFill>
            <a:srgbClr val="0A3F77"/>
          </a:solidFill>
          <a:ln w="12700">
            <a:solidFill>
              <a:srgbClr val="1C53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664208"/>
            <a:ext cx="566928" cy="566928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time study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00800" y="2999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effort savings before any target is set; run alongside Phase 1 build.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42832" y="1417320"/>
            <a:ext cx="2615184" cy="2514600"/>
          </a:xfrm>
          <a:prstGeom prst="roundRect">
            <a:avLst>
              <a:gd name="adj" fmla="val 2182"/>
            </a:avLst>
          </a:prstGeom>
          <a:solidFill>
            <a:srgbClr val="0A3F77"/>
          </a:solidFill>
          <a:ln w="12700">
            <a:solidFill>
              <a:srgbClr val="1C539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98864" y="1664208"/>
            <a:ext cx="566928" cy="566928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22" name="Text 19"/>
          <p:cNvSpPr/>
          <p:nvPr/>
        </p:nvSpPr>
        <p:spPr>
          <a:xfrm>
            <a:off x="9198864" y="1664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198864" y="23957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sequence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198864" y="29992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assistive extraction and the agentic target state as the confirmed roadmap beyond Q4.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BE00"/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" y="43434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sought today:  </a:t>
            </a:r>
            <a:pPr indent="0" marL="0">
              <a:buNone/>
            </a:pPr>
            <a:r>
              <a:rPr lang="en-US" sz="170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Phase 1 scope and start the Q4 build. The agentic roadmap is not a decision for today — it is the confirmed direction pending Phase 1 results.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Analytics &amp; Insights  ·  Internal Audit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Analytics-Led CRM Exception Engine</dc:title>
  <dc:subject>PptxGenJS Presentation</dc:subject>
  <dc:creator>Audit Analytics &amp; Insights</dc:creator>
  <cp:lastModifiedBy>Audit Analytics &amp; Insights</cp:lastModifiedBy>
  <cp:revision>1</cp:revision>
  <dcterms:created xsi:type="dcterms:W3CDTF">2026-06-15T13:36:04Z</dcterms:created>
  <dcterms:modified xsi:type="dcterms:W3CDTF">2026-06-15T13:36:04Z</dcterms:modified>
</cp:coreProperties>
</file>