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working plan for the executive roundtable, not a polished pitch. We are currently in July with a 3-month runway to October go-live. The ask today is methodology endorsement, not a finished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deliverable for the roundtable. Six of nine steps are pure rule or AI; three are hybrid combining both. No step eliminates the auditor's discussion or judgment — the table is honest about that, and the footer makes it explicit once rather than repeating it nine times.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'how does the analysis actually run organizationally' — not per-AU in isolation, but once across the whole data estate, with business executives providing the mapping layer that routes enterprise-wide findings down to their area before templates populate. This is what makes the Step 3 pattern scale across business lines without nine separate siloed builds.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proves feasibility, not just describes it. Daniel has already run this exact pipeline for Step 3. The strategic point: the hard part (getting AI to reliably extract structured values from unstructured reports) is done. Replicating it for steps 1, 2, 4, 5, 8 is the same engineering pattern with different source documents and target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Three-month window starting now (July). July is rule definition and prompt scoping leveraging the proven Step-3 pattern; August is build; September is validation. Go-live October 1 for Q4 execution. The ask is narrow and actionable: methodology endorsement, access, and a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1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60120"/>
            <a:ext cx="146304" cy="146304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868680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Q4 APPROACH  ·  EXECUTIVE ROUNDTABLE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515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Eliminating Manual CRM Execution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Rules + 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3154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5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in the FY26 Global CRM Methodology assigned a deterministic rule, an AI extraction pattern (RBC Assist Pro), or both — built in three months, live for Q4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822960" y="4507992"/>
            <a:ext cx="10424160" cy="0"/>
          </a:xfrm>
          <a:prstGeom prst="line">
            <a:avLst/>
          </a:prstGeom>
          <a:noFill/>
          <a:ln w="25400">
            <a:solidFill>
              <a:srgbClr val="3D5C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343400"/>
            <a:ext cx="329184" cy="329184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define rules &amp; scope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74720" y="43434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8892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AI extraction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4343400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9496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&amp; UAT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0" y="4343400"/>
            <a:ext cx="329184" cy="329184"/>
          </a:xfrm>
          <a:prstGeom prst="ellipse">
            <a:avLst/>
          </a:prstGeom>
          <a:solidFill>
            <a:srgbClr val="FFBE0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4727448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01000" y="5020056"/>
            <a:ext cx="1700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dirty="0">
                <a:solidFill>
                  <a:srgbClr val="9D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CRM live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5943600"/>
            <a:ext cx="2926080" cy="0"/>
          </a:xfrm>
          <a:prstGeom prst="line">
            <a:avLst/>
          </a:prstGeom>
          <a:noFill/>
          <a:ln w="19050">
            <a:solidFill>
              <a:srgbClr val="FFBE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053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Analytics &amp; Insights  ·  Internal Audit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mapped to a rule, an AI pattern, or both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FFBE00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71800" y="1170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on structured data — full elimination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720840" y="1170432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03168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11704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— RBC ASSIST PRO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098280" y="1170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from documents — drafts for review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520440"/>
                <a:gridCol w="1234440"/>
                <a:gridCol w="3566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DATA SOURCE(S)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TASK ELIMINATED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 changes &amp; business dev.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 emails / intranet, committee minutes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email / minutes scanning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initiatives / projects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PARs, PRAM (5 auto risk scores), EDS, PRG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review across 8 source 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risk factors (KRIs)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KRIs + 7 enterprise risk report 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report reading; manual KRI lookup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risks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news feed, Enterprise Risk Report, MARC discussions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reading of 3 source 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RaptOR external news feed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1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feed scanning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risk events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ORE Dashboard, entity-specific $ thresholds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dashboard review — fully rule-based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#7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Monitoring of IA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MetricStream dashboards — aging, L3, 30/30-day flag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E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review; L3 aggregation calc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#8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Mgmt self-identified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EIM / self-identified issue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compilation of issue lists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34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31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#9 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exams &amp; issues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tracking, senior mgmt discussion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25400" marB="254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DB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status compilation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548640" y="62910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retains in every step:  </a:t>
            </a:r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discussion, review &amp; challenge, and the final risk-profile / audit-plan decision.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approach: enterprise analysis to auto-populated templates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194560" y="1188720"/>
            <a:ext cx="7772400" cy="868680"/>
          </a:xfrm>
          <a:prstGeom prst="roundRect">
            <a:avLst>
              <a:gd name="adj" fmla="val 6316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2377440" y="1188720"/>
            <a:ext cx="7406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HOLISTIC, ENTERPRISE-WIDE ANALYSIS</a:t>
            </a:r>
            <a:endParaRPr lang="en-US" sz="1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CF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CRM data sources ingested &amp; analyzed together — before any AU / AE segmentation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80760" y="2057400"/>
            <a:ext cx="0" cy="27432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0" y="2331720"/>
            <a:ext cx="4297680" cy="621792"/>
          </a:xfrm>
          <a:prstGeom prst="roundRect">
            <a:avLst>
              <a:gd name="adj" fmla="val 50000"/>
            </a:avLst>
          </a:prstGeom>
          <a:solidFill>
            <a:srgbClr val="FFBE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041648" y="2414016"/>
            <a:ext cx="457200" cy="45720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51376" y="252374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33172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executives map signals to their area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080760" y="2953512"/>
            <a:ext cx="0" cy="201168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1563624" y="3154680"/>
            <a:ext cx="9015984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563624" y="3154680"/>
            <a:ext cx="0" cy="30175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17620" y="3154680"/>
            <a:ext cx="0" cy="30175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71616" y="3154680"/>
            <a:ext cx="0" cy="30175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25612" y="3154680"/>
            <a:ext cx="0" cy="30175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10579608" y="3154680"/>
            <a:ext cx="0" cy="30175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" y="3456432"/>
            <a:ext cx="2029968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1362456" y="3547872"/>
            <a:ext cx="402336" cy="402336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463040" y="3648456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" y="396849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Commercial Banking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40080" y="422452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entities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2802636" y="3456432"/>
            <a:ext cx="2029968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616452" y="3547872"/>
            <a:ext cx="402336" cy="402336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717036" y="3648456"/>
            <a:ext cx="201168" cy="20116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894076" y="396849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Management</a:t>
            </a:r>
            <a:endParaRPr lang="en-US" sz="1050" dirty="0"/>
          </a:p>
        </p:txBody>
      </p:sp>
      <p:sp>
        <p:nvSpPr>
          <p:cNvPr id="28" name="Text 22"/>
          <p:cNvSpPr/>
          <p:nvPr/>
        </p:nvSpPr>
        <p:spPr>
          <a:xfrm>
            <a:off x="2894076" y="422452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entities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5056632" y="3456432"/>
            <a:ext cx="2029968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870448" y="3547872"/>
            <a:ext cx="402336" cy="402336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971032" y="3648456"/>
            <a:ext cx="201168" cy="20116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148072" y="396849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Markets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5148072" y="422452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entities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7310628" y="3456432"/>
            <a:ext cx="2029968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124444" y="3547872"/>
            <a:ext cx="402336" cy="402336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25028" y="3648456"/>
            <a:ext cx="201168" cy="20116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402068" y="396849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7402068" y="422452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entities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9564624" y="3456432"/>
            <a:ext cx="2029968" cy="9144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5875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10378440" y="3547872"/>
            <a:ext cx="402336" cy="402336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479024" y="3648456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656064" y="3968496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Operations</a:t>
            </a:r>
            <a:endParaRPr lang="en-US" sz="1050" dirty="0"/>
          </a:p>
        </p:txBody>
      </p:sp>
      <p:sp>
        <p:nvSpPr>
          <p:cNvPr id="43" name="Text 34"/>
          <p:cNvSpPr/>
          <p:nvPr/>
        </p:nvSpPr>
        <p:spPr>
          <a:xfrm>
            <a:off x="9656064" y="4224528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entities</a:t>
            </a:r>
            <a:endParaRPr lang="en-US" sz="850" dirty="0"/>
          </a:p>
        </p:txBody>
      </p:sp>
      <p:sp>
        <p:nvSpPr>
          <p:cNvPr id="44" name="Shape 35"/>
          <p:cNvSpPr/>
          <p:nvPr/>
        </p:nvSpPr>
        <p:spPr>
          <a:xfrm>
            <a:off x="1563624" y="4370832"/>
            <a:ext cx="0" cy="16459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3817620" y="4370832"/>
            <a:ext cx="0" cy="16459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6071616" y="4370832"/>
            <a:ext cx="0" cy="16459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8325612" y="4370832"/>
            <a:ext cx="0" cy="16459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10579608" y="4370832"/>
            <a:ext cx="0" cy="16459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1563624" y="4535424"/>
            <a:ext cx="9015984" cy="0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6080760" y="4535424"/>
            <a:ext cx="0" cy="164592"/>
          </a:xfrm>
          <a:prstGeom prst="line">
            <a:avLst/>
          </a:prstGeom>
          <a:noFill/>
          <a:ln w="19050">
            <a:solidFill>
              <a:srgbClr val="2E6DB4"/>
            </a:solidFill>
            <a:prstDash val="solid"/>
          </a:ln>
        </p:spPr>
      </p:sp>
      <p:sp>
        <p:nvSpPr>
          <p:cNvPr id="51" name="Shape 42"/>
          <p:cNvSpPr/>
          <p:nvPr/>
        </p:nvSpPr>
        <p:spPr>
          <a:xfrm>
            <a:off x="548640" y="4700016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2" name="Text 43"/>
          <p:cNvSpPr/>
          <p:nvPr/>
        </p:nvSpPr>
        <p:spPr>
          <a:xfrm>
            <a:off x="868680" y="4700016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TEMPLATES AUTO-POPULATED PER AUDITABLE ENTITY</a:t>
            </a:r>
            <a:endParaRPr lang="en-US" sz="1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and AI outputs from the holistic analysis are routed into each AE's CRM template — auditor reviews and confirms</a:t>
            </a:r>
            <a:endParaRPr lang="en-US" sz="1400" dirty="0"/>
          </a:p>
        </p:txBody>
      </p:sp>
      <p:sp>
        <p:nvSpPr>
          <p:cNvPr id="53" name="Text 44"/>
          <p:cNvSpPr/>
          <p:nvPr/>
        </p:nvSpPr>
        <p:spPr>
          <a:xfrm>
            <a:off x="548640" y="5705856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Enterprise-wide analysis avoids siloed, AU-by-AU re-discovery of the same signal — each business area receives only what's relevant to it.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validated  ·  Step 3, Key Risk Factors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485900" y="1627632"/>
            <a:ext cx="457200" cy="45720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95628" y="173736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2212848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enterprise risk report categories + RaptOR KRIs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2880360" y="1463040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3337560" y="14630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74820" y="1627632"/>
            <a:ext cx="457200" cy="45720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4548" y="17373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47288" y="2212848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RBC Assist Pro extracts KRI mentions &amp; values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669280" y="1463040"/>
            <a:ext cx="457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5" name="Shape 10"/>
          <p:cNvSpPr/>
          <p:nvPr/>
        </p:nvSpPr>
        <p:spPr>
          <a:xfrm>
            <a:off x="6126480" y="1463040"/>
            <a:ext cx="2331720" cy="1783080"/>
          </a:xfrm>
          <a:prstGeom prst="roundRect">
            <a:avLst>
              <a:gd name="adj" fmla="val 3077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63740" y="1627632"/>
            <a:ext cx="457200" cy="45720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73468" y="173736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36208" y="2212848"/>
            <a:ext cx="2112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8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compare to threshold &amp; quarter-on-quarter trend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458200" y="1463040"/>
            <a:ext cx="41148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4"/>
          <p:cNvSpPr/>
          <p:nvPr/>
        </p:nvSpPr>
        <p:spPr>
          <a:xfrm>
            <a:off x="8915400" y="146304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FFF4D6"/>
          </a:solidFill>
          <a:ln w="19050">
            <a:solidFill>
              <a:srgbClr val="FFBE0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9079992" y="1536192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9079992" y="1792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Breach, adverse trend, or new KRI — flagged for auditor review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915400" y="2377440"/>
            <a:ext cx="2697480" cy="868680"/>
          </a:xfrm>
          <a:prstGeom prst="roundRect">
            <a:avLst>
              <a:gd name="adj" fmla="val 6316"/>
            </a:avLst>
          </a:prstGeom>
          <a:solidFill>
            <a:srgbClr val="EAF0F7"/>
          </a:solidFill>
          <a:ln w="19050">
            <a:solidFill>
              <a:srgbClr val="2E6DB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9079992" y="2450592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EXCEPTION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9079992" y="27066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Auto-drafted into the CRM template — auditor confirms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548640" y="35204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77240" y="3685032"/>
            <a:ext cx="365760" cy="365760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64108" y="3771900"/>
            <a:ext cx="192024" cy="19202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325880" y="35204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today. 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is already running for Step 3. The same AI-extraction-into-rule pipeline is the build template for Steps 1, 2, 4, 5, and 8.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548640" y="4480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or ambiguous extraction fails safe to manual review — it never auto-clears. Thresholds set with methodology owners.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548640" y="5029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already proven:</a:t>
            </a:r>
            <a:endParaRPr lang="en-US" sz="1250" dirty="0"/>
          </a:p>
        </p:txBody>
      </p:sp>
      <p:sp>
        <p:nvSpPr>
          <p:cNvPr id="32" name="Text 25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 across PDF/Word risk reports  ·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extraction prompted against the CRM template's KRI schema  · 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confidence-scored output routed to rule or manual queue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548640" cy="548640"/>
          </a:xfrm>
          <a:prstGeom prst="ellipse">
            <a:avLst/>
          </a:prstGeom>
          <a:solidFill>
            <a:srgbClr val="00316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84632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3657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plan: July → October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5361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BE00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04672" y="20574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&amp; scope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54203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thresholds for #6, #7, #9 (pure rule)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RBC Assist Pro prompts using the #3 pattern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access: RaptOR, MetricStream/EIM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43400" y="132588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5361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2E6DB4"/>
          </a:solidFill>
          <a:ln/>
        </p:spPr>
      </p:sp>
      <p:sp>
        <p:nvSpPr>
          <p:cNvPr id="12" name="Text 9"/>
          <p:cNvSpPr/>
          <p:nvPr/>
        </p:nvSpPr>
        <p:spPr>
          <a:xfrm>
            <a:off x="4572000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99432" y="20574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17720" y="254203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rule engine for #2, #6, #7, #9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 AI extraction for #1, #4, #5, #8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Parallel-run against manual CRM completion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0" y="1325880"/>
            <a:ext cx="3520440" cy="3063240"/>
          </a:xfrm>
          <a:prstGeom prst="roundRect">
            <a:avLst>
              <a:gd name="adj" fmla="val 1493"/>
            </a:avLst>
          </a:prstGeom>
          <a:solidFill>
            <a:srgbClr val="F4F7FB"/>
          </a:solidFill>
          <a:ln w="12700">
            <a:solidFill>
              <a:srgbClr val="C9D3D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366760" y="1536192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003168"/>
          </a:solidFill>
          <a:ln/>
        </p:spPr>
      </p:sp>
      <p:sp>
        <p:nvSpPr>
          <p:cNvPr id="17" name="Text 14"/>
          <p:cNvSpPr/>
          <p:nvPr/>
        </p:nvSpPr>
        <p:spPr>
          <a:xfrm>
            <a:off x="8366760" y="153619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94192" y="2057400"/>
            <a:ext cx="3008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12480" y="2542032"/>
            <a:ext cx="2971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 across all 9 steps, all auditable entities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sign-off on review workflow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—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fail-safe thresholds for low-confidence cases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526280"/>
            <a:ext cx="11064240" cy="594360"/>
          </a:xfrm>
          <a:prstGeom prst="roundRect">
            <a:avLst>
              <a:gd name="adj" fmla="val 9231"/>
            </a:avLst>
          </a:prstGeom>
          <a:solidFill>
            <a:srgbClr val="FFBE00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52628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OCTOBER:  </a:t>
            </a:r>
            <a:pPr indent="0" marL="0">
              <a:buNone/>
            </a:pPr>
            <a:r>
              <a:rPr lang="en-US" sz="1400" dirty="0">
                <a:solidFill>
                  <a:srgbClr val="0031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CRM execution begins live on the rules + AI workflow across all nine steps.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534924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00316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77240" y="5532120"/>
            <a:ext cx="384048" cy="384048"/>
          </a:xfrm>
          <a:prstGeom prst="ellipse">
            <a:avLst/>
          </a:prstGeom>
          <a:solidFill>
            <a:srgbClr val="FFBE0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3252" y="5628132"/>
            <a:ext cx="192024" cy="19202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25880" y="544068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B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the rules + AI approach across all nine steps; approve data and tool access (RaptOR, MetricStream/EIM, RBC Assist Pro); confirm October go-live.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Q4 CRM Approach — Rules + AI</dc:title>
  <dc:subject>PptxGenJS Presentation</dc:subject>
  <dc:creator>Audit Analytics &amp; Insights</dc:creator>
  <cp:lastModifiedBy>Audit Analytics &amp; Insights</cp:lastModifiedBy>
  <cp:revision>1</cp:revision>
  <dcterms:created xsi:type="dcterms:W3CDTF">2026-06-17T13:21:10Z</dcterms:created>
  <dcterms:modified xsi:type="dcterms:W3CDTF">2026-06-17T13:21:10Z</dcterms:modified>
</cp:coreProperties>
</file>