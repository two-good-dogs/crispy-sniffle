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this is a working plan for the executive roundtable, not a polished pitch. We are currently in July with a 3-month runway to October go-live. The ask today is methodology endorsement, not a finished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deliverable for the roundtable. Six of nine steps are pure rule or AI; three are hybrid combining both. No step eliminates the auditor's discussion or judgment — the table is honest about that, and the footer makes it explicit once rather than repeating it nine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proves feasibility, not just describes it. Daniel has already run this exact pipeline for Step 3. The strategic point: the hard part (getting AI to reliably extract structured values from unstructured reports) is done. Replicating it for steps 1, 2, 4, 5, 8 is the same engineering pattern with different source documents and target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Three-month window starting now (July). July is rule definition and prompt scoping leveraging the proven Step-3 pattern; August is build; September is validation. Go-live October 1 for Q4 execution. The ask is narrow and actionable: methodology endorsement, access, and a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1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60120"/>
            <a:ext cx="146304" cy="146304"/>
          </a:xfrm>
          <a:prstGeom prst="ellipse">
            <a:avLst/>
          </a:prstGeom>
          <a:solidFill>
            <a:srgbClr val="FFBE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86868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Q4 APPROACH  ·  EXECUTIVE ROUNDTABLE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Manual CRM Execution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Rules + AI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in the FY26 Global CRM Methodology assigned a deterministic rule, an AI extraction pattern (RBC Assist Pro), or both — built in three months, live for Q4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22960" y="4507992"/>
            <a:ext cx="10424160" cy="0"/>
          </a:xfrm>
          <a:prstGeom prst="line">
            <a:avLst/>
          </a:prstGeom>
          <a:noFill/>
          <a:ln w="25400">
            <a:solidFill>
              <a:srgbClr val="3D5C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4343400"/>
            <a:ext cx="329184" cy="329184"/>
          </a:xfrm>
          <a:prstGeom prst="ellipse">
            <a:avLst/>
          </a:prstGeom>
          <a:solidFill>
            <a:srgbClr val="FFBE0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7274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5020056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D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define rules &amp; scope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43434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47274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88920" y="5020056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D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 extraction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43434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623560" y="47274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5020056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D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UAT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0" y="4343400"/>
            <a:ext cx="329184" cy="329184"/>
          </a:xfrm>
          <a:prstGeom prst="ellipse">
            <a:avLst/>
          </a:prstGeom>
          <a:solidFill>
            <a:srgbClr val="FFBE0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47274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01000" y="5020056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D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CRM live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5943600"/>
            <a:ext cx="2926080" cy="0"/>
          </a:xfrm>
          <a:prstGeom prst="line">
            <a:avLst/>
          </a:prstGeom>
          <a:noFill/>
          <a:ln w="19050">
            <a:solidFill>
              <a:srgbClr val="FFBE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6053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Analytics &amp; Insights  ·  Internal Audit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65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mapped to a rule, an AI pattern, or both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170432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FFBE00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1704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97180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on structured data — full elimination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720840" y="1170432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003168"/>
          </a:solidFill>
          <a:ln/>
        </p:spPr>
      </p:sp>
      <p:sp>
        <p:nvSpPr>
          <p:cNvPr id="9" name="Text 6"/>
          <p:cNvSpPr/>
          <p:nvPr/>
        </p:nvSpPr>
        <p:spPr>
          <a:xfrm>
            <a:off x="6720840" y="11704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RBC ASSIST PRO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098280" y="1170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from documents — drafts for review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20440"/>
                <a:gridCol w="1234440"/>
                <a:gridCol w="3566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DATA SOURCE(S)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TASK ELIMINATED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68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 changes &amp; business dev.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 emails / intranet, committee minutes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email / minutes scanning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 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initiatives / projects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 PARs, PRAM (5 auto risk scores), EDS, PRG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review across 8 source types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 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risk factors (KRIs)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 KRIs + 7 enterprise risk report categories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report reading; manual KRI lookup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 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 risks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 news feed, Enterprise Risk Report, MARC discussions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reading of 3 source types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 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 external news feed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feed scanning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 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risk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ORE Dashboard, entity-specific $ thresholds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dashboard review — fully rule-based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 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of IA issues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MetricStream dashboards — aging, L3, 30/30-day 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review; L3 aggregation calc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 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Mgmt self-identified issues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EIM / self-identified issue tracking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compilation of issue lists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#9 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exams &amp; issues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tracking, senior mgmt discussion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status compilation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48640" y="62910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retains in every step:  </a:t>
            </a:r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discussion, review &amp; challenge, and the final risk-profile / audit-plan decision.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65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validated  ·  Step 3, Key Risk Factors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331720" cy="1783080"/>
          </a:xfrm>
          <a:prstGeom prst="roundRect">
            <a:avLst>
              <a:gd name="adj" fmla="val 3077"/>
            </a:avLst>
          </a:prstGeom>
          <a:solidFill>
            <a:srgbClr val="00316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85900" y="1627632"/>
            <a:ext cx="457200" cy="457200"/>
          </a:xfrm>
          <a:prstGeom prst="ellipse">
            <a:avLst/>
          </a:prstGeom>
          <a:solidFill>
            <a:srgbClr val="FFBE0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95628" y="173736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" y="2212848"/>
            <a:ext cx="2112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enterprise risk report categories + RaptOR KRIs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880360" y="1463040"/>
            <a:ext cx="457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3337560" y="1463040"/>
            <a:ext cx="2331720" cy="1783080"/>
          </a:xfrm>
          <a:prstGeom prst="roundRect">
            <a:avLst>
              <a:gd name="adj" fmla="val 3077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74820" y="1627632"/>
            <a:ext cx="457200" cy="457200"/>
          </a:xfrm>
          <a:prstGeom prst="ellipse">
            <a:avLst/>
          </a:prstGeom>
          <a:solidFill>
            <a:srgbClr val="FFBE0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4548" y="173736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47288" y="2212848"/>
            <a:ext cx="2112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Assist Pro extracts KRI mentions &amp; values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669280" y="1463040"/>
            <a:ext cx="457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0"/>
          <p:cNvSpPr/>
          <p:nvPr/>
        </p:nvSpPr>
        <p:spPr>
          <a:xfrm>
            <a:off x="6126480" y="1463040"/>
            <a:ext cx="2331720" cy="1783080"/>
          </a:xfrm>
          <a:prstGeom prst="roundRect">
            <a:avLst>
              <a:gd name="adj" fmla="val 3077"/>
            </a:avLst>
          </a:prstGeom>
          <a:solidFill>
            <a:srgbClr val="00316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063740" y="1627632"/>
            <a:ext cx="457200" cy="457200"/>
          </a:xfrm>
          <a:prstGeom prst="ellipse">
            <a:avLst/>
          </a:prstGeom>
          <a:solidFill>
            <a:srgbClr val="FFBE0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73468" y="173736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36208" y="2212848"/>
            <a:ext cx="2112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compare to threshold &amp; quarter-on-quarter trend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458200" y="1463040"/>
            <a:ext cx="411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4"/>
          <p:cNvSpPr/>
          <p:nvPr/>
        </p:nvSpPr>
        <p:spPr>
          <a:xfrm>
            <a:off x="8915400" y="1463040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FFF4D6"/>
          </a:solidFill>
          <a:ln w="19050">
            <a:solidFill>
              <a:srgbClr val="FFBE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9079992" y="1536192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9079992" y="1792224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Breach, adverse trend, or new KRI — flagged for auditor review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8915400" y="2377440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EAF0F7"/>
          </a:solidFill>
          <a:ln w="19050">
            <a:solidFill>
              <a:srgbClr val="2E6DB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9079992" y="2450592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EXCEPTION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9079992" y="2706624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Auto-drafted into the CRM template — auditor confirms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35204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00316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77240" y="3685032"/>
            <a:ext cx="365760" cy="365760"/>
          </a:xfrm>
          <a:prstGeom prst="ellipse">
            <a:avLst/>
          </a:prstGeom>
          <a:solidFill>
            <a:srgbClr val="FFBE00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4108" y="3771900"/>
            <a:ext cx="192024" cy="1920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325880" y="35204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today.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is already running for Step 3. The same AI-extraction-into-rule pipeline is the build template for Steps 1, 2, 4, 5, and 8.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548640" y="4480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or ambiguous extraction fails safe to manual review — it never auto-clears. Thresholds set with methodology owners.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548640" y="5029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 already proven: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across PDF/Word risk reports  ·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extraction prompted against the CRM template's KRI schema  ·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 output routed to rule or manual queue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65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plan: July → October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520440" cy="3063240"/>
          </a:xfrm>
          <a:prstGeom prst="roundRect">
            <a:avLst>
              <a:gd name="adj" fmla="val 1493"/>
            </a:avLst>
          </a:prstGeom>
          <a:solidFill>
            <a:srgbClr val="F4F7FB"/>
          </a:solidFill>
          <a:ln w="12700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53619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FBE00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5361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" y="205740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&amp; scope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542032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thresholds for #6, #7, #9 (pure rule)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RBC Assist Pro prompts using the #3 pattern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data access: RaptOR, MetricStream/EIM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325880"/>
            <a:ext cx="3520440" cy="3063240"/>
          </a:xfrm>
          <a:prstGeom prst="roundRect">
            <a:avLst>
              <a:gd name="adj" fmla="val 1493"/>
            </a:avLst>
          </a:prstGeom>
          <a:solidFill>
            <a:srgbClr val="F4F7FB"/>
          </a:solidFill>
          <a:ln w="12700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53619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E6DB4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15361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99432" y="205740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17720" y="2542032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rule engine for #2, #6, #7, #9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 AI extraction for #1, #4, #5, #8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Parallel-run against manual CRM completion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38160" y="1325880"/>
            <a:ext cx="3520440" cy="3063240"/>
          </a:xfrm>
          <a:prstGeom prst="roundRect">
            <a:avLst>
              <a:gd name="adj" fmla="val 1493"/>
            </a:avLst>
          </a:prstGeom>
          <a:solidFill>
            <a:srgbClr val="F4F7FB"/>
          </a:solidFill>
          <a:ln w="12700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66760" y="153619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03168"/>
          </a:solidFill>
          <a:ln/>
        </p:spPr>
      </p:sp>
      <p:sp>
        <p:nvSpPr>
          <p:cNvPr id="17" name="Text 14"/>
          <p:cNvSpPr/>
          <p:nvPr/>
        </p:nvSpPr>
        <p:spPr>
          <a:xfrm>
            <a:off x="8366760" y="15361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394192" y="205740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412480" y="2542032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across all 9 steps, all auditable entities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sign-off on review workflow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fail-safe thresholds for low-confidence cases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452628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FBE00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45262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OCTOBER:  </a:t>
            </a:r>
            <a:pPr indent="0" marL="0">
              <a:buNone/>
            </a:pPr>
            <a:r>
              <a:rPr lang="en-US" sz="140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CRM execution begins live on the rules + AI workflow across all nine steps.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534924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00316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77240" y="5532120"/>
            <a:ext cx="384048" cy="384048"/>
          </a:xfrm>
          <a:prstGeom prst="ellipse">
            <a:avLst/>
          </a:prstGeom>
          <a:solidFill>
            <a:srgbClr val="FFBE00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73252" y="5628132"/>
            <a:ext cx="192024" cy="19202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325880" y="5440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rules + AI approach across all nine steps; approve data and tool access (RaptOR, MetricStream/EIM, RBC Assist Pro); confirm October go-live.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Q4 CRM Approach — Rules + AI</dc:title>
  <dc:subject>PptxGenJS Presentation</dc:subject>
  <dc:creator>Audit Analytics &amp; Insights</dc:creator>
  <cp:lastModifiedBy>Audit Analytics &amp; Insights</cp:lastModifiedBy>
  <cp:revision>1</cp:revision>
  <dcterms:created xsi:type="dcterms:W3CDTF">2026-06-16T18:25:46Z</dcterms:created>
  <dcterms:modified xsi:type="dcterms:W3CDTF">2026-06-16T18:25:46Z</dcterms:modified>
</cp:coreProperties>
</file>