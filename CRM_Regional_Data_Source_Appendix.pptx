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TRANSFORMATION | APPENDIX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 availability by region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working data-availability assessment provided by CRM transformation team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2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2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852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 availability — 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Platform-level view of source availability for CRM pre-population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0" y="658368"/>
            <a:ext cx="260604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2700">
            <a:solidFill>
              <a:srgbClr val="C7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0576" y="804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 = source available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43000" y="1481328"/>
            <a:ext cx="315468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58191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MS/EIM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188366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19522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9339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9339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" y="216712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223570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982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143000" y="245059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52728" y="25191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976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50088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982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273405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52728" y="280263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976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980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982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982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143000" y="301752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52728" y="30861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2976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978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982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982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43000" y="3300984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52728" y="336956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2976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978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978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4980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0982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982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143000" y="3584448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52728" y="36530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CNB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2976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97680" y="36347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8978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980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0" y="36347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0982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98280" y="36347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143000" y="3867912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252728" y="393649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2976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978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980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982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98280" y="39182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143000" y="4151376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52728" y="421995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2976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8978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978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4980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0982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982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143000" y="4434840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52728" y="450342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HRBMCC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2976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978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8978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74980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980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90982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982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1143000" y="471830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252728" y="47868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2976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978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980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0982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43000" y="500176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252728" y="507034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2976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978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97880" y="50520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74980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982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098280" y="50520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1143000" y="528523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252728" y="53538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RBCB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42976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978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980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0982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098280" y="53355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1143000" y="556869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252728" y="563727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T&amp;O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2976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976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58978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978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74980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980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0982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0982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1143000" y="585216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252728" y="59207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42976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978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8978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74980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4980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90982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0982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1143000" y="6355080"/>
            <a:ext cx="955548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371600" y="6519672"/>
            <a:ext cx="9098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note: OC → WorkDay | BI (PRAM) → PRAM | Issues → MS/EIM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2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852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 availability — Europe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Platform-level view of source availability for CRM pre-population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0" y="658368"/>
            <a:ext cx="260604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2700">
            <a:solidFill>
              <a:srgbClr val="C7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0576" y="804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 = source available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43000" y="1481328"/>
            <a:ext cx="315468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58191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MS/EIM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188366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19522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9339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216712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223570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43000" y="245059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728" y="25191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273405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2728" y="280263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976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82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143000" y="301752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52728" y="30861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976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980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0982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143000" y="3300984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52728" y="336956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2976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978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4980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982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982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43000" y="3584448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52728" y="36530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CNB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976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980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982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43000" y="3867912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52728" y="393649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2976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8978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97880" y="39182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4980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0982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98280" y="39182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43000" y="4151376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52728" y="421995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GRM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2976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978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978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4980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980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0982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982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143000" y="4434840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52728" y="450342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HRBMCC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2976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978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978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4980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980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90982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43000" y="471830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252728" y="47868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2976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978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980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982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3000" y="500176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52728" y="507034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2976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978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897880" y="50520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74980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0982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143000" y="528523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252728" y="53538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RBCB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2976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8978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980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0982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143000" y="556869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252728" y="563727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T&amp;O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42976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978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8978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4980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982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982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1143000" y="585216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252728" y="59207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2976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978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978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74980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980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0982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0982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1143000" y="6355080"/>
            <a:ext cx="955548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371600" y="6519672"/>
            <a:ext cx="9098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note: OC → WorkDay | BI (PRAM) → PRAM | Issues → MS/EIM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2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852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 availability — APAC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Platform-level view of source availability for CRM pre-population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0" y="658368"/>
            <a:ext cx="260604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2700">
            <a:solidFill>
              <a:srgbClr val="C7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0576" y="804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 = source available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43000" y="1481328"/>
            <a:ext cx="315468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58191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MS/EIM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188366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19522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9339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43000" y="216712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2728" y="223570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43000" y="245059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728" y="25191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250088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43000" y="273405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52728" y="280263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980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982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143000" y="301752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52728" y="30861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2976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978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980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982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982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143000" y="3300984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52728" y="336956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2976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978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4980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0982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982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43000" y="3584448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52728" y="36530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CNB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976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980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982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98280" y="36347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143000" y="3867912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52728" y="393649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2976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978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980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98080" y="39182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0982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98280" y="39182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143000" y="4151376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52728" y="421995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GRM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2976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978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978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4980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982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982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143000" y="4434840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52728" y="450342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HRBMCC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2976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978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978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4980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0982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0982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1143000" y="471830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252728" y="47868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2976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8978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4980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0982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098280" y="47685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43000" y="500176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252728" y="507034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2976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8978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897880" y="50520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74980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982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43000" y="528523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252728" y="53538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RBCB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2976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978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980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0982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098280" y="53355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143000" y="556869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252728" y="563727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T&amp;O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42976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978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8978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74980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0982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982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1143000" y="585216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252728" y="59207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42976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978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8978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74980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980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90982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0982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143000" y="6355080"/>
            <a:ext cx="955548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371600" y="6519672"/>
            <a:ext cx="9098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note: OC → WorkDay | BI (PRAM) → PRAM | Issues → MS/EIM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2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8521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 availability — Caribbean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Platform-level view of source availability for CRM pre-population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961120" y="658368"/>
            <a:ext cx="2606040" cy="512064"/>
          </a:xfrm>
          <a:prstGeom prst="roundRect">
            <a:avLst>
              <a:gd name="adj" fmla="val 14286"/>
            </a:avLst>
          </a:prstGeom>
          <a:solidFill>
            <a:srgbClr val="EAF0F8"/>
          </a:solidFill>
          <a:ln w="12700">
            <a:solidFill>
              <a:srgbClr val="C7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0576" y="804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 = source available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43000" y="1481328"/>
            <a:ext cx="315468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58191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978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1481328"/>
            <a:ext cx="160020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1432" y="1581912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MS/EIM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188366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19522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9339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88366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19339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43000" y="216712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52728" y="223570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16712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2174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143000" y="245059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52728" y="25191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245059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250088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43000" y="273405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52728" y="280263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CFO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976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78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8280" y="273405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27843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143000" y="301752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52728" y="30861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976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978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980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098280" y="301752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98280" y="30678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143000" y="3300984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52728" y="336956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976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978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978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4980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98280" y="3300984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98280" y="33512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43000" y="3584448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52728" y="36530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CNB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976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978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980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98280" y="3584448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98280" y="363474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143000" y="3867912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252728" y="393649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2976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978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980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98280" y="3867912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98280" y="39182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1143000" y="4151376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52728" y="421995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GRM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2976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978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978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4980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98280" y="4151376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98280" y="420166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143000" y="4434840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52728" y="450342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HRBMCC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2976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8978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978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4980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098280" y="4434840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098280" y="44851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1143000" y="4718304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52728" y="478688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2976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978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4980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098280" y="4718304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098280" y="47685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143000" y="5001768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52728" y="507034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PB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2976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978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97880" y="50520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74980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098280" y="5001768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098280" y="50520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1143000" y="5285232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252728" y="535381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RBCB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2976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978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4980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098280" y="5285232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098280" y="53355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1143000" y="5568696"/>
            <a:ext cx="315468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252728" y="563727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T&amp;O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42976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8978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978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74980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4980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9098280" y="5568696"/>
            <a:ext cx="1600200" cy="283464"/>
          </a:xfrm>
          <a:prstGeom prst="rect">
            <a:avLst/>
          </a:prstGeom>
          <a:solidFill>
            <a:srgbClr val="F5F7F9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98280" y="561898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1143000" y="5852160"/>
            <a:ext cx="315468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252728" y="59207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5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WM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2976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978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978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74980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4980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9098280" y="5852160"/>
            <a:ext cx="1600200" cy="283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A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098280" y="59024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1143000" y="6355080"/>
            <a:ext cx="955548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371600" y="6519672"/>
            <a:ext cx="9098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note: OC → WorkDay | BI (PRAM) → PRAM | Issues → MS/EIM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28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Regional Data Source Appendix</dc:title>
  <dc:subject>CRM data source availability by region</dc:subject>
  <dc:creator>OpenAI</dc:creator>
  <cp:lastModifiedBy>OpenAI</cp:lastModifiedBy>
  <cp:revision>1</cp:revision>
  <dcterms:created xsi:type="dcterms:W3CDTF">2026-09-13T23:44:42Z</dcterms:created>
  <dcterms:modified xsi:type="dcterms:W3CDTF">2026-09-13T23:44:42Z</dcterms:modified>
</cp:coreProperties>
</file>